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335" r:id="rId3"/>
    <p:sldId id="393" r:id="rId4"/>
    <p:sldId id="394" r:id="rId5"/>
    <p:sldId id="326" r:id="rId6"/>
    <p:sldId id="327" r:id="rId7"/>
    <p:sldId id="395" r:id="rId8"/>
    <p:sldId id="396" r:id="rId9"/>
    <p:sldId id="328" r:id="rId10"/>
    <p:sldId id="303" r:id="rId11"/>
    <p:sldId id="340" r:id="rId12"/>
    <p:sldId id="330" r:id="rId13"/>
    <p:sldId id="313" r:id="rId14"/>
    <p:sldId id="344" r:id="rId15"/>
    <p:sldId id="345" r:id="rId16"/>
    <p:sldId id="346" r:id="rId17"/>
    <p:sldId id="347" r:id="rId18"/>
    <p:sldId id="331" r:id="rId19"/>
    <p:sldId id="389" r:id="rId20"/>
    <p:sldId id="348" r:id="rId21"/>
    <p:sldId id="390" r:id="rId22"/>
    <p:sldId id="391" r:id="rId23"/>
    <p:sldId id="341" r:id="rId24"/>
    <p:sldId id="342" r:id="rId25"/>
    <p:sldId id="332" r:id="rId26"/>
    <p:sldId id="333" r:id="rId27"/>
    <p:sldId id="334" r:id="rId28"/>
    <p:sldId id="349" r:id="rId29"/>
    <p:sldId id="368" r:id="rId30"/>
    <p:sldId id="370" r:id="rId31"/>
    <p:sldId id="338" r:id="rId32"/>
    <p:sldId id="369" r:id="rId33"/>
  </p:sldIdLst>
  <p:sldSz cx="12192000" cy="6858000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" initials="U" lastIdx="3" clrIdx="0">
    <p:extLst>
      <p:ext uri="{19B8F6BF-5375-455C-9EA6-DF929625EA0E}">
        <p15:presenceInfo xmlns:p15="http://schemas.microsoft.com/office/powerpoint/2012/main" userId="Usua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0AAB"/>
    <a:srgbClr val="F20CD1"/>
    <a:srgbClr val="B4CCFF"/>
    <a:srgbClr val="99CCFF"/>
    <a:srgbClr val="E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11" autoAdjust="0"/>
    <p:restoredTop sz="83852" autoAdjust="0"/>
  </p:normalViewPr>
  <p:slideViewPr>
    <p:cSldViewPr snapToGrid="0">
      <p:cViewPr varScale="1">
        <p:scale>
          <a:sx n="58" d="100"/>
          <a:sy n="58" d="100"/>
        </p:scale>
        <p:origin x="116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1D8E3-36AB-4247-954E-CA64B1535725}" type="datetimeFigureOut">
              <a:rPr lang="pt-BR" smtClean="0"/>
              <a:t>30/08/2024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E881F-58A7-46F2-AC34-A982B63F0CA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22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4835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2753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423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3224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4895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964432"/>
            <a:ext cx="105664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317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4967" y="2326941"/>
            <a:ext cx="10164233" cy="1752600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título mestre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4196680"/>
            <a:ext cx="8737600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362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58148AED-315F-E91B-3B6C-3A82C89EB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4530725"/>
          </a:xfrm>
          <a:prstGeom prst="rect">
            <a:avLst/>
          </a:prstGeom>
        </p:spPr>
        <p:txBody>
          <a:bodyPr/>
          <a:lstStyle>
            <a:lvl1pPr>
              <a:spcBef>
                <a:spcPts val="4200"/>
              </a:spcBef>
              <a:defRPr/>
            </a:lvl1pPr>
            <a:lvl2pPr>
              <a:spcBef>
                <a:spcPts val="1800"/>
              </a:spcBef>
              <a:defRPr/>
            </a:lvl2pPr>
            <a:lvl3pPr marL="1022350" indent="-350838">
              <a:spcBef>
                <a:spcPts val="1000"/>
              </a:spcBef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3DC9D92-526D-7715-5FA4-71A403A4F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29" y="332657"/>
            <a:ext cx="10972800" cy="74938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7932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7">
            <a:extLst>
              <a:ext uri="{FF2B5EF4-FFF2-40B4-BE49-F238E27FC236}">
                <a16:creationId xmlns:a16="http://schemas.microsoft.com/office/drawing/2014/main" id="{427D14DF-83DE-F719-FBAD-88FFC9730F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6EAA96D-8897-9CF0-B996-15DEBA29D0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3272354-4A89-A704-CDAF-30F2735FA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os estilos do texto mestre</a:t>
            </a:r>
          </a:p>
          <a:p>
            <a:pPr lvl="1"/>
            <a:r>
              <a:rPr lang="pt-BR" altLang="en-US" dirty="0"/>
              <a:t>Segundo nível</a:t>
            </a:r>
          </a:p>
          <a:p>
            <a:pPr lvl="2"/>
            <a:r>
              <a:rPr lang="pt-BR" altLang="en-US" dirty="0"/>
              <a:t>Terceiro nível</a:t>
            </a:r>
          </a:p>
          <a:p>
            <a:pPr lvl="3"/>
            <a:r>
              <a:rPr lang="pt-BR" altLang="en-US" dirty="0"/>
              <a:t>Quarto nível</a:t>
            </a:r>
          </a:p>
          <a:p>
            <a:pPr lvl="4"/>
            <a:r>
              <a:rPr lang="pt-BR" altLang="en-US" dirty="0"/>
              <a:t>Quinto nível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9F8F3B-76CC-3083-3831-8A5AA4F3248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8907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Classificação da informação: Interno</a:t>
            </a:r>
          </a:p>
        </p:txBody>
      </p:sp>
    </p:spTree>
    <p:extLst>
      <p:ext uri="{BB962C8B-B14F-4D97-AF65-F5344CB8AC3E}">
        <p14:creationId xmlns:p14="http://schemas.microsoft.com/office/powerpoint/2010/main" val="147093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just" rtl="0" eaLnBrk="1" fontAlgn="base" hangingPunct="1">
        <a:spcBef>
          <a:spcPts val="42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1" fontAlgn="base" hangingPunct="1">
        <a:spcBef>
          <a:spcPts val="18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•"/>
        <a:defRPr sz="2200">
          <a:solidFill>
            <a:schemeClr val="tx1"/>
          </a:solidFill>
          <a:latin typeface="+mn-lt"/>
        </a:defRPr>
      </a:lvl3pPr>
      <a:lvl4pPr marL="1339850" indent="-315913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</a:defRPr>
      </a:lvl4pPr>
      <a:lvl5pPr marL="16811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tutorial/classes.html#private-variable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peps.python.org/pep-0008/#designing-for-inheritance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D37FA-D22C-449F-A66B-FA568AD31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 dirty="0"/>
              <a:t>04 – Orientação a Objetos (I – Introdução –  Parte 2)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465CA0-DCD8-4A81-AE6A-E7898D94A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6435" y="5131487"/>
            <a:ext cx="3191164" cy="600135"/>
          </a:xfrm>
        </p:spPr>
        <p:txBody>
          <a:bodyPr/>
          <a:lstStyle/>
          <a:p>
            <a:r>
              <a:rPr lang="pt-BR" sz="3600" dirty="0"/>
              <a:t>Thiago Rocha</a:t>
            </a:r>
          </a:p>
        </p:txBody>
      </p:sp>
    </p:spTree>
    <p:extLst>
      <p:ext uri="{BB962C8B-B14F-4D97-AF65-F5344CB8AC3E}">
        <p14:creationId xmlns:p14="http://schemas.microsoft.com/office/powerpoint/2010/main" val="385335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CE8E45-C60B-0F4C-FC5A-A54D77F81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Interface (</a:t>
            </a:r>
            <a:r>
              <a:rPr lang="en-US" i="1"/>
              <a:t>interface</a:t>
            </a:r>
            <a:r>
              <a:rPr lang="en-US"/>
              <a:t>)</a:t>
            </a:r>
          </a:p>
          <a:p>
            <a:pPr lvl="1"/>
            <a:r>
              <a:rPr lang="en-US"/>
              <a:t>São os métodos e atributos públicos da classe</a:t>
            </a:r>
          </a:p>
          <a:p>
            <a:pPr lvl="1"/>
            <a:r>
              <a:rPr lang="en-US"/>
              <a:t>É o que faz a interface da classe com o “mundo exterior”</a:t>
            </a:r>
          </a:p>
          <a:p>
            <a:r>
              <a:rPr lang="en-US"/>
              <a:t>Implementação (</a:t>
            </a:r>
            <a:r>
              <a:rPr lang="en-US" i="1"/>
              <a:t>implementation</a:t>
            </a:r>
            <a:r>
              <a:rPr lang="en-US"/>
              <a:t>)</a:t>
            </a:r>
          </a:p>
          <a:p>
            <a:pPr lvl="1"/>
            <a:r>
              <a:rPr lang="en-US"/>
              <a:t>Atributos privados e o código dentro dos métodos da classe</a:t>
            </a:r>
          </a:p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FFC399-8AF4-E82E-39EE-403D23062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Interface e Implementação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30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4BCC65-B8EE-AFEB-127A-D14F47977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Interface e Implementação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0440CF-227A-B21E-63AF-8FA50E085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772668"/>
              </p:ext>
            </p:extLst>
          </p:nvPr>
        </p:nvGraphicFramePr>
        <p:xfrm>
          <a:off x="164725" y="1030040"/>
          <a:ext cx="11972829" cy="585216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4235802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24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ShoppingCart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_items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[]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add_item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calculate_total_price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sum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_items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*=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total_price</a:t>
                      </a: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list_items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_items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f“Produto: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Preco: ${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6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main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cart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ShoppingCart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range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Código omitido</a:t>
                      </a:r>
                    </a:p>
                    <a:p>
                      <a:r>
                        <a:rPr lang="pt-BR" sz="16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cart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add_item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cart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list_items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Código omitido</a:t>
                      </a:r>
                    </a:p>
                    <a:p>
                      <a:r>
                        <a:rPr lang="pt-BR" sz="16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cart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calculate_total_price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discount_rate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endParaRPr lang="pt-BR" sz="16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D671D28-4BE4-843A-059E-9069C0B6F883}"/>
              </a:ext>
            </a:extLst>
          </p:cNvPr>
          <p:cNvSpPr/>
          <p:nvPr/>
        </p:nvSpPr>
        <p:spPr>
          <a:xfrm>
            <a:off x="1121174" y="1256910"/>
            <a:ext cx="2205587" cy="27781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7B270A-6F23-4A62-0016-792BEDE99DFD}"/>
              </a:ext>
            </a:extLst>
          </p:cNvPr>
          <p:cNvSpPr/>
          <p:nvPr/>
        </p:nvSpPr>
        <p:spPr>
          <a:xfrm>
            <a:off x="1121174" y="1997466"/>
            <a:ext cx="2963759" cy="27781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067E88-CB41-8D85-E510-A6980FC643EF}"/>
              </a:ext>
            </a:extLst>
          </p:cNvPr>
          <p:cNvSpPr/>
          <p:nvPr/>
        </p:nvSpPr>
        <p:spPr>
          <a:xfrm>
            <a:off x="1121173" y="2694849"/>
            <a:ext cx="3092419" cy="27781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3C4BC5-DAD4-8B95-2179-0C8A7BF6962E}"/>
              </a:ext>
            </a:extLst>
          </p:cNvPr>
          <p:cNvSpPr/>
          <p:nvPr/>
        </p:nvSpPr>
        <p:spPr>
          <a:xfrm>
            <a:off x="1121173" y="3952235"/>
            <a:ext cx="2472098" cy="27781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DFBF02-E22E-A6F7-79A4-D6963F9A8F6B}"/>
              </a:ext>
            </a:extLst>
          </p:cNvPr>
          <p:cNvCxnSpPr>
            <a:cxnSpLocks/>
          </p:cNvCxnSpPr>
          <p:nvPr/>
        </p:nvCxnSpPr>
        <p:spPr>
          <a:xfrm>
            <a:off x="6399104" y="2450393"/>
            <a:ext cx="115993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51DA4B5-44FB-3B95-0BA3-048F01CEF7E9}"/>
              </a:ext>
            </a:extLst>
          </p:cNvPr>
          <p:cNvSpPr txBox="1"/>
          <p:nvPr/>
        </p:nvSpPr>
        <p:spPr>
          <a:xfrm>
            <a:off x="7559040" y="2275278"/>
            <a:ext cx="1580671" cy="40011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Interface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C6A186D-0ED8-01F0-F49F-9584CDDE740F}"/>
              </a:ext>
            </a:extLst>
          </p:cNvPr>
          <p:cNvCxnSpPr>
            <a:cxnSpLocks/>
          </p:cNvCxnSpPr>
          <p:nvPr/>
        </p:nvCxnSpPr>
        <p:spPr>
          <a:xfrm>
            <a:off x="3326761" y="1395816"/>
            <a:ext cx="3082203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679A3ED-AFDB-054D-9F1F-6CD97F45C24E}"/>
              </a:ext>
            </a:extLst>
          </p:cNvPr>
          <p:cNvCxnSpPr>
            <a:cxnSpLocks/>
          </p:cNvCxnSpPr>
          <p:nvPr/>
        </p:nvCxnSpPr>
        <p:spPr>
          <a:xfrm>
            <a:off x="4084933" y="2136372"/>
            <a:ext cx="2338841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A26B8EF-7351-2914-B886-A803860EF10A}"/>
              </a:ext>
            </a:extLst>
          </p:cNvPr>
          <p:cNvCxnSpPr>
            <a:cxnSpLocks/>
          </p:cNvCxnSpPr>
          <p:nvPr/>
        </p:nvCxnSpPr>
        <p:spPr>
          <a:xfrm>
            <a:off x="3593271" y="4085189"/>
            <a:ext cx="2830503" cy="5952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B2B2A7A-8271-6F7F-639E-31029D8A6A9F}"/>
              </a:ext>
            </a:extLst>
          </p:cNvPr>
          <p:cNvCxnSpPr>
            <a:cxnSpLocks/>
          </p:cNvCxnSpPr>
          <p:nvPr/>
        </p:nvCxnSpPr>
        <p:spPr>
          <a:xfrm>
            <a:off x="4213592" y="2833755"/>
            <a:ext cx="2205588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01BD973-4887-3F12-D0AE-19E9155CDF14}"/>
              </a:ext>
            </a:extLst>
          </p:cNvPr>
          <p:cNvCxnSpPr>
            <a:cxnSpLocks/>
          </p:cNvCxnSpPr>
          <p:nvPr/>
        </p:nvCxnSpPr>
        <p:spPr>
          <a:xfrm flipH="1" flipV="1">
            <a:off x="6379029" y="1414427"/>
            <a:ext cx="40151" cy="2670762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2F135A46-7E3A-171F-32BD-F6D375AA2976}"/>
              </a:ext>
            </a:extLst>
          </p:cNvPr>
          <p:cNvSpPr/>
          <p:nvPr/>
        </p:nvSpPr>
        <p:spPr>
          <a:xfrm>
            <a:off x="1163293" y="5151265"/>
            <a:ext cx="2604585" cy="27781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57AC342-3CA4-6895-D122-36635587BC95}"/>
              </a:ext>
            </a:extLst>
          </p:cNvPr>
          <p:cNvSpPr/>
          <p:nvPr/>
        </p:nvSpPr>
        <p:spPr>
          <a:xfrm>
            <a:off x="1609007" y="5877826"/>
            <a:ext cx="2604585" cy="27781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C3CEB23-1BAE-01A3-B87F-FFA0A5174668}"/>
              </a:ext>
            </a:extLst>
          </p:cNvPr>
          <p:cNvSpPr/>
          <p:nvPr/>
        </p:nvSpPr>
        <p:spPr>
          <a:xfrm>
            <a:off x="1121174" y="6157548"/>
            <a:ext cx="2205588" cy="27781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8368F47-5B2F-ABF6-D339-A25045F2EFB8}"/>
              </a:ext>
            </a:extLst>
          </p:cNvPr>
          <p:cNvCxnSpPr>
            <a:cxnSpLocks/>
          </p:cNvCxnSpPr>
          <p:nvPr/>
        </p:nvCxnSpPr>
        <p:spPr>
          <a:xfrm>
            <a:off x="3767878" y="5298281"/>
            <a:ext cx="1744396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0D90DE3-4ACE-2EEA-F97E-1CC9586CCA2E}"/>
              </a:ext>
            </a:extLst>
          </p:cNvPr>
          <p:cNvCxnSpPr>
            <a:cxnSpLocks/>
          </p:cNvCxnSpPr>
          <p:nvPr/>
        </p:nvCxnSpPr>
        <p:spPr>
          <a:xfrm flipV="1">
            <a:off x="4213592" y="6016732"/>
            <a:ext cx="1318757" cy="4361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D019158-C59B-6B1D-5903-CF2F49233CCA}"/>
              </a:ext>
            </a:extLst>
          </p:cNvPr>
          <p:cNvCxnSpPr>
            <a:cxnSpLocks/>
          </p:cNvCxnSpPr>
          <p:nvPr/>
        </p:nvCxnSpPr>
        <p:spPr>
          <a:xfrm>
            <a:off x="3326761" y="6304121"/>
            <a:ext cx="2205588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07FF719-83DF-FCD8-5130-E9A4714AF7EC}"/>
              </a:ext>
            </a:extLst>
          </p:cNvPr>
          <p:cNvCxnSpPr>
            <a:cxnSpLocks/>
          </p:cNvCxnSpPr>
          <p:nvPr/>
        </p:nvCxnSpPr>
        <p:spPr>
          <a:xfrm flipH="1" flipV="1">
            <a:off x="5492199" y="5290171"/>
            <a:ext cx="20075" cy="1046184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40DB2ED-FAA6-EB97-2228-E6DEF61A9647}"/>
              </a:ext>
            </a:extLst>
          </p:cNvPr>
          <p:cNvCxnSpPr>
            <a:cxnSpLocks/>
          </p:cNvCxnSpPr>
          <p:nvPr/>
        </p:nvCxnSpPr>
        <p:spPr>
          <a:xfrm>
            <a:off x="5492199" y="5868048"/>
            <a:ext cx="115993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F406E80-CF5C-6D9F-3723-EF1308F7257A}"/>
              </a:ext>
            </a:extLst>
          </p:cNvPr>
          <p:cNvSpPr txBox="1"/>
          <p:nvPr/>
        </p:nvSpPr>
        <p:spPr>
          <a:xfrm>
            <a:off x="6652135" y="5523883"/>
            <a:ext cx="4770319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Mundo exterior se comunicando com a classe a partir de sua interface</a:t>
            </a:r>
          </a:p>
        </p:txBody>
      </p:sp>
    </p:spTree>
    <p:extLst>
      <p:ext uri="{BB962C8B-B14F-4D97-AF65-F5344CB8AC3E}">
        <p14:creationId xmlns:p14="http://schemas.microsoft.com/office/powerpoint/2010/main" val="393780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 animBg="1"/>
      <p:bldP spid="12" grpId="0" animBg="1"/>
      <p:bldP spid="26" grpId="0" animBg="1"/>
      <p:bldP spid="44" grpId="0" animBg="1"/>
      <p:bldP spid="45" grpId="0" animBg="1"/>
      <p:bldP spid="46" grpId="0" animBg="1"/>
      <p:bldP spid="5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4BCC65-B8EE-AFEB-127A-D14F47977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Interface e Implementação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0440CF-227A-B21E-63AF-8FA50E085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892829"/>
              </p:ext>
            </p:extLst>
          </p:nvPr>
        </p:nvGraphicFramePr>
        <p:xfrm>
          <a:off x="164725" y="1030040"/>
          <a:ext cx="11972829" cy="585216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4235802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24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ShoppingCart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_items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[]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add_item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_items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calculate_total_price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sum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_items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*=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total_price</a:t>
                      </a: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list_items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_items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f“Produto: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Preco: ${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6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main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cart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ShoppingCart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range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Código omitido</a:t>
                      </a:r>
                    </a:p>
                    <a:p>
                      <a:r>
                        <a:rPr lang="pt-BR" sz="16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cart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add_item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cart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list_items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Código omitido</a:t>
                      </a:r>
                    </a:p>
                    <a:p>
                      <a:r>
                        <a:rPr lang="pt-BR" sz="16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cart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calculate_total_price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discount_rate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endParaRPr lang="pt-BR" sz="16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8919B1B-47B0-1FAC-B8AE-E1A4EC5B39EC}"/>
              </a:ext>
            </a:extLst>
          </p:cNvPr>
          <p:cNvSpPr/>
          <p:nvPr/>
        </p:nvSpPr>
        <p:spPr>
          <a:xfrm>
            <a:off x="1621917" y="2976852"/>
            <a:ext cx="6488696" cy="79831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36FC61-5FC7-B327-46FB-4D549502A25B}"/>
              </a:ext>
            </a:extLst>
          </p:cNvPr>
          <p:cNvSpPr/>
          <p:nvPr/>
        </p:nvSpPr>
        <p:spPr>
          <a:xfrm>
            <a:off x="1621917" y="4196052"/>
            <a:ext cx="7347912" cy="550119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282F58-7BC5-3461-D903-5B15050CC999}"/>
              </a:ext>
            </a:extLst>
          </p:cNvPr>
          <p:cNvSpPr/>
          <p:nvPr/>
        </p:nvSpPr>
        <p:spPr>
          <a:xfrm>
            <a:off x="1621917" y="2263490"/>
            <a:ext cx="2949580" cy="275060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264288-6046-D9B2-3BC5-0F796D1E3704}"/>
              </a:ext>
            </a:extLst>
          </p:cNvPr>
          <p:cNvSpPr/>
          <p:nvPr/>
        </p:nvSpPr>
        <p:spPr>
          <a:xfrm>
            <a:off x="1652398" y="1535235"/>
            <a:ext cx="1926584" cy="275060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9AFEC8-45AC-4B6A-4B55-947801448C5A}"/>
              </a:ext>
            </a:extLst>
          </p:cNvPr>
          <p:cNvCxnSpPr>
            <a:cxnSpLocks/>
          </p:cNvCxnSpPr>
          <p:nvPr/>
        </p:nvCxnSpPr>
        <p:spPr>
          <a:xfrm>
            <a:off x="3611650" y="1679172"/>
            <a:ext cx="5660791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6FD5170-4A88-B294-13D6-9A60B753D945}"/>
              </a:ext>
            </a:extLst>
          </p:cNvPr>
          <p:cNvCxnSpPr>
            <a:cxnSpLocks/>
          </p:cNvCxnSpPr>
          <p:nvPr/>
        </p:nvCxnSpPr>
        <p:spPr>
          <a:xfrm>
            <a:off x="8119321" y="3364281"/>
            <a:ext cx="115312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AA0D348-0280-C5D3-89B6-1E7882B8FE12}"/>
              </a:ext>
            </a:extLst>
          </p:cNvPr>
          <p:cNvCxnSpPr>
            <a:cxnSpLocks/>
          </p:cNvCxnSpPr>
          <p:nvPr/>
        </p:nvCxnSpPr>
        <p:spPr>
          <a:xfrm>
            <a:off x="8969829" y="4461561"/>
            <a:ext cx="33528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A3B8CB6-C2EC-EBD5-AE3A-F7BB5E4DB9AD}"/>
              </a:ext>
            </a:extLst>
          </p:cNvPr>
          <p:cNvCxnSpPr>
            <a:cxnSpLocks/>
          </p:cNvCxnSpPr>
          <p:nvPr/>
        </p:nvCxnSpPr>
        <p:spPr>
          <a:xfrm>
            <a:off x="4604165" y="2380212"/>
            <a:ext cx="4647131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EF7918-E775-CE4D-BE74-B568D1F0373E}"/>
              </a:ext>
            </a:extLst>
          </p:cNvPr>
          <p:cNvCxnSpPr>
            <a:cxnSpLocks/>
          </p:cNvCxnSpPr>
          <p:nvPr/>
        </p:nvCxnSpPr>
        <p:spPr>
          <a:xfrm flipH="1" flipV="1">
            <a:off x="9230151" y="1658116"/>
            <a:ext cx="42290" cy="2813066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EAB7D93-9AAF-230A-B89A-2A6ABEB97333}"/>
              </a:ext>
            </a:extLst>
          </p:cNvPr>
          <p:cNvCxnSpPr>
            <a:cxnSpLocks/>
          </p:cNvCxnSpPr>
          <p:nvPr/>
        </p:nvCxnSpPr>
        <p:spPr>
          <a:xfrm>
            <a:off x="9230151" y="2920656"/>
            <a:ext cx="81954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F15448A-111C-27B0-7F6C-B968E2D71FC5}"/>
              </a:ext>
            </a:extLst>
          </p:cNvPr>
          <p:cNvSpPr txBox="1"/>
          <p:nvPr/>
        </p:nvSpPr>
        <p:spPr>
          <a:xfrm>
            <a:off x="10121057" y="2720601"/>
            <a:ext cx="2007789" cy="40011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Implementação</a:t>
            </a:r>
          </a:p>
        </p:txBody>
      </p:sp>
    </p:spTree>
    <p:extLst>
      <p:ext uri="{BB962C8B-B14F-4D97-AF65-F5344CB8AC3E}">
        <p14:creationId xmlns:p14="http://schemas.microsoft.com/office/powerpoint/2010/main" val="3029525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930B96-B454-9DFB-668C-23CE7BD1A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Abstração (</a:t>
            </a:r>
            <a:r>
              <a:rPr lang="en-US" i="1"/>
              <a:t>abstraction</a:t>
            </a:r>
            <a:r>
              <a:rPr lang="en-US"/>
              <a:t>)</a:t>
            </a:r>
          </a:p>
          <a:p>
            <a:r>
              <a:rPr lang="en-US" i="1"/>
              <a:t>Data Hiding</a:t>
            </a:r>
          </a:p>
          <a:p>
            <a:r>
              <a:rPr lang="en-US"/>
              <a:t>Encapsulamento (</a:t>
            </a:r>
            <a:r>
              <a:rPr lang="en-US" i="1"/>
              <a:t>encapsulation</a:t>
            </a:r>
            <a:r>
              <a:rPr lang="en-US"/>
              <a:t>)</a:t>
            </a:r>
          </a:p>
          <a:p>
            <a:r>
              <a:rPr lang="en-US"/>
              <a:t>Polimorfismo (</a:t>
            </a:r>
            <a:r>
              <a:rPr lang="en-US" i="1"/>
              <a:t>polymorphism</a:t>
            </a:r>
            <a:r>
              <a:rPr lang="en-US"/>
              <a:t>): aula futura</a:t>
            </a:r>
          </a:p>
          <a:p>
            <a:r>
              <a:rPr lang="en-US"/>
              <a:t>Herança (</a:t>
            </a:r>
            <a:r>
              <a:rPr lang="en-US" i="1"/>
              <a:t>Inheritance</a:t>
            </a:r>
            <a:r>
              <a:rPr lang="en-US"/>
              <a:t>): aula futura</a:t>
            </a:r>
          </a:p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A66CDE-AAB0-8A86-FE64-B8CC423BA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Princípios de OOP</a:t>
            </a:r>
            <a:endParaRPr lang="pt-B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3E3181-522B-FE22-3BCA-C664FCF0B8DD}"/>
              </a:ext>
            </a:extLst>
          </p:cNvPr>
          <p:cNvSpPr/>
          <p:nvPr/>
        </p:nvSpPr>
        <p:spPr>
          <a:xfrm>
            <a:off x="982804" y="2305429"/>
            <a:ext cx="2160990" cy="52251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14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F388A8-B11B-D77C-20A8-3E66F1579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/>
              <a:t>Data Hiding</a:t>
            </a:r>
            <a:r>
              <a:rPr lang="en-US"/>
              <a:t>	</a:t>
            </a:r>
          </a:p>
          <a:p>
            <a:pPr lvl="1"/>
            <a:r>
              <a:rPr lang="pt-BR"/>
              <a:t>Processo de </a:t>
            </a:r>
            <a:r>
              <a:rPr lang="en-US"/>
              <a:t>“esconder” os atributos da classe, ou seja, restringir o acesso a eles a partir do mundo exterior</a:t>
            </a: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141E5D-495E-8967-356D-7E43B3D75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Princípios de OOP (</a:t>
            </a:r>
            <a:r>
              <a:rPr lang="en-US" i="1"/>
              <a:t>Data Hiding</a:t>
            </a:r>
            <a:r>
              <a:rPr lang="en-US"/>
              <a:t>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813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4141E5D-495E-8967-356D-7E43B3D75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Princípios de OOP (</a:t>
            </a:r>
            <a:r>
              <a:rPr lang="en-US" i="1"/>
              <a:t>Data Hiding</a:t>
            </a:r>
            <a:r>
              <a:rPr lang="en-US"/>
              <a:t>)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87C81-1798-F0E6-C102-928AAE7DF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Exemplo</a:t>
            </a:r>
            <a:endParaRPr lang="pt-B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289689-D98D-A760-83C8-868EAD7B3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847153"/>
              </p:ext>
            </p:extLst>
          </p:nvPr>
        </p:nvGraphicFramePr>
        <p:xfrm>
          <a:off x="253276" y="2098178"/>
          <a:ext cx="11972829" cy="3558039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55803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_employee_id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</a:t>
                      </a:r>
                    </a:p>
                    <a:p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</a:p>
                    <a:p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employee_id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employee_id</a:t>
                      </a:r>
                    </a:p>
                    <a:p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salary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salary</a:t>
                      </a: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get_attributes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f"Employee Name: {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ID: {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_employee_id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"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f"Salary: ${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_salary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9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emma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Employee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"Emma"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12345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4000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emma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salary = </a:t>
                      </a:r>
                      <a:r>
                        <a:rPr lang="pt-BR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4500</a:t>
                      </a:r>
                      <a:endParaRPr lang="pt-BR" sz="19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AAD1F40-790A-8BA0-4E16-D7DF6B052742}"/>
              </a:ext>
            </a:extLst>
          </p:cNvPr>
          <p:cNvSpPr/>
          <p:nvPr/>
        </p:nvSpPr>
        <p:spPr>
          <a:xfrm>
            <a:off x="752026" y="5274831"/>
            <a:ext cx="2674798" cy="3509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49882B-9FF4-6361-901F-3165E2DAEA57}"/>
              </a:ext>
            </a:extLst>
          </p:cNvPr>
          <p:cNvCxnSpPr>
            <a:cxnSpLocks/>
          </p:cNvCxnSpPr>
          <p:nvPr/>
        </p:nvCxnSpPr>
        <p:spPr>
          <a:xfrm>
            <a:off x="3426824" y="5442857"/>
            <a:ext cx="209441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74CF950-60B5-D0D5-6B9A-3625EFF5F339}"/>
              </a:ext>
            </a:extLst>
          </p:cNvPr>
          <p:cNvSpPr txBox="1"/>
          <p:nvPr/>
        </p:nvSpPr>
        <p:spPr>
          <a:xfrm>
            <a:off x="5521236" y="4788565"/>
            <a:ext cx="6061164" cy="132343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Um exemplo de </a:t>
            </a:r>
            <a:r>
              <a:rPr lang="en-US" sz="2000" i="1"/>
              <a:t>data hiding </a:t>
            </a:r>
            <a:r>
              <a:rPr lang="en-US" sz="2000"/>
              <a:t>seria esconder o atributo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salary</a:t>
            </a:r>
            <a:r>
              <a:rPr lang="en-US" sz="2000"/>
              <a:t> para que não fosse possível o que estamos fazendo aqui: alterar diretamente o atributo a partir do mundo exterior</a:t>
            </a:r>
          </a:p>
        </p:txBody>
      </p:sp>
    </p:spTree>
    <p:extLst>
      <p:ext uri="{BB962C8B-B14F-4D97-AF65-F5344CB8AC3E}">
        <p14:creationId xmlns:p14="http://schemas.microsoft.com/office/powerpoint/2010/main" val="61240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F388A8-B11B-D77C-20A8-3E66F1579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/>
              <a:t>Data Hiding</a:t>
            </a:r>
            <a:r>
              <a:rPr lang="en-US"/>
              <a:t>	</a:t>
            </a:r>
          </a:p>
          <a:p>
            <a:pPr lvl="1"/>
            <a:r>
              <a:rPr lang="en-US"/>
              <a:t>Em linguagens tradicionais, é obtido com especificadores de acesso (</a:t>
            </a:r>
            <a:r>
              <a:rPr lang="en-US" i="1"/>
              <a:t>access specifiers)</a:t>
            </a:r>
          </a:p>
          <a:p>
            <a:pPr lvl="2"/>
            <a:r>
              <a:rPr lang="en-US"/>
              <a:t>Em C++: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protected </a:t>
            </a:r>
            <a:r>
              <a:rPr lang="en-US">
                <a:cs typeface="Courier New" panose="02070309020205020404" pitchFamily="49" charset="0"/>
              </a:rPr>
              <a:t>e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endParaRPr lang="pt-BR"/>
          </a:p>
          <a:p>
            <a:pPr lvl="1"/>
            <a:r>
              <a:rPr lang="en-US"/>
              <a:t>Em Python não é possível impedir o acesso e usamos convenções</a:t>
            </a:r>
            <a:endParaRPr lang="en-US" i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141E5D-495E-8967-356D-7E43B3D75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Princípios de OOP (</a:t>
            </a:r>
            <a:r>
              <a:rPr lang="en-US" i="1"/>
              <a:t>Data Hiding</a:t>
            </a:r>
            <a:r>
              <a:rPr lang="en-US"/>
              <a:t>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098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641A97-2374-5CFB-A15E-6553F80AB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Convenciona-se que as variáveis iniciadas por um único </a:t>
            </a:r>
            <a:r>
              <a:rPr lang="en-US" i="1"/>
              <a:t>underscore</a:t>
            </a:r>
            <a:r>
              <a:rPr lang="en-US"/>
              <a:t> (_) são internas e não </a:t>
            </a:r>
            <a:r>
              <a:rPr lang="en-US">
                <a:cs typeface="Courier New" panose="02070309020205020404" pitchFamily="49" charset="0"/>
              </a:rPr>
              <a:t>devem ser acessadas pelo “mundo exterior”.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/>
              <a:t>Porém, nada impede o acesso direito. </a:t>
            </a:r>
          </a:p>
          <a:p>
            <a:pPr lvl="1"/>
            <a:r>
              <a:rPr lang="en-US"/>
              <a:t>Vamos voltar ao nosso exemplo da classe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en-US"/>
              <a:t> para ilustrar</a:t>
            </a:r>
          </a:p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F56686-6BA5-E1C6-92BA-2AC1F41E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Princípios de OOP (</a:t>
            </a:r>
            <a:r>
              <a:rPr lang="en-US" i="1"/>
              <a:t>Data Hiding</a:t>
            </a:r>
            <a:r>
              <a:rPr lang="en-US"/>
              <a:t>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125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EE0B9B-801C-BEA8-186E-5725BCED4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155177"/>
              </p:ext>
            </p:extLst>
          </p:nvPr>
        </p:nvGraphicFramePr>
        <p:xfrm>
          <a:off x="219171" y="1249092"/>
          <a:ext cx="11972829" cy="3558039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55803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 dirty="0" err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 dirty="0" err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900" dirty="0" err="1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init</a:t>
                      </a:r>
                      <a:r>
                        <a:rPr lang="pt-BR" sz="1900" dirty="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 err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employee_id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 err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salary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 err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</a:t>
                      </a:r>
                    </a:p>
                    <a:p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endParaRPr lang="pt-BR" sz="190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employee_id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employee_id</a:t>
                      </a:r>
                      <a:endParaRPr lang="pt-BR" sz="190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salary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salary</a:t>
                      </a:r>
                      <a:endParaRPr lang="pt-BR" sz="190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900" b="1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 dirty="0" err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get_attributes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 err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 b="1" dirty="0" err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 err="1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f"Employee</a:t>
                      </a:r>
                      <a:r>
                        <a:rPr lang="pt-BR" sz="1900" dirty="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900" dirty="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 {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900" dirty="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ID: {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employee_id</a:t>
                      </a:r>
                      <a:r>
                        <a:rPr lang="pt-BR" sz="1900" dirty="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"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</a:t>
                      </a:r>
                      <a:r>
                        <a:rPr lang="pt-BR" sz="1900" dirty="0" err="1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f"Salary</a:t>
                      </a:r>
                      <a:r>
                        <a:rPr lang="pt-BR" sz="1900" dirty="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 ${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_salary</a:t>
                      </a:r>
                      <a:r>
                        <a:rPr lang="pt-BR" sz="1900" dirty="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900" b="1" dirty="0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emma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"Emma"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12345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4000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emma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salary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pt-BR" sz="1900" dirty="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4500</a:t>
                      </a:r>
                      <a:endParaRPr lang="pt-BR" sz="1900" dirty="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1823548-289E-09B6-D6A5-9F19063F5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29" y="332656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Princípios de OOP (</a:t>
            </a:r>
            <a:r>
              <a:rPr lang="en-US" i="1"/>
              <a:t>Data Hiding</a:t>
            </a:r>
            <a:r>
              <a:rPr lang="en-US"/>
              <a:t>)</a:t>
            </a:r>
            <a:endParaRPr lang="pt-B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6EA917-138E-70F0-E5E4-7DA56B3FF52B}"/>
              </a:ext>
            </a:extLst>
          </p:cNvPr>
          <p:cNvSpPr txBox="1"/>
          <p:nvPr/>
        </p:nvSpPr>
        <p:spPr>
          <a:xfrm>
            <a:off x="5617029" y="4234029"/>
            <a:ext cx="4627875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Pela convenção, não deveríamos fazer, mas não há impedimento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214CA2-3518-70E1-5931-9CF5FDF14197}"/>
              </a:ext>
            </a:extLst>
          </p:cNvPr>
          <p:cNvSpPr/>
          <p:nvPr/>
        </p:nvSpPr>
        <p:spPr>
          <a:xfrm>
            <a:off x="717921" y="4425745"/>
            <a:ext cx="2804696" cy="3509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82F79DA-0BF3-FF22-F7FD-DD6098E3C4AE}"/>
              </a:ext>
            </a:extLst>
          </p:cNvPr>
          <p:cNvCxnSpPr>
            <a:cxnSpLocks/>
          </p:cNvCxnSpPr>
          <p:nvPr/>
        </p:nvCxnSpPr>
        <p:spPr>
          <a:xfrm>
            <a:off x="3522617" y="4587972"/>
            <a:ext cx="209441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06E19B6-7D74-B66B-39A8-1F1B9E552419}"/>
              </a:ext>
            </a:extLst>
          </p:cNvPr>
          <p:cNvSpPr txBox="1"/>
          <p:nvPr/>
        </p:nvSpPr>
        <p:spPr>
          <a:xfrm>
            <a:off x="5453339" y="1630828"/>
            <a:ext cx="4062854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Note o </a:t>
            </a:r>
            <a:r>
              <a:rPr lang="en-US" sz="2000" i="1" dirty="0"/>
              <a:t>underscore</a:t>
            </a:r>
            <a:r>
              <a:rPr lang="en-US" sz="2000" dirty="0"/>
              <a:t>. O </a:t>
            </a:r>
            <a:r>
              <a:rPr lang="en-US" sz="2000" dirty="0" err="1"/>
              <a:t>mesmo</a:t>
            </a:r>
            <a:r>
              <a:rPr lang="en-US" sz="2000" dirty="0"/>
              <a:t> vale para as </a:t>
            </a:r>
            <a:r>
              <a:rPr lang="en-US" sz="2000" dirty="0" err="1"/>
              <a:t>outras</a:t>
            </a:r>
            <a:r>
              <a:rPr lang="en-US" sz="2000" dirty="0"/>
              <a:t> duas </a:t>
            </a:r>
            <a:r>
              <a:rPr lang="en-US" sz="2000" dirty="0" err="1"/>
              <a:t>variáveis</a:t>
            </a:r>
            <a:r>
              <a:rPr lang="en-US" sz="2000" dirty="0"/>
              <a:t>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286216-7627-69DB-E89C-468EDE6F5E2A}"/>
              </a:ext>
            </a:extLst>
          </p:cNvPr>
          <p:cNvCxnSpPr>
            <a:cxnSpLocks/>
          </p:cNvCxnSpPr>
          <p:nvPr/>
        </p:nvCxnSpPr>
        <p:spPr>
          <a:xfrm>
            <a:off x="3358927" y="1984771"/>
            <a:ext cx="209441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C404E5F-B35A-EBFF-F6DA-BE002D21EF62}"/>
              </a:ext>
            </a:extLst>
          </p:cNvPr>
          <p:cNvSpPr/>
          <p:nvPr/>
        </p:nvSpPr>
        <p:spPr>
          <a:xfrm>
            <a:off x="1861107" y="1837990"/>
            <a:ext cx="1497820" cy="30876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6B074B-45AA-DA6B-3C0D-176707BD14D7}"/>
              </a:ext>
            </a:extLst>
          </p:cNvPr>
          <p:cNvSpPr/>
          <p:nvPr/>
        </p:nvSpPr>
        <p:spPr>
          <a:xfrm>
            <a:off x="5387732" y="3282312"/>
            <a:ext cx="1687548" cy="31688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FE05A68-7991-2BBA-5497-4AE44FF0CFCF}"/>
              </a:ext>
            </a:extLst>
          </p:cNvPr>
          <p:cNvCxnSpPr>
            <a:cxnSpLocks/>
          </p:cNvCxnSpPr>
          <p:nvPr/>
        </p:nvCxnSpPr>
        <p:spPr>
          <a:xfrm flipH="1">
            <a:off x="3597865" y="3424913"/>
            <a:ext cx="178986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C6FD6E2-A8BD-005F-33A1-8986BA11E354}"/>
              </a:ext>
            </a:extLst>
          </p:cNvPr>
          <p:cNvSpPr txBox="1"/>
          <p:nvPr/>
        </p:nvSpPr>
        <p:spPr>
          <a:xfrm>
            <a:off x="107137" y="2932922"/>
            <a:ext cx="3507940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Estamos acessando a variável por dentro da classe: convenção respeitada.</a:t>
            </a:r>
          </a:p>
        </p:txBody>
      </p:sp>
    </p:spTree>
    <p:extLst>
      <p:ext uri="{BB962C8B-B14F-4D97-AF65-F5344CB8AC3E}">
        <p14:creationId xmlns:p14="http://schemas.microsoft.com/office/powerpoint/2010/main" val="394794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" grpId="0" animBg="1"/>
      <p:bldP spid="7" grpId="0" animBg="1"/>
      <p:bldP spid="9" grpId="0" animBg="1"/>
      <p:bldP spid="15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5132D9-882A-4EC5-5D0B-AB5C273BC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Nota</a:t>
            </a:r>
          </a:p>
          <a:p>
            <a:pPr lvl="1"/>
            <a:r>
              <a:rPr lang="en-US" dirty="0"/>
              <a:t>Como </a:t>
            </a:r>
            <a:r>
              <a:rPr lang="en-US" dirty="0" err="1"/>
              <a:t>mencionado</a:t>
            </a:r>
            <a:r>
              <a:rPr lang="en-US" dirty="0"/>
              <a:t>, </a:t>
            </a:r>
            <a:r>
              <a:rPr lang="en-US" dirty="0" err="1"/>
              <a:t>embora</a:t>
            </a:r>
            <a:r>
              <a:rPr lang="en-US" dirty="0"/>
              <a:t> o </a:t>
            </a:r>
            <a:r>
              <a:rPr lang="en-US" dirty="0" err="1"/>
              <a:t>mecanismo</a:t>
            </a:r>
            <a:r>
              <a:rPr lang="en-US" dirty="0"/>
              <a:t> </a:t>
            </a:r>
            <a:r>
              <a:rPr lang="en-US" dirty="0" err="1"/>
              <a:t>mencionado</a:t>
            </a:r>
            <a:r>
              <a:rPr lang="en-US" dirty="0"/>
              <a:t> </a:t>
            </a:r>
            <a:r>
              <a:rPr lang="en-US" dirty="0" err="1"/>
              <a:t>simule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dirty="0"/>
              <a:t>/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dirty="0"/>
              <a:t>,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impõe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Da </a:t>
            </a:r>
            <a:r>
              <a:rPr lang="en-US" dirty="0" err="1"/>
              <a:t>documentação</a:t>
            </a:r>
            <a:r>
              <a:rPr lang="en-US" dirty="0"/>
              <a:t>:</a:t>
            </a:r>
          </a:p>
          <a:p>
            <a:pPr marL="671512" lvl="2" indent="0">
              <a:buNone/>
            </a:pPr>
            <a:r>
              <a:rPr lang="en-US" i="1" dirty="0"/>
              <a:t>“Private” instance variables that cannot be accessed except from inside an object don’t exist in Python. However, there is a convention that is followed by most Python code […] </a:t>
            </a:r>
            <a:r>
              <a:rPr lang="en-US" dirty="0"/>
              <a:t>(</a:t>
            </a:r>
            <a:r>
              <a:rPr lang="fr-FR" dirty="0">
                <a:hlinkClick r:id="rId2"/>
              </a:rPr>
              <a:t>Fonte</a:t>
            </a:r>
            <a:r>
              <a:rPr lang="en-US" dirty="0"/>
              <a:t>)</a:t>
            </a:r>
            <a:endParaRPr lang="pt-B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7735BB-B80A-2475-E199-DB2F04E78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Princípios de OOP (</a:t>
            </a:r>
            <a:r>
              <a:rPr lang="en-US" i="1"/>
              <a:t>Data Hiding</a:t>
            </a:r>
            <a:r>
              <a:rPr lang="en-US"/>
              <a:t>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357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74AF3B-E926-FCA0-CFE1-F73255F23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Como acessamos (e alteramos) os atributos que estão “escondidos”?</a:t>
            </a:r>
          </a:p>
          <a:p>
            <a:pPr lvl="1"/>
            <a:r>
              <a:rPr lang="en-US"/>
              <a:t>1ª forma: Métodos</a:t>
            </a:r>
            <a:r>
              <a:rPr lang="en-US" i="1"/>
              <a:t> Setters</a:t>
            </a:r>
            <a:r>
              <a:rPr lang="en-US"/>
              <a:t> (alteram o valor do atributo) e </a:t>
            </a:r>
            <a:r>
              <a:rPr lang="en-US" i="1"/>
              <a:t>Getters </a:t>
            </a:r>
            <a:r>
              <a:rPr lang="en-US"/>
              <a:t>(obtêm o valor do atributo) tradicionais</a:t>
            </a:r>
          </a:p>
          <a:p>
            <a:pPr lvl="2"/>
            <a:r>
              <a:rPr lang="en-US" i="1"/>
              <a:t>Setters</a:t>
            </a:r>
            <a:r>
              <a:rPr lang="en-US"/>
              <a:t> também são chamados de </a:t>
            </a:r>
            <a:r>
              <a:rPr lang="en-US" i="1"/>
              <a:t>mutators</a:t>
            </a:r>
          </a:p>
          <a:p>
            <a:pPr lvl="2"/>
            <a:r>
              <a:rPr lang="en-US" i="1"/>
              <a:t>Getters</a:t>
            </a:r>
            <a:r>
              <a:rPr lang="en-US"/>
              <a:t> também são chamados de </a:t>
            </a:r>
            <a:r>
              <a:rPr lang="en-US" i="1"/>
              <a:t>accessors</a:t>
            </a:r>
            <a:endParaRPr lang="pt-BR" i="1"/>
          </a:p>
          <a:p>
            <a:r>
              <a:rPr lang="en-US"/>
              <a:t>Vamos alterar nosso exemplo e criar </a:t>
            </a:r>
            <a:r>
              <a:rPr lang="en-US" i="1"/>
              <a:t>setters</a:t>
            </a:r>
            <a:r>
              <a:rPr lang="en-US"/>
              <a:t>/</a:t>
            </a:r>
            <a:r>
              <a:rPr lang="en-US" i="1"/>
              <a:t>getters</a:t>
            </a:r>
            <a:r>
              <a:rPr lang="en-US"/>
              <a:t> para o atributo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_salary</a:t>
            </a:r>
          </a:p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49D7FD-7B9D-B377-F001-142E4B46D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Setters e Getters</a:t>
            </a:r>
            <a:r>
              <a:rPr lang="en-US"/>
              <a:t> Tradicionais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546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89ABA-90BE-404C-B6A3-48799A78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29" y="332656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en-US" i="1"/>
              <a:t>Setters e Getters </a:t>
            </a:r>
            <a:r>
              <a:rPr lang="en-US"/>
              <a:t>Tradicionais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79867A-0DBC-FDAF-1DFF-AF39A59A7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60470"/>
              </p:ext>
            </p:extLst>
          </p:nvPr>
        </p:nvGraphicFramePr>
        <p:xfrm>
          <a:off x="109585" y="1070567"/>
          <a:ext cx="11972829" cy="5656803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656803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 dirty="0" err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 dirty="0" err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900" dirty="0" err="1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init</a:t>
                      </a:r>
                      <a:r>
                        <a:rPr lang="pt-BR" sz="1900" dirty="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 err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employee_id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 err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salary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 err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</a:t>
                      </a:r>
                    </a:p>
                    <a:p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endParaRPr lang="pt-BR" sz="190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employee_id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_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employee_id</a:t>
                      </a:r>
                      <a:endParaRPr lang="pt-BR" sz="190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salary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salary</a:t>
                      </a:r>
                      <a:endParaRPr lang="pt-BR" sz="190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900" b="1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 dirty="0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 dirty="0" err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get_salary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 b="1" dirty="0" err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salary</a:t>
                      </a:r>
                      <a:endParaRPr lang="pt-BR" sz="190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90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 dirty="0" err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set_salary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salary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 err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salary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salary</a:t>
                      </a:r>
                      <a:endParaRPr lang="pt-BR" sz="190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900" b="1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 dirty="0" err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get_attributes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 err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 b="1" dirty="0" err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 err="1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f"Employee</a:t>
                      </a:r>
                      <a:r>
                        <a:rPr lang="pt-BR" sz="1900" dirty="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900" dirty="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 {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900" dirty="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ID: {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employee_id</a:t>
                      </a:r>
                      <a:r>
                        <a:rPr lang="pt-BR" sz="1900" dirty="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"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</a:t>
                      </a:r>
                      <a:r>
                        <a:rPr lang="pt-BR" sz="1900" dirty="0" err="1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f"Salary</a:t>
                      </a:r>
                      <a:r>
                        <a:rPr lang="pt-BR" sz="1900" dirty="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 ${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_salary</a:t>
                      </a:r>
                      <a:r>
                        <a:rPr lang="pt-BR" sz="1900" dirty="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900" b="1" dirty="0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emma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"Emma"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12345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4000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emma</a:t>
                      </a:r>
                      <a:r>
                        <a:rPr lang="pt-BR" sz="1900" b="1" dirty="0" err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set_salary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4500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900" b="1" dirty="0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emma</a:t>
                      </a:r>
                      <a:r>
                        <a:rPr lang="pt-BR" sz="1900" b="1" dirty="0" err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get_salary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())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Output: 4500</a:t>
                      </a:r>
                      <a:endParaRPr lang="pt-BR" sz="1900" dirty="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289A93C-8A34-5AF7-814E-1F40DA4350EA}"/>
              </a:ext>
            </a:extLst>
          </p:cNvPr>
          <p:cNvSpPr/>
          <p:nvPr/>
        </p:nvSpPr>
        <p:spPr>
          <a:xfrm>
            <a:off x="1110522" y="2796787"/>
            <a:ext cx="5308658" cy="154681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E7FE11-092A-05EB-87A3-03CF454207AC}"/>
              </a:ext>
            </a:extLst>
          </p:cNvPr>
          <p:cNvSpPr/>
          <p:nvPr/>
        </p:nvSpPr>
        <p:spPr>
          <a:xfrm>
            <a:off x="595272" y="5974080"/>
            <a:ext cx="5687962" cy="71845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38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53BBAE-DA11-600B-68AB-22F61FFA6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Por que não expor publicamente o atributo?</a:t>
            </a:r>
          </a:p>
          <a:p>
            <a:pPr lvl="1"/>
            <a:r>
              <a:rPr lang="en-US"/>
              <a:t>Tradicionalmente, se posteriormente quisermos incluir outras operações vamos quebrar a interface.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E166F5-8F7C-91DC-3A1E-031262636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Expor publicamente o atributo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52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FED461-BF0F-6091-52FE-80FE1056A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Exemplo</a:t>
            </a:r>
          </a:p>
          <a:p>
            <a:pPr lvl="1"/>
            <a:r>
              <a:rPr lang="en-US"/>
              <a:t>Criamos um objeto e alteramos posteriormente o seu nome</a:t>
            </a:r>
          </a:p>
          <a:p>
            <a:pPr lvl="1"/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DDAB8B-4B1B-E421-2534-EA1944C89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Expor publicamente o atributo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999AD8-95CA-CC4B-78B9-8C40727A1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725409"/>
              </p:ext>
            </p:extLst>
          </p:nvPr>
        </p:nvGraphicFramePr>
        <p:xfrm>
          <a:off x="109585" y="2508793"/>
          <a:ext cx="11972829" cy="3767943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767943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Person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Person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"Emma"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Output: Emma</a:t>
                      </a:r>
                      <a:endParaRPr lang="pt-BR" sz="20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"Frodo"</a:t>
                      </a:r>
                      <a:endParaRPr lang="pt-BR" sz="20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Output: Frodo</a:t>
                      </a:r>
                    </a:p>
                    <a:p>
                      <a:endParaRPr lang="pt-BR" sz="2000">
                        <a:solidFill>
                          <a:srgbClr val="008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""</a:t>
                      </a:r>
                      <a:endParaRPr lang="pt-BR" sz="20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Output:</a:t>
                      </a:r>
                      <a:endParaRPr lang="pt-BR" sz="20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61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FFD69D-9795-94CC-E68C-C05021995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Exemplo (continuação)</a:t>
            </a:r>
          </a:p>
          <a:p>
            <a:pPr lvl="1"/>
            <a:r>
              <a:rPr lang="en-US"/>
              <a:t>Agora, queremos lançar um erro se o nome passado for vazio.</a:t>
            </a:r>
          </a:p>
          <a:p>
            <a:pPr lvl="1"/>
            <a:r>
              <a:rPr lang="en-US"/>
              <a:t> Porém, se usarmos um </a:t>
            </a:r>
            <a:r>
              <a:rPr lang="en-US" i="1"/>
              <a:t>setter</a:t>
            </a:r>
            <a:r>
              <a:rPr lang="en-US"/>
              <a:t> tradicional quebramos a interface.</a:t>
            </a: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96FEB0-C56F-5B73-4C4F-1F390940B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Expor publicamente o atributo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2534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ED69CD-3C68-2B37-4F84-D85020DF2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Exemplo (continuação)</a:t>
            </a: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2D953B-5E4D-6190-BBB6-14DC53F5F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Expor publicamente o atributo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360F3A-DF6B-E370-BB2D-3B363701C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958714"/>
              </p:ext>
            </p:extLst>
          </p:nvPr>
        </p:nvGraphicFramePr>
        <p:xfrm>
          <a:off x="109587" y="1831653"/>
          <a:ext cx="11972829" cy="495053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495053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 dirty="0" err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Person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 dirty="0" err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900" dirty="0" err="1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init</a:t>
                      </a:r>
                      <a:r>
                        <a:rPr lang="pt-BR" sz="1900" dirty="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 dirty="0" err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set_name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900" b="1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900" b="1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 dirty="0" err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set_name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 b="1" dirty="0" err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 err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not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900" b="1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900" b="1" dirty="0" err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raise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 err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ValueError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"Nome não pode ser vazio"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endParaRPr lang="pt-BR" sz="190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900" b="1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 dirty="0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 dirty="0" err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 err="1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get_name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 b="1" dirty="0" err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endParaRPr lang="pt-BR" sz="190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90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 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Person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"Emma"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900" b="1" dirty="0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900" b="1" dirty="0" err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get_name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())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Output: Emma</a:t>
                      </a:r>
                    </a:p>
                    <a:p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900" b="1" dirty="0" err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set_name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"Frodo"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900" b="1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 dirty="0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900" b="1" dirty="0" err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get_name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())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Output: Frodo</a:t>
                      </a:r>
                    </a:p>
                    <a:p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900" b="1" dirty="0" err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set_name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dirty="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""</a:t>
                      </a:r>
                      <a:r>
                        <a:rPr lang="pt-BR" sz="1900" b="1" dirty="0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dirty="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Exceção é lançada</a:t>
                      </a:r>
                      <a:r>
                        <a:rPr lang="pt-BR" sz="1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endParaRPr lang="pt-BR" sz="1900" dirty="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15BE4289-CBDD-CCFC-838A-1FB1DDF99D5A}"/>
              </a:ext>
            </a:extLst>
          </p:cNvPr>
          <p:cNvSpPr/>
          <p:nvPr/>
        </p:nvSpPr>
        <p:spPr>
          <a:xfrm>
            <a:off x="609600" y="5878224"/>
            <a:ext cx="2951505" cy="32252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35FCF0-2FA0-085F-1112-2BD16DDC408C}"/>
              </a:ext>
            </a:extLst>
          </p:cNvPr>
          <p:cNvCxnSpPr>
            <a:cxnSpLocks/>
          </p:cNvCxnSpPr>
          <p:nvPr/>
        </p:nvCxnSpPr>
        <p:spPr>
          <a:xfrm>
            <a:off x="3556510" y="6061241"/>
            <a:ext cx="136011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4D772EC-2468-2DA7-6DC4-8FA4D2A0C813}"/>
              </a:ext>
            </a:extLst>
          </p:cNvPr>
          <p:cNvSpPr txBox="1"/>
          <p:nvPr/>
        </p:nvSpPr>
        <p:spPr>
          <a:xfrm>
            <a:off x="4916621" y="5553409"/>
            <a:ext cx="6629075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Quebramos a interface. Precisamos substituir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p.name = “Frodo" </a:t>
            </a:r>
            <a:r>
              <a:rPr lang="en-US" sz="2000"/>
              <a:t>por 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p.set_name(“Frodo").</a:t>
            </a:r>
            <a:r>
              <a:rPr lang="en-US" sz="2000">
                <a:latin typeface="+mn-lt"/>
                <a:cs typeface="Courier New" panose="02070309020205020404" pitchFamily="49" charset="0"/>
              </a:rPr>
              <a:t> Isso teria sido evitado se tivéssemos introduzido o </a:t>
            </a:r>
            <a:r>
              <a:rPr lang="en-US" sz="2000" i="1">
                <a:latin typeface="+mn-lt"/>
                <a:cs typeface="Courier New" panose="02070309020205020404" pitchFamily="49" charset="0"/>
              </a:rPr>
              <a:t>setter</a:t>
            </a:r>
            <a:r>
              <a:rPr lang="en-US" sz="2000">
                <a:latin typeface="+mn-lt"/>
                <a:cs typeface="Courier New" panose="02070309020205020404" pitchFamily="49" charset="0"/>
              </a:rPr>
              <a:t> desde o início.</a:t>
            </a:r>
          </a:p>
        </p:txBody>
      </p:sp>
    </p:spTree>
    <p:extLst>
      <p:ext uri="{BB962C8B-B14F-4D97-AF65-F5344CB8AC3E}">
        <p14:creationId xmlns:p14="http://schemas.microsoft.com/office/powerpoint/2010/main" val="386586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091097-8858-B742-2B07-1071F7C85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Como acessamos os atributos que estão “escondidos”?</a:t>
            </a:r>
          </a:p>
          <a:p>
            <a:pPr lvl="1"/>
            <a:r>
              <a:rPr lang="en-US"/>
              <a:t>2ª forma: </a:t>
            </a:r>
            <a:r>
              <a:rPr lang="en-US" i="1"/>
              <a:t>properties</a:t>
            </a:r>
            <a:endParaRPr lang="pt-BR" i="1"/>
          </a:p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03B8F8-010A-5FE9-F79D-82918329F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Properties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795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7103E8-BCD5-F296-6FC1-8DE1938AF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Properties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133BF6-5945-2A14-C894-2A5FB727E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410882"/>
              </p:ext>
            </p:extLst>
          </p:nvPr>
        </p:nvGraphicFramePr>
        <p:xfrm>
          <a:off x="150941" y="1036090"/>
          <a:ext cx="11972829" cy="5791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72311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Person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</a:p>
                    <a:p>
                      <a:endParaRPr lang="pt-BR" sz="1800" i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i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i="1">
                          <a:solidFill>
                            <a:srgbClr val="FF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@property</a:t>
                      </a:r>
                      <a:endParaRPr lang="pt-BR" sz="1800" i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i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return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</a:t>
                      </a:r>
                    </a:p>
                    <a:p>
                      <a:endParaRPr lang="pt-BR" sz="1800" i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i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i="1">
                          <a:solidFill>
                            <a:srgbClr val="FF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@name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setter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value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not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value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raise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ValueError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"Nome não pode ser vazio"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value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Person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"Emma"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Output: Emma</a:t>
                      </a:r>
                    </a:p>
                    <a:p>
                      <a:endParaRPr lang="pt-BR" sz="1800">
                        <a:solidFill>
                          <a:srgbClr val="008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"Frodo"</a:t>
                      </a: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Output: Frodo</a:t>
                      </a:r>
                    </a:p>
                    <a:p>
                      <a:endParaRPr lang="pt-BR" sz="1800">
                        <a:solidFill>
                          <a:srgbClr val="008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""</a:t>
                      </a:r>
                      <a:endParaRPr lang="pt-BR" sz="19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781B5B8-2170-73DC-5704-A384BC588B39}"/>
              </a:ext>
            </a:extLst>
          </p:cNvPr>
          <p:cNvSpPr/>
          <p:nvPr/>
        </p:nvSpPr>
        <p:spPr>
          <a:xfrm>
            <a:off x="658230" y="1989112"/>
            <a:ext cx="10958250" cy="27907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852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7103E8-BCD5-F296-6FC1-8DE1938AF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Properties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133BF6-5945-2A14-C894-2A5FB727E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134170"/>
              </p:ext>
            </p:extLst>
          </p:nvPr>
        </p:nvGraphicFramePr>
        <p:xfrm>
          <a:off x="150941" y="1036090"/>
          <a:ext cx="11972829" cy="5791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72311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Person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Usa o setter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800" i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i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i="1">
                          <a:solidFill>
                            <a:srgbClr val="FF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@property</a:t>
                      </a:r>
                      <a:endParaRPr lang="pt-BR" sz="1800" i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i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return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</a:t>
                      </a:r>
                    </a:p>
                    <a:p>
                      <a:endParaRPr lang="pt-BR" sz="1800" i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i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i="1">
                          <a:solidFill>
                            <a:srgbClr val="FF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@name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setter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value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not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value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raise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ValueError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"Nome não pode ser vazio"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value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Person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"Emma"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Output: Emma</a:t>
                      </a:r>
                    </a:p>
                    <a:p>
                      <a:endParaRPr lang="pt-BR" sz="1800">
                        <a:solidFill>
                          <a:srgbClr val="008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"Frodo"</a:t>
                      </a: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Output: Frodo</a:t>
                      </a:r>
                    </a:p>
                    <a:p>
                      <a:endParaRPr lang="pt-BR" sz="1800">
                        <a:solidFill>
                          <a:srgbClr val="008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""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Lançada exceção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endParaRPr lang="pt-BR" sz="19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BBCD44DB-6FB3-349B-B0FB-D884B0329182}"/>
              </a:ext>
            </a:extLst>
          </p:cNvPr>
          <p:cNvSpPr/>
          <p:nvPr/>
        </p:nvSpPr>
        <p:spPr>
          <a:xfrm>
            <a:off x="1188638" y="2084108"/>
            <a:ext cx="185259" cy="36693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7FD4293-A5BE-B991-3D6F-FF18E524EF96}"/>
              </a:ext>
            </a:extLst>
          </p:cNvPr>
          <p:cNvCxnSpPr>
            <a:cxnSpLocks/>
          </p:cNvCxnSpPr>
          <p:nvPr/>
        </p:nvCxnSpPr>
        <p:spPr>
          <a:xfrm>
            <a:off x="1373897" y="2267574"/>
            <a:ext cx="2386996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23B020E-3460-D756-62EB-93190AE8CE48}"/>
              </a:ext>
            </a:extLst>
          </p:cNvPr>
          <p:cNvSpPr txBox="1"/>
          <p:nvPr/>
        </p:nvSpPr>
        <p:spPr>
          <a:xfrm>
            <a:off x="3760893" y="1785474"/>
            <a:ext cx="5974365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Indica um </a:t>
            </a:r>
            <a:r>
              <a:rPr lang="en-US" sz="2000" i="1"/>
              <a:t>decorator</a:t>
            </a:r>
            <a:r>
              <a:rPr lang="en-US" sz="2000"/>
              <a:t>. </a:t>
            </a:r>
            <a:r>
              <a:rPr lang="en-US" sz="2000" i="1"/>
              <a:t>Decorators</a:t>
            </a:r>
            <a:r>
              <a:rPr lang="en-US" sz="2000"/>
              <a:t> são funções que modificam outras funções e retornam a função modificada.</a:t>
            </a:r>
            <a:endParaRPr lang="en-US" sz="2000"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98B39E-A137-C26B-0184-5E7177123A36}"/>
              </a:ext>
            </a:extLst>
          </p:cNvPr>
          <p:cNvSpPr/>
          <p:nvPr/>
        </p:nvSpPr>
        <p:spPr>
          <a:xfrm>
            <a:off x="646431" y="5125981"/>
            <a:ext cx="1811881" cy="36693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7C92B8-E476-EC69-4720-49E4417B6768}"/>
              </a:ext>
            </a:extLst>
          </p:cNvPr>
          <p:cNvSpPr/>
          <p:nvPr/>
        </p:nvSpPr>
        <p:spPr>
          <a:xfrm>
            <a:off x="646431" y="5638443"/>
            <a:ext cx="2225429" cy="36693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861F3C-AF72-DC32-9485-5F2339EA9555}"/>
              </a:ext>
            </a:extLst>
          </p:cNvPr>
          <p:cNvCxnSpPr>
            <a:cxnSpLocks/>
          </p:cNvCxnSpPr>
          <p:nvPr/>
        </p:nvCxnSpPr>
        <p:spPr>
          <a:xfrm>
            <a:off x="2458312" y="5309448"/>
            <a:ext cx="2904024" cy="35009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D407C00-F42D-FDF7-B904-0D5F08FFD4EA}"/>
              </a:ext>
            </a:extLst>
          </p:cNvPr>
          <p:cNvCxnSpPr>
            <a:cxnSpLocks/>
          </p:cNvCxnSpPr>
          <p:nvPr/>
        </p:nvCxnSpPr>
        <p:spPr>
          <a:xfrm flipV="1">
            <a:off x="2871860" y="5638443"/>
            <a:ext cx="2490476" cy="19611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ABD33CD-A9FE-744A-82F4-3782D50498F3}"/>
              </a:ext>
            </a:extLst>
          </p:cNvPr>
          <p:cNvSpPr txBox="1"/>
          <p:nvPr/>
        </p:nvSpPr>
        <p:spPr>
          <a:xfrm>
            <a:off x="5388070" y="5297491"/>
            <a:ext cx="3026791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Inalterado. A interface foi preservada.</a:t>
            </a:r>
            <a:endParaRPr lang="en-US" sz="2000"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03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6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7103E8-BCD5-F296-6FC1-8DE1938AF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Properties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133BF6-5945-2A14-C894-2A5FB727E51B}"/>
              </a:ext>
            </a:extLst>
          </p:cNvPr>
          <p:cNvGraphicFramePr>
            <a:graphicFrameLocks noGrp="1"/>
          </p:cNvGraphicFramePr>
          <p:nvPr/>
        </p:nvGraphicFramePr>
        <p:xfrm>
          <a:off x="150941" y="1036090"/>
          <a:ext cx="11972829" cy="5791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72311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Person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Usa o setter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800" i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i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i="1">
                          <a:solidFill>
                            <a:srgbClr val="FF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@property</a:t>
                      </a:r>
                      <a:endParaRPr lang="pt-BR" sz="1800" i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i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return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</a:t>
                      </a:r>
                    </a:p>
                    <a:p>
                      <a:endParaRPr lang="pt-BR" sz="1800" i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i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i="1">
                          <a:solidFill>
                            <a:srgbClr val="FF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@name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setter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value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not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value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raise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ValueError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"Nome não pode ser vazio"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value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Person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"Emma"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Output: Emma</a:t>
                      </a:r>
                    </a:p>
                    <a:p>
                      <a:endParaRPr lang="pt-BR" sz="1800">
                        <a:solidFill>
                          <a:srgbClr val="008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"Frodo"</a:t>
                      </a: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Output: Frodo</a:t>
                      </a:r>
                    </a:p>
                    <a:p>
                      <a:endParaRPr lang="pt-BR" sz="1800">
                        <a:solidFill>
                          <a:srgbClr val="008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""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Lançada exceção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endParaRPr lang="pt-BR" sz="19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D940520-38A9-5ED2-7396-BC8911F9AFD7}"/>
              </a:ext>
            </a:extLst>
          </p:cNvPr>
          <p:cNvSpPr/>
          <p:nvPr/>
        </p:nvSpPr>
        <p:spPr>
          <a:xfrm>
            <a:off x="651025" y="5098690"/>
            <a:ext cx="1775122" cy="36693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3711B0-8357-2112-E9B9-0B9B500CB982}"/>
              </a:ext>
            </a:extLst>
          </p:cNvPr>
          <p:cNvSpPr/>
          <p:nvPr/>
        </p:nvSpPr>
        <p:spPr>
          <a:xfrm>
            <a:off x="1120479" y="2094063"/>
            <a:ext cx="1590555" cy="36693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4D02AC9-639E-88F5-2061-83E1AA75C68A}"/>
              </a:ext>
            </a:extLst>
          </p:cNvPr>
          <p:cNvCxnSpPr>
            <a:cxnSpLocks/>
          </p:cNvCxnSpPr>
          <p:nvPr/>
        </p:nvCxnSpPr>
        <p:spPr>
          <a:xfrm>
            <a:off x="2711034" y="2277530"/>
            <a:ext cx="2386996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CCE84A2-D1AF-C403-573A-CADA68DCFB4F}"/>
              </a:ext>
            </a:extLst>
          </p:cNvPr>
          <p:cNvSpPr txBox="1"/>
          <p:nvPr/>
        </p:nvSpPr>
        <p:spPr>
          <a:xfrm>
            <a:off x="5106342" y="1769698"/>
            <a:ext cx="5974365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Modifica o método: permite que o método seja chamado sem parêntesis. Ou seja, o método é acessado como se fosse um atributo.</a:t>
            </a:r>
            <a:endParaRPr lang="en-US" sz="2000">
              <a:latin typeface="+mn-lt"/>
              <a:cs typeface="Courier New" panose="020703090202050204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F0DFBD-C422-DB86-9DBA-574B12D7FACC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538586" y="2801549"/>
            <a:ext cx="6554938" cy="229714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7BF6A9-25E3-0387-AD75-610815361833}"/>
              </a:ext>
            </a:extLst>
          </p:cNvPr>
          <p:cNvCxnSpPr>
            <a:cxnSpLocks/>
          </p:cNvCxnSpPr>
          <p:nvPr/>
        </p:nvCxnSpPr>
        <p:spPr>
          <a:xfrm>
            <a:off x="2426147" y="5282156"/>
            <a:ext cx="2386996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0AAF495-7F18-E9BB-A373-69019EF5DE1E}"/>
              </a:ext>
            </a:extLst>
          </p:cNvPr>
          <p:cNvSpPr txBox="1"/>
          <p:nvPr/>
        </p:nvSpPr>
        <p:spPr>
          <a:xfrm>
            <a:off x="4813143" y="5080037"/>
            <a:ext cx="5974365" cy="40011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Na realidade é como se fosse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print(p.name())</a:t>
            </a:r>
          </a:p>
        </p:txBody>
      </p:sp>
    </p:spTree>
    <p:extLst>
      <p:ext uri="{BB962C8B-B14F-4D97-AF65-F5344CB8AC3E}">
        <p14:creationId xmlns:p14="http://schemas.microsoft.com/office/powerpoint/2010/main" val="2160728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7103E8-BCD5-F296-6FC1-8DE1938AF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Properties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133BF6-5945-2A14-C894-2A5FB727E51B}"/>
              </a:ext>
            </a:extLst>
          </p:cNvPr>
          <p:cNvGraphicFramePr>
            <a:graphicFrameLocks noGrp="1"/>
          </p:cNvGraphicFramePr>
          <p:nvPr/>
        </p:nvGraphicFramePr>
        <p:xfrm>
          <a:off x="150941" y="1036090"/>
          <a:ext cx="11972829" cy="5791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72311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Person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Usa o setter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800" i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i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i="1">
                          <a:solidFill>
                            <a:srgbClr val="FF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@property</a:t>
                      </a:r>
                      <a:endParaRPr lang="pt-BR" sz="1800" i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i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return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</a:t>
                      </a:r>
                    </a:p>
                    <a:p>
                      <a:endParaRPr lang="pt-BR" sz="1800" i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i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i="1">
                          <a:solidFill>
                            <a:srgbClr val="FF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@name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setter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value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not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value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raise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ValueError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"Nome não pode ser vazio"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value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Person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"Emma"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Output: Emma</a:t>
                      </a:r>
                    </a:p>
                    <a:p>
                      <a:endParaRPr lang="pt-BR" sz="1800">
                        <a:solidFill>
                          <a:srgbClr val="008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"Frodo"</a:t>
                      </a: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Output: Frodo</a:t>
                      </a:r>
                    </a:p>
                    <a:p>
                      <a:endParaRPr lang="pt-BR" sz="1800">
                        <a:solidFill>
                          <a:srgbClr val="008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""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Lançada exceção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endParaRPr lang="pt-BR" sz="19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D652896-259B-C88E-DDDB-148F598A8330}"/>
              </a:ext>
            </a:extLst>
          </p:cNvPr>
          <p:cNvSpPr/>
          <p:nvPr/>
        </p:nvSpPr>
        <p:spPr>
          <a:xfrm>
            <a:off x="586501" y="5621514"/>
            <a:ext cx="2349493" cy="36693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E3F151-B713-D693-E48A-9F0B8889FEB5}"/>
              </a:ext>
            </a:extLst>
          </p:cNvPr>
          <p:cNvSpPr/>
          <p:nvPr/>
        </p:nvSpPr>
        <p:spPr>
          <a:xfrm>
            <a:off x="1171024" y="3183073"/>
            <a:ext cx="1861659" cy="36693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AEB5FD-8B2C-B55F-51D6-2A4EAE21EDF5}"/>
              </a:ext>
            </a:extLst>
          </p:cNvPr>
          <p:cNvCxnSpPr>
            <a:cxnSpLocks/>
          </p:cNvCxnSpPr>
          <p:nvPr/>
        </p:nvCxnSpPr>
        <p:spPr>
          <a:xfrm>
            <a:off x="3032683" y="3397127"/>
            <a:ext cx="2386996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A772A70-7F2E-A3A3-0772-7A62FAFAE300}"/>
              </a:ext>
            </a:extLst>
          </p:cNvPr>
          <p:cNvSpPr txBox="1"/>
          <p:nvPr/>
        </p:nvSpPr>
        <p:spPr>
          <a:xfrm>
            <a:off x="5419679" y="2889295"/>
            <a:ext cx="5974365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Modifica o método: o método é chamado pelo seu nome e atribuindo-se um valor, ao invés do valor ser passado como argumento.</a:t>
            </a:r>
            <a:endParaRPr lang="en-US" sz="2000">
              <a:latin typeface="+mn-lt"/>
              <a:cs typeface="Courier New" panose="02070309020205020404" pitchFamily="49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3310886-F3F4-DE65-0438-EE4048DBFBB6}"/>
              </a:ext>
            </a:extLst>
          </p:cNvPr>
          <p:cNvCxnSpPr>
            <a:cxnSpLocks/>
            <a:stCxn id="14" idx="2"/>
            <a:endCxn id="2" idx="0"/>
          </p:cNvCxnSpPr>
          <p:nvPr/>
        </p:nvCxnSpPr>
        <p:spPr>
          <a:xfrm flipH="1">
            <a:off x="1761248" y="3904958"/>
            <a:ext cx="6645614" cy="171655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FB134F-66E5-833B-E14D-C44866425B27}"/>
              </a:ext>
            </a:extLst>
          </p:cNvPr>
          <p:cNvCxnSpPr>
            <a:cxnSpLocks/>
          </p:cNvCxnSpPr>
          <p:nvPr/>
        </p:nvCxnSpPr>
        <p:spPr>
          <a:xfrm>
            <a:off x="2931319" y="5804980"/>
            <a:ext cx="2386996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6612B11-4CD6-C7FC-1D2D-7CB2E8B9BB94}"/>
              </a:ext>
            </a:extLst>
          </p:cNvPr>
          <p:cNvSpPr txBox="1"/>
          <p:nvPr/>
        </p:nvSpPr>
        <p:spPr>
          <a:xfrm>
            <a:off x="5318315" y="5624237"/>
            <a:ext cx="5974365" cy="40011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Na realidade é como se fosse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p.name(“Frodo”)</a:t>
            </a:r>
          </a:p>
        </p:txBody>
      </p:sp>
    </p:spTree>
    <p:extLst>
      <p:ext uri="{BB962C8B-B14F-4D97-AF65-F5344CB8AC3E}">
        <p14:creationId xmlns:p14="http://schemas.microsoft.com/office/powerpoint/2010/main" val="388230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4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DAADCD-631F-ACF6-FB84-3D552AF31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435" y="835903"/>
            <a:ext cx="10972800" cy="5780861"/>
          </a:xfrm>
        </p:spPr>
        <p:txBody>
          <a:bodyPr/>
          <a:lstStyle/>
          <a:p>
            <a:endParaRPr lang="en-US"/>
          </a:p>
          <a:p>
            <a:r>
              <a:rPr lang="en-US"/>
              <a:t>Em Python, o uso de </a:t>
            </a:r>
            <a:r>
              <a:rPr lang="en-US" i="1"/>
              <a:t>setters</a:t>
            </a:r>
            <a:r>
              <a:rPr lang="en-US"/>
              <a:t> e </a:t>
            </a:r>
            <a:r>
              <a:rPr lang="en-US" i="1"/>
              <a:t>getters</a:t>
            </a:r>
            <a:r>
              <a:rPr lang="en-US"/>
              <a:t> tradicionais é desaconselhado</a:t>
            </a:r>
          </a:p>
          <a:p>
            <a:r>
              <a:rPr lang="en-US"/>
              <a:t>Recomendações (modo pythonico):</a:t>
            </a:r>
          </a:p>
          <a:p>
            <a:pPr lvl="1"/>
            <a:r>
              <a:rPr lang="pt-BR"/>
              <a:t>Para apenas acesso/alteração exponha publicamente o atributo</a:t>
            </a:r>
          </a:p>
          <a:p>
            <a:pPr lvl="1"/>
            <a:r>
              <a:rPr lang="pt-BR"/>
              <a:t>Quando além de acesso/alteração estão envolvidas outras operações (checagem, validação, etc.) use </a:t>
            </a:r>
            <a:r>
              <a:rPr lang="pt-BR" i="1"/>
              <a:t>properties</a:t>
            </a:r>
          </a:p>
          <a:p>
            <a:pPr lvl="1"/>
            <a:r>
              <a:rPr lang="pt-BR"/>
              <a:t>Se houver necessidade de encapsular um método publicamente exposto podemos fazer isso com </a:t>
            </a:r>
            <a:r>
              <a:rPr lang="pt-BR" i="1"/>
              <a:t>properties</a:t>
            </a:r>
            <a:r>
              <a:rPr lang="pt-BR"/>
              <a:t> sem quebrar a interface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F8A915-4FFD-0894-E9BA-8BD84EFBC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Getters e Setters Tradicionais e </a:t>
            </a:r>
            <a:r>
              <a:rPr lang="en-US" i="1"/>
              <a:t>Properties</a:t>
            </a:r>
            <a:r>
              <a:rPr lang="en-US"/>
              <a:t>: recomendações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9425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E9B07F-FC87-0978-CF05-D10444425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PEP 8:</a:t>
            </a:r>
          </a:p>
          <a:p>
            <a:pPr marL="344487" lvl="1" indent="0">
              <a:buNone/>
            </a:pPr>
            <a:r>
              <a:rPr lang="en-US" i="1"/>
              <a:t>For </a:t>
            </a:r>
            <a:r>
              <a:rPr lang="en-US" i="1" u="sng"/>
              <a:t>simple public data attributes</a:t>
            </a:r>
            <a:r>
              <a:rPr lang="en-US" i="1"/>
              <a:t>, it is </a:t>
            </a:r>
            <a:r>
              <a:rPr lang="en-US" i="1" u="sng"/>
              <a:t>best to expose</a:t>
            </a:r>
            <a:r>
              <a:rPr lang="en-US" i="1"/>
              <a:t> just the attribute name, </a:t>
            </a:r>
            <a:r>
              <a:rPr lang="en-US" i="1" u="sng"/>
              <a:t>without</a:t>
            </a:r>
            <a:r>
              <a:rPr lang="en-US" i="1"/>
              <a:t> complicated </a:t>
            </a:r>
            <a:r>
              <a:rPr lang="en-US" i="1" u="sng"/>
              <a:t>accessor/mutator</a:t>
            </a:r>
            <a:r>
              <a:rPr lang="en-US" i="1"/>
              <a:t> methods. Keep in mind that Python provides an easy path to future enhancement, should you find that a simple data attribute needs to </a:t>
            </a:r>
            <a:r>
              <a:rPr lang="en-US" i="1" u="sng"/>
              <a:t>grow functional behavior</a:t>
            </a:r>
            <a:r>
              <a:rPr lang="en-US" i="1"/>
              <a:t>. In that case, use properties to hide functional implementation </a:t>
            </a:r>
            <a:r>
              <a:rPr lang="en-US" i="1" u="sng"/>
              <a:t>behind simple data attribute access syntax</a:t>
            </a:r>
            <a:r>
              <a:rPr lang="en-US" i="1"/>
              <a:t>. </a:t>
            </a:r>
            <a:r>
              <a:rPr lang="en-US"/>
              <a:t>(</a:t>
            </a:r>
            <a:r>
              <a:rPr lang="en-US">
                <a:hlinkClick r:id="rId2"/>
              </a:rPr>
              <a:t>Fonte</a:t>
            </a:r>
            <a:r>
              <a:rPr lang="en-US"/>
              <a:t>)</a:t>
            </a: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BD0E44-8656-3F02-C27F-E7DE60C9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Getters, Setters e </a:t>
            </a:r>
            <a:r>
              <a:rPr lang="en-US" i="1"/>
              <a:t>Properties</a:t>
            </a:r>
            <a:r>
              <a:rPr lang="en-US"/>
              <a:t>: conclusão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085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B83996-F8B2-BD44-D8DD-D98A91101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Abstração (</a:t>
            </a:r>
            <a:r>
              <a:rPr lang="en-US" i="1"/>
              <a:t>abstraction</a:t>
            </a:r>
            <a:r>
              <a:rPr lang="en-US"/>
              <a:t>)</a:t>
            </a:r>
          </a:p>
          <a:p>
            <a:r>
              <a:rPr lang="en-US" i="1"/>
              <a:t>Data Hiding</a:t>
            </a:r>
          </a:p>
          <a:p>
            <a:r>
              <a:rPr lang="en-US"/>
              <a:t>Encapsulamento (</a:t>
            </a:r>
            <a:r>
              <a:rPr lang="en-US" i="1"/>
              <a:t>encapsulation</a:t>
            </a:r>
            <a:r>
              <a:rPr lang="en-US"/>
              <a:t>)</a:t>
            </a:r>
          </a:p>
          <a:p>
            <a:r>
              <a:rPr lang="en-US"/>
              <a:t>Polimorfismo (</a:t>
            </a:r>
            <a:r>
              <a:rPr lang="en-US" i="1"/>
              <a:t>polymorphism</a:t>
            </a:r>
            <a:r>
              <a:rPr lang="en-US"/>
              <a:t>): aula futura</a:t>
            </a:r>
          </a:p>
          <a:p>
            <a:r>
              <a:rPr lang="en-US"/>
              <a:t>Herança (</a:t>
            </a:r>
            <a:r>
              <a:rPr lang="en-US" i="1"/>
              <a:t>Inheritance</a:t>
            </a:r>
            <a:r>
              <a:rPr lang="en-US"/>
              <a:t>): aula futura</a:t>
            </a:r>
          </a:p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EC083A-2B79-354B-E5F9-5292717FA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Princípios de OOP</a:t>
            </a:r>
            <a:endParaRPr lang="pt-B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0B3B5B-0EE4-8505-740D-49F2D52A9BFA}"/>
              </a:ext>
            </a:extLst>
          </p:cNvPr>
          <p:cNvSpPr/>
          <p:nvPr/>
        </p:nvSpPr>
        <p:spPr>
          <a:xfrm>
            <a:off x="1013283" y="3337796"/>
            <a:ext cx="5653127" cy="52251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92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D5C71C-7EC8-4866-A9CB-A9C945D6D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Criar um contâiner/cápsula de informação</a:t>
            </a:r>
          </a:p>
          <a:p>
            <a:r>
              <a:rPr lang="en-US"/>
              <a:t>Obtido de diversos modos:</a:t>
            </a:r>
          </a:p>
          <a:p>
            <a:pPr lvl="1"/>
            <a:r>
              <a:rPr lang="en-US"/>
              <a:t>Funções</a:t>
            </a:r>
          </a:p>
          <a:p>
            <a:pPr lvl="1"/>
            <a:r>
              <a:rPr lang="en-US"/>
              <a:t>Classes</a:t>
            </a:r>
          </a:p>
          <a:p>
            <a:pPr lvl="1"/>
            <a:r>
              <a:rPr lang="en-US"/>
              <a:t>Listas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/>
              <a:t>)</a:t>
            </a:r>
          </a:p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6A2F09-1900-9DE1-C761-D7E9E05B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Princípios de OOP (Encapsulamento)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742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6CA248-1017-B870-0361-DA2AAD466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Observações</a:t>
            </a:r>
          </a:p>
          <a:p>
            <a:pPr lvl="1"/>
            <a:r>
              <a:rPr lang="en-US"/>
              <a:t>Note que funções, classes e listas de fato criam uma cápsula envolvendo as informações.</a:t>
            </a:r>
          </a:p>
          <a:p>
            <a:pPr lvl="1"/>
            <a:r>
              <a:rPr lang="en-US"/>
              <a:t>Encapsulamento não necessariamente implica </a:t>
            </a:r>
            <a:r>
              <a:rPr lang="en-US" i="1"/>
              <a:t>data hiding</a:t>
            </a:r>
            <a:r>
              <a:rPr lang="en-US"/>
              <a:t>. Por exemplo, a informação em uma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/>
              <a:t> está encapsulada, porém não “escondida”.</a:t>
            </a:r>
          </a:p>
          <a:p>
            <a:pPr lvl="1"/>
            <a:r>
              <a:rPr lang="en-US"/>
              <a:t>Encapsulamento é anterior a OOP, embora seja um de seus princípios. Exemplo disso é que o encapsulamento pode ser obtido a partir de funções, que são anteriores a OOP.</a:t>
            </a:r>
          </a:p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F267B5-958C-062D-0CFD-B95A6F872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Princípios de OOP (Encapsulamento)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8538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C1E49F-878E-D76D-A044-5DD06EA87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Os atributos que vimos até então são conhecidos como </a:t>
            </a:r>
            <a:r>
              <a:rPr lang="en-US" i="1"/>
              <a:t>instance variables </a:t>
            </a:r>
            <a:r>
              <a:rPr lang="en-US"/>
              <a:t>e eles são específicos de cada objeto</a:t>
            </a:r>
          </a:p>
          <a:p>
            <a:pPr lvl="1"/>
            <a:r>
              <a:rPr lang="en-US"/>
              <a:t>No nosso exemplo do supermercado, note que cada objeto do tipo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en-US"/>
              <a:t> tem seu próprio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/>
              <a:t> 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1640F3-2895-D80D-B16F-7FA03911F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Class Variable</a:t>
            </a:r>
            <a:endParaRPr lang="pt-BR" i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08F3D9-8A55-8338-AA67-C72CFD2A0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124356"/>
              </p:ext>
            </p:extLst>
          </p:nvPr>
        </p:nvGraphicFramePr>
        <p:xfrm>
          <a:off x="109585" y="3811456"/>
          <a:ext cx="11972829" cy="1279776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27977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</a:p>
                    <a:p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033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C1E49F-878E-D76D-A044-5DD06EA87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Entretanto, também existem atributos que estão asociados à classe e não aos seus objetos.</a:t>
            </a:r>
          </a:p>
          <a:p>
            <a:pPr lvl="1"/>
            <a:r>
              <a:rPr lang="en-US"/>
              <a:t>Eles devem ser declarados no corpo da classe e não nos métodos da classe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1640F3-2895-D80D-B16F-7FA03911F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Class Variable</a:t>
            </a:r>
            <a:endParaRPr lang="pt-BR" i="1"/>
          </a:p>
        </p:txBody>
      </p:sp>
    </p:spTree>
    <p:extLst>
      <p:ext uri="{BB962C8B-B14F-4D97-AF65-F5344CB8AC3E}">
        <p14:creationId xmlns:p14="http://schemas.microsoft.com/office/powerpoint/2010/main" val="323948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946882-29BF-A8AC-0788-8575F329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603C1C-3E45-6FC0-C60C-783526D37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548240"/>
              </p:ext>
            </p:extLst>
          </p:nvPr>
        </p:nvGraphicFramePr>
        <p:xfrm>
          <a:off x="109585" y="1383469"/>
          <a:ext cx="11972829" cy="4994355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499435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0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Exemplo da documentação do Python (adaptado)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20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https://docs.python.org/3/tutorial/classes.html</a:t>
                      </a:r>
                      <a:endParaRPr lang="pt-BR" sz="20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Dog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genus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'canis'</a:t>
                      </a:r>
                      <a:endParaRPr lang="pt-BR" sz="20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</a:p>
                    <a:p>
                      <a:endParaRPr lang="pt-BR" sz="20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Dog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'Fido’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Dog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'Buddy’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genus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Output: 'canis'</a:t>
                      </a:r>
                    </a:p>
                    <a:p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genus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Output: 'canis'</a:t>
                      </a:r>
                      <a:endParaRPr lang="pt-BR" sz="20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Output: 'Fido'</a:t>
                      </a:r>
                      <a:endParaRPr lang="pt-BR" sz="20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Output: 'Buddy'</a:t>
                      </a:r>
                      <a:endParaRPr lang="pt-BR" sz="20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C3866B9-DB4B-F36C-9388-515321D9E4F2}"/>
              </a:ext>
            </a:extLst>
          </p:cNvPr>
          <p:cNvSpPr/>
          <p:nvPr/>
        </p:nvSpPr>
        <p:spPr>
          <a:xfrm>
            <a:off x="1187893" y="2280952"/>
            <a:ext cx="875252" cy="370349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0088565-EA35-17DC-8841-294420DBA35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063145" y="2466127"/>
            <a:ext cx="3534795" cy="128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069199D-C461-80BF-67C3-E663C0C1DD7A}"/>
              </a:ext>
            </a:extLst>
          </p:cNvPr>
          <p:cNvSpPr txBox="1"/>
          <p:nvPr/>
        </p:nvSpPr>
        <p:spPr>
          <a:xfrm>
            <a:off x="5597940" y="2112183"/>
            <a:ext cx="4791231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Class variable</a:t>
            </a:r>
            <a:r>
              <a:rPr lang="en-US" sz="2000"/>
              <a:t>. Compartilhada por todos os objetos da classe.</a:t>
            </a:r>
            <a:endParaRPr lang="en-US" sz="2000"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5354AD-8FEB-C7BE-F1F2-A5E6731FB6DE}"/>
              </a:ext>
            </a:extLst>
          </p:cNvPr>
          <p:cNvSpPr/>
          <p:nvPr/>
        </p:nvSpPr>
        <p:spPr>
          <a:xfrm>
            <a:off x="1802829" y="3194842"/>
            <a:ext cx="1445818" cy="370349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E2144D-5BA8-FBBB-D8E6-97D7893D40C7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248647" y="3380017"/>
            <a:ext cx="2964229" cy="128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BE25A21-B88E-8EA0-6E46-725F19F0BE2A}"/>
              </a:ext>
            </a:extLst>
          </p:cNvPr>
          <p:cNvSpPr txBox="1"/>
          <p:nvPr/>
        </p:nvSpPr>
        <p:spPr>
          <a:xfrm>
            <a:off x="6212876" y="3026073"/>
            <a:ext cx="3698485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Instance variable</a:t>
            </a:r>
            <a:r>
              <a:rPr lang="en-US" sz="2000"/>
              <a:t>. Específica de cada objeto.</a:t>
            </a:r>
            <a:endParaRPr lang="en-US" sz="2000"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163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1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12849B-3B0D-79D4-3F7C-B8EBCB2B8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 método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__init__</a:t>
            </a:r>
            <a:r>
              <a:rPr lang="en-US"/>
              <a:t> inicializa o objeto, porém não cria. Por isso, há polêmicas em torno do método ser um construtor ou não.</a:t>
            </a:r>
          </a:p>
          <a:p>
            <a:pPr lvl="1"/>
            <a:r>
              <a:rPr lang="en-US"/>
              <a:t>Ele não poderia ser um construtor porque ele recebe o objeto…</a:t>
            </a:r>
          </a:p>
          <a:p>
            <a:pPr lvl="1"/>
            <a:r>
              <a:rPr lang="en-US"/>
              <a:t>Porém, em C++, Java, etc. o construtor também recebe o objeto.</a:t>
            </a:r>
          </a:p>
          <a:p>
            <a:r>
              <a:rPr lang="en-US"/>
              <a:t>Talvez o problema seja a terminologia, o termo construtor</a:t>
            </a:r>
          </a:p>
          <a:p>
            <a:r>
              <a:rPr lang="en-US"/>
              <a:t>O fato é que a criação do objeto acontece no método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__new__</a:t>
            </a:r>
            <a:r>
              <a:rPr lang="en-US"/>
              <a:t> que é automaticamente chamado.</a:t>
            </a: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CF7C02-273A-3433-F57F-169887DD4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Comentários Finais: __init__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796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CF7C02-273A-3433-F57F-169887DD4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Comentários Finais: __init__</a:t>
            </a:r>
            <a:endParaRPr lang="pt-B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934639-998B-5A2B-CBF6-A6DB826D0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737958"/>
              </p:ext>
            </p:extLst>
          </p:nvPr>
        </p:nvGraphicFramePr>
        <p:xfrm>
          <a:off x="109585" y="3328983"/>
          <a:ext cx="11972829" cy="3462389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46238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Foo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__new__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*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args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**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kwargs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"Dentro do método __new__ customizado"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instance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__new__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instance</a:t>
                      </a:r>
                    </a:p>
                    <a:p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attribute1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"Dentro do método __init__"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attribute1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attribute1</a:t>
                      </a:r>
                    </a:p>
                    <a:p>
                      <a:endParaRPr lang="pt-BR" sz="20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obj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Foo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'foo'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endParaRPr lang="pt-BR" sz="20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5D009A0A-F917-84B5-F7E5-3881D6268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2"/>
            <a:ext cx="10972800" cy="1604028"/>
          </a:xfrm>
        </p:spPr>
        <p:txBody>
          <a:bodyPr/>
          <a:lstStyle/>
          <a:p>
            <a:r>
              <a:rPr lang="en-US"/>
              <a:t>Debugando o código seguinte é possível perceber que o método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__new__ </a:t>
            </a:r>
            <a:r>
              <a:rPr lang="en-US"/>
              <a:t>é o primeiro a ser chamado. Na sequência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__init__ </a:t>
            </a:r>
            <a:r>
              <a:rPr lang="en-US"/>
              <a:t>é chamado e já recebe o objeto construído.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3697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Padrão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a Padrão" id="{5B42EFA3-33EE-47DD-A488-DB78A38E859A}" vid="{2CFE1DDC-F190-4E49-9E1E-3C869FC37C8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Padrão</Template>
  <TotalTime>11963</TotalTime>
  <Words>2956</Words>
  <Application>Microsoft Office PowerPoint</Application>
  <PresentationFormat>Widescreen</PresentationFormat>
  <Paragraphs>590</Paragraphs>
  <Slides>32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Courier New</vt:lpstr>
      <vt:lpstr>Garamond</vt:lpstr>
      <vt:lpstr>Wingdings</vt:lpstr>
      <vt:lpstr>Tema Padrão</vt:lpstr>
      <vt:lpstr>04 – Orientação a Objetos (I – Introdução –  Parte 2)  </vt:lpstr>
      <vt:lpstr>Interface e Implementação</vt:lpstr>
      <vt:lpstr>Interface e Implementação</vt:lpstr>
      <vt:lpstr>Interface e Implementação</vt:lpstr>
      <vt:lpstr>Princípios de OOP</vt:lpstr>
      <vt:lpstr>Princípios de OOP (Data Hiding)</vt:lpstr>
      <vt:lpstr>Princípios de OOP (Data Hiding)</vt:lpstr>
      <vt:lpstr>Princípios de OOP (Data Hiding)</vt:lpstr>
      <vt:lpstr>Princípios de OOP (Data Hiding)</vt:lpstr>
      <vt:lpstr>Princípios de OOP (Data Hiding)</vt:lpstr>
      <vt:lpstr>Princípios de OOP (Data Hiding)</vt:lpstr>
      <vt:lpstr>Setters e Getters Tradicionais</vt:lpstr>
      <vt:lpstr>Setters e Getters Tradicionais</vt:lpstr>
      <vt:lpstr>Expor publicamente o atributo</vt:lpstr>
      <vt:lpstr>Expor publicamente o atributo</vt:lpstr>
      <vt:lpstr>Expor publicamente o atributo</vt:lpstr>
      <vt:lpstr>Expor publicamente o atributo</vt:lpstr>
      <vt:lpstr>Properties</vt:lpstr>
      <vt:lpstr>Properties</vt:lpstr>
      <vt:lpstr>Properties</vt:lpstr>
      <vt:lpstr>Properties</vt:lpstr>
      <vt:lpstr>Properties</vt:lpstr>
      <vt:lpstr>Getters e Setters Tradicionais e Properties: recomendações</vt:lpstr>
      <vt:lpstr>Getters, Setters e Properties: conclusão</vt:lpstr>
      <vt:lpstr>Princípios de OOP</vt:lpstr>
      <vt:lpstr>Princípios de OOP (Encapsulamento)</vt:lpstr>
      <vt:lpstr>Princípios de OOP (Encapsulamento)</vt:lpstr>
      <vt:lpstr>Class Variable</vt:lpstr>
      <vt:lpstr>Class Variable</vt:lpstr>
      <vt:lpstr>Exemplo 3</vt:lpstr>
      <vt:lpstr>Comentários Finais: __init__</vt:lpstr>
      <vt:lpstr>Comentários Finais: __init__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Aprendizagem por Reforço</dc:title>
  <dc:creator>Usuario</dc:creator>
  <cp:lastModifiedBy>Thiago José Barbosa da Rocha</cp:lastModifiedBy>
  <cp:revision>703</cp:revision>
  <dcterms:created xsi:type="dcterms:W3CDTF">2017-06-20T21:36:17Z</dcterms:created>
  <dcterms:modified xsi:type="dcterms:W3CDTF">2024-08-30T17:13:26Z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8c0edb5-d8bf-4cc6-9afc-2081a723b718_Enabled">
    <vt:lpwstr>true</vt:lpwstr>
  </property>
  <property fmtid="{D5CDD505-2E9C-101B-9397-08002B2CF9AE}" pid="3" name="MSIP_Label_d8c0edb5-d8bf-4cc6-9afc-2081a723b718_SetDate">
    <vt:lpwstr>2024-08-28T17:21:55Z</vt:lpwstr>
  </property>
  <property fmtid="{D5CDD505-2E9C-101B-9397-08002B2CF9AE}" pid="4" name="MSIP_Label_d8c0edb5-d8bf-4cc6-9afc-2081a723b718_Method">
    <vt:lpwstr>Standard</vt:lpwstr>
  </property>
  <property fmtid="{D5CDD505-2E9C-101B-9397-08002B2CF9AE}" pid="5" name="MSIP_Label_d8c0edb5-d8bf-4cc6-9afc-2081a723b718_Name">
    <vt:lpwstr>Interno</vt:lpwstr>
  </property>
  <property fmtid="{D5CDD505-2E9C-101B-9397-08002B2CF9AE}" pid="6" name="MSIP_Label_d8c0edb5-d8bf-4cc6-9afc-2081a723b718_SiteId">
    <vt:lpwstr>9cfc026b-d98b-4248-8ee2-09e38f7309c7</vt:lpwstr>
  </property>
  <property fmtid="{D5CDD505-2E9C-101B-9397-08002B2CF9AE}" pid="7" name="MSIP_Label_d8c0edb5-d8bf-4cc6-9afc-2081a723b718_ActionId">
    <vt:lpwstr>2ebcc2fa-9e1c-4e9c-9f85-3e50ea337536</vt:lpwstr>
  </property>
  <property fmtid="{D5CDD505-2E9C-101B-9397-08002B2CF9AE}" pid="8" name="MSIP_Label_d8c0edb5-d8bf-4cc6-9afc-2081a723b718_ContentBits">
    <vt:lpwstr>2</vt:lpwstr>
  </property>
  <property fmtid="{D5CDD505-2E9C-101B-9397-08002B2CF9AE}" pid="9" name="ClassificationContentMarkingFooterLocations">
    <vt:lpwstr>Tema Padrão:3</vt:lpwstr>
  </property>
  <property fmtid="{D5CDD505-2E9C-101B-9397-08002B2CF9AE}" pid="10" name="ClassificationContentMarkingFooterText">
    <vt:lpwstr>Classificação da informação: Interno</vt:lpwstr>
  </property>
</Properties>
</file>