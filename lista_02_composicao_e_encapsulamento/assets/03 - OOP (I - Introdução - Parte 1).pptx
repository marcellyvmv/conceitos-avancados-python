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316" r:id="rId3"/>
    <p:sldId id="317" r:id="rId4"/>
    <p:sldId id="381" r:id="rId5"/>
    <p:sldId id="382" r:id="rId6"/>
    <p:sldId id="383" r:id="rId7"/>
    <p:sldId id="337" r:id="rId8"/>
    <p:sldId id="284" r:id="rId9"/>
    <p:sldId id="283" r:id="rId10"/>
    <p:sldId id="261" r:id="rId11"/>
    <p:sldId id="262" r:id="rId12"/>
    <p:sldId id="274" r:id="rId13"/>
    <p:sldId id="350" r:id="rId14"/>
    <p:sldId id="354" r:id="rId15"/>
    <p:sldId id="351" r:id="rId16"/>
    <p:sldId id="352" r:id="rId17"/>
    <p:sldId id="353" r:id="rId18"/>
    <p:sldId id="355" r:id="rId19"/>
    <p:sldId id="356" r:id="rId20"/>
    <p:sldId id="357" r:id="rId21"/>
    <p:sldId id="358" r:id="rId22"/>
    <p:sldId id="359" r:id="rId23"/>
    <p:sldId id="384" r:id="rId24"/>
    <p:sldId id="360" r:id="rId25"/>
    <p:sldId id="361" r:id="rId26"/>
    <p:sldId id="266" r:id="rId27"/>
    <p:sldId id="362" r:id="rId28"/>
    <p:sldId id="374" r:id="rId29"/>
    <p:sldId id="373" r:id="rId30"/>
    <p:sldId id="375" r:id="rId31"/>
    <p:sldId id="376" r:id="rId32"/>
    <p:sldId id="377" r:id="rId33"/>
    <p:sldId id="378" r:id="rId34"/>
    <p:sldId id="379" r:id="rId35"/>
    <p:sldId id="380" r:id="rId36"/>
    <p:sldId id="364" r:id="rId37"/>
    <p:sldId id="365" r:id="rId38"/>
    <p:sldId id="321" r:id="rId39"/>
    <p:sldId id="323" r:id="rId40"/>
    <p:sldId id="324" r:id="rId41"/>
    <p:sldId id="298" r:id="rId42"/>
    <p:sldId id="392" r:id="rId43"/>
    <p:sldId id="299" r:id="rId44"/>
    <p:sldId id="300" r:id="rId45"/>
    <p:sldId id="325" r:id="rId46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3852" autoAdjust="0"/>
  </p:normalViewPr>
  <p:slideViewPr>
    <p:cSldViewPr snapToGrid="0">
      <p:cViewPr varScale="1">
        <p:scale>
          <a:sx n="119" d="100"/>
          <a:sy n="119" d="100"/>
        </p:scale>
        <p:origin x="1282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23/08/2024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873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896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722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21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8148AED-315F-E91B-3B6C-3A82C89E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DC9D92-526D-7715-5FA4-71A403A4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427D14DF-83DE-F719-FBAD-88FFC9730F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6EAA96D-8897-9CF0-B996-15DEBA29D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3272354-4A89-A704-CDAF-30F2735FA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03 – Orientação a Objetos (I – Introdução)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77F703-B8F2-90F4-EF3E-6DF11620E2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Programação Orientada a Objetos (</a:t>
            </a:r>
            <a:r>
              <a:rPr lang="pt-BR"/>
              <a:t>Object-oriented programming – OOP) </a:t>
            </a:r>
          </a:p>
          <a:p>
            <a:pPr lvl="1" algn="l"/>
            <a:r>
              <a:rPr lang="en-US"/>
              <a:t>Inverte o paradigma</a:t>
            </a:r>
          </a:p>
          <a:p>
            <a:pPr lvl="2"/>
            <a:r>
              <a:rPr lang="en-US"/>
              <a:t>Foco nos dados</a:t>
            </a:r>
          </a:p>
          <a:p>
            <a:pPr lvl="2"/>
            <a:r>
              <a:rPr lang="en-US"/>
              <a:t>Funções e algoritmos são modeladas em cima dos dados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0872FE-556E-8D52-CD0F-C6CEB81A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(Introdução)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70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A016C-E75B-E73C-00CA-10BE9AA7D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é um modelo baseado no conceito de classes</a:t>
            </a:r>
          </a:p>
          <a:p>
            <a:r>
              <a:rPr lang="en-US"/>
              <a:t>Estrutura genérica de uma classe</a:t>
            </a:r>
            <a:endParaRPr lang="pt-BR"/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0C2F4-7ECD-68D0-EE48-67E0140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(Introdução)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9ECA46-7FD7-1820-0507-A4E333B18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619353"/>
              </p:ext>
            </p:extLst>
          </p:nvPr>
        </p:nvGraphicFramePr>
        <p:xfrm>
          <a:off x="1758722" y="3528847"/>
          <a:ext cx="2459465" cy="761185"/>
        </p:xfrm>
        <a:graphic>
          <a:graphicData uri="http://schemas.openxmlformats.org/drawingml/2006/table">
            <a:tbl>
              <a:tblPr firstRow="1" firstCol="1" bandRow="1"/>
              <a:tblGrid>
                <a:gridCol w="2459465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7611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 MyClass: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Código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B3269A-862F-B3E8-B29D-9E139C0228F8}"/>
              </a:ext>
            </a:extLst>
          </p:cNvPr>
          <p:cNvSpPr/>
          <p:nvPr/>
        </p:nvSpPr>
        <p:spPr>
          <a:xfrm>
            <a:off x="1758722" y="3478396"/>
            <a:ext cx="920148" cy="381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4E298-3AED-9A81-5F07-D6253A27F8C2}"/>
              </a:ext>
            </a:extLst>
          </p:cNvPr>
          <p:cNvSpPr txBox="1"/>
          <p:nvPr/>
        </p:nvSpPr>
        <p:spPr>
          <a:xfrm>
            <a:off x="5642628" y="3335237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Palavra Chave (</a:t>
            </a:r>
            <a:r>
              <a:rPr lang="en-US" sz="2000" i="1"/>
              <a:t>keyword</a:t>
            </a:r>
            <a:r>
              <a:rPr lang="en-US" sz="2000"/>
              <a:t>) indicando que a estrutura é uma classe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E0991F-6561-A58F-ACA4-6BCF05A99C09}"/>
              </a:ext>
            </a:extLst>
          </p:cNvPr>
          <p:cNvCxnSpPr>
            <a:cxnSpLocks/>
          </p:cNvCxnSpPr>
          <p:nvPr/>
        </p:nvCxnSpPr>
        <p:spPr>
          <a:xfrm>
            <a:off x="2678870" y="3689180"/>
            <a:ext cx="29637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7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A016C-E75B-E73C-00CA-10BE9AA7D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é um modelo baseado no conceito de classes</a:t>
            </a:r>
          </a:p>
          <a:p>
            <a:r>
              <a:rPr lang="en-US"/>
              <a:t>Estrutura genérica de uma classe</a:t>
            </a:r>
            <a:endParaRPr lang="pt-BR"/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0C2F4-7ECD-68D0-EE48-67E0140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(Introdução)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9ECA46-7FD7-1820-0507-A4E333B18A10}"/>
              </a:ext>
            </a:extLst>
          </p:cNvPr>
          <p:cNvGraphicFramePr>
            <a:graphicFrameLocks noGrp="1"/>
          </p:cNvGraphicFramePr>
          <p:nvPr/>
        </p:nvGraphicFramePr>
        <p:xfrm>
          <a:off x="1758722" y="3528847"/>
          <a:ext cx="2459465" cy="761185"/>
        </p:xfrm>
        <a:graphic>
          <a:graphicData uri="http://schemas.openxmlformats.org/drawingml/2006/table">
            <a:tbl>
              <a:tblPr firstRow="1" firstCol="1" bandRow="1"/>
              <a:tblGrid>
                <a:gridCol w="2459465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7611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 MyClass: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Código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B3269A-862F-B3E8-B29D-9E139C0228F8}"/>
              </a:ext>
            </a:extLst>
          </p:cNvPr>
          <p:cNvSpPr/>
          <p:nvPr/>
        </p:nvSpPr>
        <p:spPr>
          <a:xfrm>
            <a:off x="2686717" y="3498488"/>
            <a:ext cx="1163871" cy="381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E0991F-6561-A58F-ACA4-6BCF05A99C09}"/>
              </a:ext>
            </a:extLst>
          </p:cNvPr>
          <p:cNvCxnSpPr>
            <a:cxnSpLocks/>
          </p:cNvCxnSpPr>
          <p:nvPr/>
        </p:nvCxnSpPr>
        <p:spPr>
          <a:xfrm>
            <a:off x="3850588" y="3716750"/>
            <a:ext cx="17920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BF44F2F-338B-5599-BF53-855683B57F43}"/>
              </a:ext>
            </a:extLst>
          </p:cNvPr>
          <p:cNvSpPr txBox="1"/>
          <p:nvPr/>
        </p:nvSpPr>
        <p:spPr>
          <a:xfrm>
            <a:off x="5691134" y="3516695"/>
            <a:ext cx="4418319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É o nome escolhido para a classe</a:t>
            </a:r>
          </a:p>
        </p:txBody>
      </p:sp>
    </p:spTree>
    <p:extLst>
      <p:ext uri="{BB962C8B-B14F-4D97-AF65-F5344CB8AC3E}">
        <p14:creationId xmlns:p14="http://schemas.microsoft.com/office/powerpoint/2010/main" val="290700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A016C-E75B-E73C-00CA-10BE9AA7D16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5307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é um modelo baseado no conceito de classes</a:t>
            </a:r>
          </a:p>
          <a:p>
            <a:r>
              <a:rPr lang="en-US"/>
              <a:t>Estrutura genérica de uma classe</a:t>
            </a:r>
            <a:endParaRPr lang="pt-BR"/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0C2F4-7ECD-68D0-EE48-67E0140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OOP (Introdução)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9ECA46-7FD7-1820-0507-A4E333B18A10}"/>
              </a:ext>
            </a:extLst>
          </p:cNvPr>
          <p:cNvGraphicFramePr>
            <a:graphicFrameLocks noGrp="1"/>
          </p:cNvGraphicFramePr>
          <p:nvPr/>
        </p:nvGraphicFramePr>
        <p:xfrm>
          <a:off x="1758722" y="3528847"/>
          <a:ext cx="2459465" cy="761185"/>
        </p:xfrm>
        <a:graphic>
          <a:graphicData uri="http://schemas.openxmlformats.org/drawingml/2006/table">
            <a:tbl>
              <a:tblPr firstRow="1" firstCol="1" bandRow="1"/>
              <a:tblGrid>
                <a:gridCol w="2459465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7611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 MyClass: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Código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6B3269A-862F-B3E8-B29D-9E139C0228F8}"/>
              </a:ext>
            </a:extLst>
          </p:cNvPr>
          <p:cNvSpPr/>
          <p:nvPr/>
        </p:nvSpPr>
        <p:spPr>
          <a:xfrm>
            <a:off x="2369663" y="3838516"/>
            <a:ext cx="1163871" cy="38138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E0991F-6561-A58F-ACA4-6BCF05A99C09}"/>
              </a:ext>
            </a:extLst>
          </p:cNvPr>
          <p:cNvCxnSpPr>
            <a:cxnSpLocks/>
          </p:cNvCxnSpPr>
          <p:nvPr/>
        </p:nvCxnSpPr>
        <p:spPr>
          <a:xfrm>
            <a:off x="3533534" y="4029207"/>
            <a:ext cx="17920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344971-495F-5DB3-820C-49E2D21FD9F6}"/>
              </a:ext>
            </a:extLst>
          </p:cNvPr>
          <p:cNvSpPr txBox="1"/>
          <p:nvPr/>
        </p:nvSpPr>
        <p:spPr>
          <a:xfrm>
            <a:off x="5325574" y="3675264"/>
            <a:ext cx="2931593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Código da classe (ou corpo/</a:t>
            </a:r>
            <a:r>
              <a:rPr lang="en-US" sz="2000" i="1"/>
              <a:t>body</a:t>
            </a:r>
            <a:r>
              <a:rPr lang="en-US" sz="20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869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5DB622-FFAE-A7B6-1C72-6DB33323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Nomeando Classes (segundo a PEP 8 )</a:t>
            </a:r>
          </a:p>
          <a:p>
            <a:pPr lvl="1"/>
            <a:r>
              <a:rPr lang="en-US"/>
              <a:t>Estilo </a:t>
            </a:r>
            <a:r>
              <a:rPr lang="en-US" i="1"/>
              <a:t>CamelCase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F99DE7-7B9D-EE39-171D-61028850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OOP (Introdução)</a:t>
            </a:r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220E9-352A-7409-FE6E-2A4F923C0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72" y="2879052"/>
            <a:ext cx="5249855" cy="149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2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DE7516-A9F2-6307-9F69-4D8588386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/>
              <a:t>Escreva um programa, seguindo a filosofia procedural, que calcule o valor total de uma compra de supermercado:</a:t>
            </a:r>
          </a:p>
          <a:p>
            <a:pPr lvl="1"/>
            <a:r>
              <a:rPr lang="pt-BR" noProof="0"/>
              <a:t>Cada produto deve ter nome e preço associados.</a:t>
            </a:r>
          </a:p>
          <a:p>
            <a:pPr lvl="1"/>
            <a:r>
              <a:rPr lang="pt-BR" noProof="0"/>
              <a:t>Os produtos são inseridos pelo usuário. Por simplificação, considere que são exatamente 3 produtos.</a:t>
            </a:r>
          </a:p>
          <a:p>
            <a:pPr lvl="1"/>
            <a:r>
              <a:rPr lang="pt-BR" noProof="0"/>
              <a:t>É possível que seja aplicado um desconto ao valor final da compra (também inserido pelo usuário).</a:t>
            </a:r>
          </a:p>
          <a:p>
            <a:pPr lvl="1"/>
            <a:r>
              <a:rPr lang="pt-BR" noProof="0"/>
              <a:t>O programa deve escrever a lista de produtos.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54F534-E6DE-13A8-718D-98C6B45A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/>
              <a:t>Recordando (Exemplo Aula Anterior)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65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4051-5C52-C656-6EEA-48468111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 noProof="0"/>
              <a:t>Recordando (Exemplo Aula Anterior)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F0AE-FA43-E7F2-BA1B-8250CF6FC7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endParaRPr lang="pt-BR" noProof="0" dirty="0"/>
          </a:p>
          <a:p>
            <a:r>
              <a:rPr lang="pt-BR" noProof="0" dirty="0"/>
              <a:t>Função 1: pede que o usuário insira os produtos e adiciona cada item ao carrinho de compras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add_items</a:t>
            </a:r>
          </a:p>
          <a:p>
            <a:r>
              <a:rPr lang="pt-BR" noProof="0" dirty="0"/>
              <a:t>Função 2: calcula o preço final da compra</a:t>
            </a:r>
          </a:p>
          <a:p>
            <a:pPr lvl="1"/>
            <a:r>
              <a:rPr lang="pt-BR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calculate_total_price</a:t>
            </a:r>
          </a:p>
          <a:p>
            <a:pPr lvl="1"/>
            <a:endParaRPr lang="pt-BR" i="1" noProof="0" dirty="0"/>
          </a:p>
          <a:p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66E77-0111-0EC5-CC30-650453974D43}"/>
              </a:ext>
            </a:extLst>
          </p:cNvPr>
          <p:cNvSpPr txBox="1"/>
          <p:nvPr/>
        </p:nvSpPr>
        <p:spPr>
          <a:xfrm>
            <a:off x="3557923" y="109224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1º Passo: </a:t>
            </a:r>
            <a:r>
              <a:rPr lang="en-US" sz="2000" dirty="0" err="1"/>
              <a:t>definir</a:t>
            </a:r>
            <a:r>
              <a:rPr lang="en-US" sz="2000"/>
              <a:t> as funções e algoritmos</a:t>
            </a:r>
          </a:p>
        </p:txBody>
      </p:sp>
    </p:spTree>
    <p:extLst>
      <p:ext uri="{BB962C8B-B14F-4D97-AF65-F5344CB8AC3E}">
        <p14:creationId xmlns:p14="http://schemas.microsoft.com/office/powerpoint/2010/main" val="18621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1918-8F3C-D7DA-4900-4A0ACE1E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 noProof="0"/>
              <a:t>Recordando (Exemplo Aula Anterior)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1B13-50CB-6813-5177-5907CD2FE5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endParaRPr lang="pt-BR" noProof="0" dirty="0"/>
          </a:p>
          <a:p>
            <a:r>
              <a:rPr lang="pt-BR" noProof="0" dirty="0"/>
              <a:t>Função 3: Escreve os itens no carrinho</a:t>
            </a:r>
          </a:p>
          <a:p>
            <a:pPr lvl="1"/>
            <a:r>
              <a:rPr lang="pt-BR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list_items</a:t>
            </a:r>
            <a:endParaRPr lang="pt-BR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noProof="0" dirty="0"/>
              <a:t>Função 4: lógica principal do programa. Chama as outras funções </a:t>
            </a:r>
            <a:r>
              <a:rPr lang="pt-BR" noProof="0"/>
              <a:t>e faz as interações </a:t>
            </a:r>
            <a:r>
              <a:rPr lang="pt-BR" noProof="0" dirty="0"/>
              <a:t>com </a:t>
            </a:r>
            <a:r>
              <a:rPr lang="pt-BR" noProof="0"/>
              <a:t>o usuário que não estiverem em outras funções.</a:t>
            </a:r>
            <a:endParaRPr lang="pt-BR" noProof="0" dirty="0"/>
          </a:p>
          <a:p>
            <a:pPr lvl="1"/>
            <a:r>
              <a:rPr lang="pt-BR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pt-BR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EC496-86EF-B3E1-646C-839F5AED8A01}"/>
              </a:ext>
            </a:extLst>
          </p:cNvPr>
          <p:cNvSpPr txBox="1"/>
          <p:nvPr/>
        </p:nvSpPr>
        <p:spPr>
          <a:xfrm>
            <a:off x="3557923" y="109224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1º Passo: definir as funções e algoritmos</a:t>
            </a:r>
          </a:p>
        </p:txBody>
      </p:sp>
    </p:spTree>
    <p:extLst>
      <p:ext uri="{BB962C8B-B14F-4D97-AF65-F5344CB8AC3E}">
        <p14:creationId xmlns:p14="http://schemas.microsoft.com/office/powerpoint/2010/main" val="292956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7067-E2EB-BA77-677D-FDA2D355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 noProof="0"/>
              <a:t>Recordando (Exemplo Aula Anterior)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17AEC-8E96-B0D3-E3A6-978E91217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295401"/>
            <a:ext cx="10972800" cy="4986646"/>
          </a:xfrm>
          <a:prstGeom prst="rect">
            <a:avLst/>
          </a:prstGeom>
        </p:spPr>
        <p:txBody>
          <a:bodyPr/>
          <a:lstStyle/>
          <a:p>
            <a:r>
              <a:rPr lang="pt-BR" noProof="0" dirty="0"/>
              <a:t>Algoritmo para a função </a:t>
            </a:r>
            <a:r>
              <a:rPr lang="pt-BR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add_items</a:t>
            </a:r>
            <a:r>
              <a:rPr lang="pt-BR" noProof="0" dirty="0"/>
              <a:t>:</a:t>
            </a:r>
          </a:p>
          <a:p>
            <a:pPr lvl="1"/>
            <a:r>
              <a:rPr lang="pt-BR" noProof="0" dirty="0"/>
              <a:t>3 iterações:</a:t>
            </a:r>
          </a:p>
          <a:p>
            <a:pPr lvl="2"/>
            <a:r>
              <a:rPr lang="pt-BR" noProof="0" dirty="0"/>
              <a:t>Pede que o usuário insira o nome e o preço do produto</a:t>
            </a:r>
          </a:p>
          <a:p>
            <a:pPr lvl="2"/>
            <a:r>
              <a:rPr lang="pt-BR" noProof="0"/>
              <a:t>Guarda o produto </a:t>
            </a:r>
            <a:r>
              <a:rPr lang="pt-BR" noProof="0" dirty="0"/>
              <a:t>no carrinho</a:t>
            </a:r>
          </a:p>
          <a:p>
            <a:r>
              <a:rPr lang="pt-BR" noProof="0" dirty="0"/>
              <a:t>Algoritmo para a função </a:t>
            </a:r>
            <a:r>
              <a:rPr lang="pt-BR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calculate_total_price</a:t>
            </a:r>
            <a:r>
              <a:rPr lang="pt-BR" noProof="0" dirty="0"/>
              <a:t>:</a:t>
            </a:r>
          </a:p>
          <a:p>
            <a:pPr lvl="1"/>
            <a:r>
              <a:rPr lang="pt-BR" noProof="0" dirty="0"/>
              <a:t>Percorre todos os itens do carrinho e acumula o valor</a:t>
            </a:r>
          </a:p>
          <a:p>
            <a:pPr lvl="1"/>
            <a:r>
              <a:rPr lang="pt-BR" noProof="0" dirty="0"/>
              <a:t>Aplica o desconto no valor total</a:t>
            </a:r>
          </a:p>
          <a:p>
            <a:pPr lvl="1"/>
            <a:r>
              <a:rPr lang="pt-BR" noProof="0" dirty="0"/>
              <a:t>Retorna o valor calculado</a:t>
            </a:r>
            <a:endParaRPr lang="pt-BR" i="1" noProof="0" dirty="0"/>
          </a:p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2348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246B-6BB3-8904-8B71-4AFC27AF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 noProof="0"/>
              <a:t>Recordando (Exemplo Aula Anterior)</a:t>
            </a:r>
            <a:endParaRPr lang="pt-B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AA5A6-5B61-31C2-4B94-9F151BDA0F3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endParaRPr lang="pt-BR" noProof="0" dirty="0"/>
          </a:p>
          <a:p>
            <a:r>
              <a:rPr lang="pt-BR" noProof="0"/>
              <a:t>Modelamos o produto como um </a:t>
            </a:r>
            <a:r>
              <a:rPr lang="pt-BR" u="sng" noProof="0" dirty="0"/>
              <a:t>dicionário</a:t>
            </a:r>
            <a:r>
              <a:rPr lang="pt-BR" noProof="0" dirty="0"/>
              <a:t> (</a:t>
            </a:r>
            <a:r>
              <a:rPr lang="pt-BR" noProof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pt-BR" noProof="0"/>
              <a:t>):</a:t>
            </a:r>
          </a:p>
          <a:p>
            <a:endParaRPr lang="pt-BR"/>
          </a:p>
          <a:p>
            <a:r>
              <a:rPr lang="pt-BR" noProof="0"/>
              <a:t>Modelamos o carrinho de supermercado como uma lista (</a:t>
            </a:r>
            <a:r>
              <a:rPr lang="pt-BR" noProof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pt-BR" noProof="0"/>
              <a:t>)</a:t>
            </a:r>
          </a:p>
          <a:p>
            <a:pPr lvl="1"/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0B1B9-8301-4E05-8086-7267A7F10AC2}"/>
              </a:ext>
            </a:extLst>
          </p:cNvPr>
          <p:cNvSpPr txBox="1"/>
          <p:nvPr/>
        </p:nvSpPr>
        <p:spPr>
          <a:xfrm>
            <a:off x="3557923" y="1295401"/>
            <a:ext cx="441831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2º Passo: definir a estrutura de dados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D4F09A-0BCF-20AD-4BFC-B9110FACE31E}"/>
              </a:ext>
            </a:extLst>
          </p:cNvPr>
          <p:cNvGraphicFramePr>
            <a:graphicFrameLocks noGrp="1"/>
          </p:cNvGraphicFramePr>
          <p:nvPr/>
        </p:nvGraphicFramePr>
        <p:xfrm>
          <a:off x="1106717" y="3429000"/>
          <a:ext cx="10335023" cy="653570"/>
        </p:xfrm>
        <a:graphic>
          <a:graphicData uri="http://schemas.openxmlformats.org/drawingml/2006/table">
            <a:tbl>
              <a:tblPr firstRow="1" firstCol="1" bandRow="1"/>
              <a:tblGrid>
                <a:gridCol w="55238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78263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5357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24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7B8FF7-8576-6EDA-0BBF-5F1FF226B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829501"/>
              </p:ext>
            </p:extLst>
          </p:nvPr>
        </p:nvGraphicFramePr>
        <p:xfrm>
          <a:off x="1106716" y="5702510"/>
          <a:ext cx="10335023" cy="653570"/>
        </p:xfrm>
        <a:graphic>
          <a:graphicData uri="http://schemas.openxmlformats.org/drawingml/2006/table">
            <a:tbl>
              <a:tblPr firstRow="1" firstCol="1" bandRow="1"/>
              <a:tblGrid>
                <a:gridCol w="55238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78263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5357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pt-BR" sz="22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2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4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4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24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14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503D-832A-DE2E-A73C-4A91F7DA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7C01AE-B953-C2FE-7EE2-5F7EDD7CA1F7}"/>
              </a:ext>
            </a:extLst>
          </p:cNvPr>
          <p:cNvGraphicFramePr>
            <a:graphicFrameLocks noGrp="1"/>
          </p:cNvGraphicFramePr>
          <p:nvPr/>
        </p:nvGraphicFramePr>
        <p:xfrm>
          <a:off x="72708" y="1022671"/>
          <a:ext cx="11972829" cy="5835329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83532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nome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f"Entre com o preco do item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"name"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"price"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shopping_cart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f"Item: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'name'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Price: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'price'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4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67CD4D-122B-D9EA-EE6B-A8E83B67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482187"/>
          </a:xfrm>
        </p:spPr>
        <p:txBody>
          <a:bodyPr/>
          <a:lstStyle/>
          <a:p>
            <a:r>
              <a:rPr lang="en-US"/>
              <a:t>Vamos primeiramente em identificar quais serão nossas classes. Focamos em encontrar os objetos do problema, representados por substantivos. A representação genérica (molde) desses objetos constituem nossas classes:</a:t>
            </a:r>
          </a:p>
          <a:p>
            <a:pPr lvl="1"/>
            <a:r>
              <a:rPr lang="en-US"/>
              <a:t>Item</a:t>
            </a:r>
          </a:p>
          <a:p>
            <a:pPr lvl="1"/>
            <a:r>
              <a:rPr lang="en-US"/>
              <a:t>Carrinho de supermercado</a:t>
            </a:r>
          </a:p>
          <a:p>
            <a:r>
              <a:rPr lang="en-US"/>
              <a:t>Como veremos depois, usaremos as classes para criar (instanciar) os objetos específicos. Por exemplo, nosso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item1</a:t>
            </a:r>
            <a:r>
              <a:rPr lang="en-US"/>
              <a:t> pode ser arroz custando $6.00.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812716-31BF-FA54-3CC2-13BA2CB8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16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989040"/>
              </p:ext>
            </p:extLst>
          </p:nvPr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f"Item: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Price: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512E1ED-4946-F671-806F-0C5941DA1884}"/>
              </a:ext>
            </a:extLst>
          </p:cNvPr>
          <p:cNvSpPr/>
          <p:nvPr/>
        </p:nvSpPr>
        <p:spPr>
          <a:xfrm>
            <a:off x="1075224" y="2756985"/>
            <a:ext cx="9410509" cy="79033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783F3-AEBE-056B-2425-44A388AFE5E6}"/>
              </a:ext>
            </a:extLst>
          </p:cNvPr>
          <p:cNvSpPr/>
          <p:nvPr/>
        </p:nvSpPr>
        <p:spPr>
          <a:xfrm>
            <a:off x="787829" y="1291954"/>
            <a:ext cx="9410509" cy="96417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A65CA-FAEB-5CBA-CCF8-5CD6B0BFC5B9}"/>
              </a:ext>
            </a:extLst>
          </p:cNvPr>
          <p:cNvSpPr/>
          <p:nvPr/>
        </p:nvSpPr>
        <p:spPr>
          <a:xfrm>
            <a:off x="1181674" y="3653004"/>
            <a:ext cx="9410509" cy="32049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937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EC4A07-48F7-FC9B-E731-1E3FFF718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nossa classe vai ter funções, que são conhecidas como métodos. Eles são definidos iguais às funções que vimos até então.</a:t>
            </a:r>
          </a:p>
          <a:p>
            <a:r>
              <a:rPr lang="en-US"/>
              <a:t>O primeiro método que vamos implementar na classe é chamado de </a:t>
            </a:r>
            <a:r>
              <a:rPr lang="en-US" i="1">
                <a:cs typeface="Courier New" panose="02070309020205020404" pitchFamily="49" charset="0"/>
              </a:rPr>
              <a:t>instance initializer (dunder init)</a:t>
            </a:r>
            <a:r>
              <a:rPr lang="en-US"/>
              <a:t>. 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4376C-E17D-CECC-ABFF-838FD557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81EBE0-7687-96E4-1219-FA2B37B63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61515"/>
              </p:ext>
            </p:extLst>
          </p:nvPr>
        </p:nvGraphicFramePr>
        <p:xfrm>
          <a:off x="150246" y="4899736"/>
          <a:ext cx="11972829" cy="132572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32572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parameter2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...):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attribute1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parameter1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attribute2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parameter2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...</a:t>
                      </a:r>
                      <a:endParaRPr lang="en-US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48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F27308-E932-1D88-E665-2DE5E472D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066" y="1010894"/>
            <a:ext cx="10972800" cy="5693174"/>
          </a:xfrm>
        </p:spPr>
        <p:txBody>
          <a:bodyPr/>
          <a:lstStyle/>
          <a:p>
            <a:endParaRPr lang="en-US"/>
          </a:p>
          <a:p>
            <a:endParaRPr lang="pt-BR"/>
          </a:p>
          <a:p>
            <a:r>
              <a:rPr lang="pt-BR" sz="260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pt-BR" sz="2600"/>
              <a:t> é a própria classe e ele é o único obrigatório.</a:t>
            </a:r>
          </a:p>
          <a:p>
            <a:r>
              <a:rPr lang="pt-BR" sz="2600"/>
              <a:t>Os atributos são os dados da classe</a:t>
            </a:r>
          </a:p>
          <a:p>
            <a:r>
              <a:rPr lang="pt-BR" sz="2600">
                <a:latin typeface="Courier New" panose="02070309020205020404" pitchFamily="49" charset="0"/>
                <a:cs typeface="Courier New" panose="02070309020205020404" pitchFamily="49" charset="0"/>
              </a:rPr>
              <a:t>__init__ </a:t>
            </a:r>
            <a:r>
              <a:rPr lang="pt-BR" sz="2600"/>
              <a:t>é dos chamados métodos especiais </a:t>
            </a:r>
            <a:r>
              <a:rPr lang="en-US" sz="2600"/>
              <a:t>(</a:t>
            </a:r>
            <a:r>
              <a:rPr lang="en-US" sz="2600" i="1"/>
              <a:t>special, magic or dunder methods</a:t>
            </a:r>
            <a:r>
              <a:rPr lang="en-US" sz="2600"/>
              <a:t>) </a:t>
            </a:r>
            <a:r>
              <a:rPr lang="pt-BR" sz="2600"/>
              <a:t>do Python. Eles são invocados automaticamente, embora a gente possa fazer a chamada explícita.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04B82-CD73-D0DD-9F6F-E27512F2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9D5046-A2AA-473F-9B4F-C128B5298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580"/>
              </p:ext>
            </p:extLst>
          </p:nvPr>
        </p:nvGraphicFramePr>
        <p:xfrm>
          <a:off x="109585" y="1295401"/>
          <a:ext cx="11972829" cy="1325726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32572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parameter2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...):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attribute1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parameter1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attribute2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parameter2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...</a:t>
                      </a:r>
                      <a:endParaRPr lang="en-US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9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60D05A-DDB3-E3C5-EEC7-AA6A7F350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Quais são os atributos do nosso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/>
              <a:t>?</a:t>
            </a:r>
          </a:p>
          <a:p>
            <a:pPr lvl="1"/>
            <a:r>
              <a:rPr lang="en-US"/>
              <a:t>Nome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/>
              <a:t>)</a:t>
            </a:r>
          </a:p>
          <a:p>
            <a:pPr lvl="1"/>
            <a:r>
              <a:rPr lang="en-US"/>
              <a:t>Preço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/>
              <a:t>)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6F068-9FA8-4696-29C7-8E649010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5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85124"/>
              </p:ext>
            </p:extLst>
          </p:nvPr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AF783F3-AEBE-056B-2425-44A388AFE5E6}"/>
              </a:ext>
            </a:extLst>
          </p:cNvPr>
          <p:cNvSpPr/>
          <p:nvPr/>
        </p:nvSpPr>
        <p:spPr>
          <a:xfrm>
            <a:off x="787829" y="1291954"/>
            <a:ext cx="9410509" cy="96417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A886B7-EBEA-7B0F-3C0F-29DEFE0EEBFE}"/>
              </a:ext>
            </a:extLst>
          </p:cNvPr>
          <p:cNvSpPr/>
          <p:nvPr/>
        </p:nvSpPr>
        <p:spPr>
          <a:xfrm>
            <a:off x="1075224" y="2756985"/>
            <a:ext cx="9410509" cy="79033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74E07-A153-BF02-6F4F-9A698D20481F}"/>
              </a:ext>
            </a:extLst>
          </p:cNvPr>
          <p:cNvSpPr/>
          <p:nvPr/>
        </p:nvSpPr>
        <p:spPr>
          <a:xfrm>
            <a:off x="1149509" y="3616245"/>
            <a:ext cx="9410509" cy="32049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77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60D05A-DDB3-E3C5-EEC7-AA6A7F350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Quais são os dados do nosso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ShoppingCart</a:t>
            </a:r>
            <a:r>
              <a:rPr lang="en-US"/>
              <a:t>?</a:t>
            </a:r>
          </a:p>
          <a:p>
            <a:pPr lvl="1"/>
            <a:r>
              <a:rPr lang="en-US"/>
              <a:t>Lista de itens(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list[Item]</a:t>
            </a:r>
            <a:r>
              <a:rPr lang="en-US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6F068-9FA8-4696-29C7-8E649010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41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598"/>
              </p:ext>
            </p:extLst>
          </p:nvPr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9C1CB4D-2819-2D21-064E-E332515F9A33}"/>
              </a:ext>
            </a:extLst>
          </p:cNvPr>
          <p:cNvSpPr/>
          <p:nvPr/>
        </p:nvSpPr>
        <p:spPr>
          <a:xfrm>
            <a:off x="1075224" y="2756985"/>
            <a:ext cx="9410509" cy="79033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ADBBF4-091A-1B61-2ACB-AEC6DDFFF4BF}"/>
              </a:ext>
            </a:extLst>
          </p:cNvPr>
          <p:cNvSpPr/>
          <p:nvPr/>
        </p:nvSpPr>
        <p:spPr>
          <a:xfrm>
            <a:off x="1149509" y="3616245"/>
            <a:ext cx="9410509" cy="32049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33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218485-92D7-BD00-E8D9-24BA1C80A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Agora precisamos interagir com o nosso carrinho de supermercado de modo que a gente possa adicionar itens nele, calcular o preço total de todos os itens dele, etc.</a:t>
            </a:r>
          </a:p>
          <a:p>
            <a:r>
              <a:rPr lang="en-US"/>
              <a:t>Dessa forma, agora implementamos os métodos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ShoppingCart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4EC5D9-DE43-5921-B25A-CE3AF611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60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55606"/>
              </p:ext>
            </p:extLst>
          </p:nvPr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41AAF85-710B-DEFA-02D1-5CB992361F2E}"/>
              </a:ext>
            </a:extLst>
          </p:cNvPr>
          <p:cNvSpPr/>
          <p:nvPr/>
        </p:nvSpPr>
        <p:spPr>
          <a:xfrm>
            <a:off x="1149509" y="3616245"/>
            <a:ext cx="9410509" cy="320499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5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4BCC65-B8EE-AFEB-127A-D14F479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40CF-227A-B21E-63AF-8FA50E0855C2}"/>
              </a:ext>
            </a:extLst>
          </p:cNvPr>
          <p:cNvGraphicFramePr>
            <a:graphicFrameLocks noGrp="1"/>
          </p:cNvGraphicFramePr>
          <p:nvPr/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ShoppingCart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*=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total_price</a:t>
                      </a:r>
                    </a:p>
                    <a:p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 </a:t>
                      </a:r>
                      <a:r>
                        <a:rPr lang="pt-BR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f“Produto: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Preco: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8259E75-CADF-5C4E-B54D-A0776D630FDD}"/>
              </a:ext>
            </a:extLst>
          </p:cNvPr>
          <p:cNvSpPr/>
          <p:nvPr/>
        </p:nvSpPr>
        <p:spPr>
          <a:xfrm>
            <a:off x="4429035" y="4738819"/>
            <a:ext cx="4788486" cy="37538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83ED12-49D2-0FE9-ECA7-B2BC44548E9F}"/>
              </a:ext>
            </a:extLst>
          </p:cNvPr>
          <p:cNvCxnSpPr>
            <a:cxnSpLocks/>
          </p:cNvCxnSpPr>
          <p:nvPr/>
        </p:nvCxnSpPr>
        <p:spPr>
          <a:xfrm flipV="1">
            <a:off x="7063243" y="3347130"/>
            <a:ext cx="0" cy="13916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488C95-E69D-0C60-6AEF-3B7E404BBD20}"/>
              </a:ext>
            </a:extLst>
          </p:cNvPr>
          <p:cNvSpPr txBox="1"/>
          <p:nvPr/>
        </p:nvSpPr>
        <p:spPr>
          <a:xfrm>
            <a:off x="5530819" y="2947020"/>
            <a:ext cx="3064847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Generator expression</a:t>
            </a:r>
          </a:p>
        </p:txBody>
      </p:sp>
    </p:spTree>
    <p:extLst>
      <p:ext uri="{BB962C8B-B14F-4D97-AF65-F5344CB8AC3E}">
        <p14:creationId xmlns:p14="http://schemas.microsoft.com/office/powerpoint/2010/main" val="14401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3C1808-5DC0-A1AE-BB86-A54D135DC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Próximos passos:</a:t>
            </a:r>
          </a:p>
          <a:p>
            <a:pPr lvl="1"/>
            <a:r>
              <a:rPr lang="en-US"/>
              <a:t>Criar os objetos, que são as instâncias das classes</a:t>
            </a:r>
          </a:p>
          <a:p>
            <a:pPr lvl="1"/>
            <a:r>
              <a:rPr lang="en-US"/>
              <a:t>Escrever a interação com o usuário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2F-B00F-34C3-87D3-8EC47EF36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50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0A62EE-3253-1885-1EFD-497F3FD1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(Aula anterior em OOP)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64D206-4601-10ED-4A05-14F61A9F6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998772"/>
              </p:ext>
            </p:extLst>
          </p:nvPr>
        </p:nvGraphicFramePr>
        <p:xfrm>
          <a:off x="164725" y="1030040"/>
          <a:ext cx="11972829" cy="579120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6834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9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9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():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ShoppingCart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en-US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for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en-US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Entre com o nome do item 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"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price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Entre com o preco do item 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{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}: $"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Item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price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cart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add_item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item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cart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list_items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discount_rate 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"\nEntre com a porcentagem de"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               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 desconto (0, se nenhum): 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pt-BR" sz="19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total_price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cart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calculate_total_price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9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9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print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f"\nO valor total apos desconto de 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discount_rate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}%"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 foi de: ${</a:t>
                      </a:r>
                      <a:r>
                        <a:rPr lang="pt-BR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total_price</a:t>
                      </a:r>
                      <a:r>
                        <a:rPr lang="pt-BR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en-US" sz="1900" b="1">
                        <a:solidFill>
                          <a:srgbClr val="0000FF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9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en-US" sz="19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9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en-US" sz="19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endParaRPr lang="en-US" sz="19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71DCB98-1863-949B-F782-AB1087D9A346}"/>
              </a:ext>
            </a:extLst>
          </p:cNvPr>
          <p:cNvSpPr/>
          <p:nvPr/>
        </p:nvSpPr>
        <p:spPr>
          <a:xfrm>
            <a:off x="787829" y="1852943"/>
            <a:ext cx="9936842" cy="164957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7A65B-8EE5-E198-8907-CCD72E14C90B}"/>
              </a:ext>
            </a:extLst>
          </p:cNvPr>
          <p:cNvSpPr/>
          <p:nvPr/>
        </p:nvSpPr>
        <p:spPr>
          <a:xfrm>
            <a:off x="986178" y="1369494"/>
            <a:ext cx="9410509" cy="30767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688CE-8A52-0700-FDFD-DD7CBA4E5665}"/>
              </a:ext>
            </a:extLst>
          </p:cNvPr>
          <p:cNvSpPr/>
          <p:nvPr/>
        </p:nvSpPr>
        <p:spPr>
          <a:xfrm>
            <a:off x="1198312" y="3617968"/>
            <a:ext cx="9410509" cy="30767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1FC36-EB5A-299C-2693-C8E2BA4CD887}"/>
              </a:ext>
            </a:extLst>
          </p:cNvPr>
          <p:cNvSpPr/>
          <p:nvPr/>
        </p:nvSpPr>
        <p:spPr>
          <a:xfrm>
            <a:off x="894279" y="3945895"/>
            <a:ext cx="9410509" cy="203676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21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38EA-1764-A558-D92E-252A06F0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Exemplo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B12EF-0AE6-1D81-49E3-37485717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noProof="0" dirty="0"/>
              <a:t>Testando o código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7F799-5BC2-C05A-1ECD-7F30707B9B0B}"/>
              </a:ext>
            </a:extLst>
          </p:cNvPr>
          <p:cNvGraphicFramePr>
            <a:graphicFrameLocks noGrp="1"/>
          </p:cNvGraphicFramePr>
          <p:nvPr/>
        </p:nvGraphicFramePr>
        <p:xfrm>
          <a:off x="2121725" y="2076835"/>
          <a:ext cx="8566067" cy="4331882"/>
        </p:xfrm>
        <a:graphic>
          <a:graphicData uri="http://schemas.openxmlformats.org/drawingml/2006/table">
            <a:tbl>
              <a:tblPr firstRow="1" firstCol="1" bandRow="1"/>
              <a:tblGrid>
                <a:gridCol w="8566067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433188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1: Banana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1: $8.90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2: Arroz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2: $7.50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nome do item 3: Detergente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o preco do item 3: $2.00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Banana, Preco: $8.90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Arroz, Preco: $7.50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Produto: Detergente, Preco: $2.00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 com a porcentagem de desconto (0, se nenhum): 10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 valor total apos desconto de 10.0% foi de: $16.56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40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A5D2A-BA45-3EDF-7D63-014F98190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098581"/>
          </a:xfrm>
        </p:spPr>
        <p:txBody>
          <a:bodyPr/>
          <a:lstStyle/>
          <a:p>
            <a:r>
              <a:rPr lang="pt-BR"/>
              <a:t>Crie um sistema de biblioteca simples, contendo duas classes:</a:t>
            </a:r>
          </a:p>
          <a:p>
            <a:pPr lvl="1"/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</a:p>
          <a:p>
            <a:pPr lvl="2"/>
            <a:r>
              <a:rPr lang="pt-BR"/>
              <a:t>Atributos</a:t>
            </a:r>
          </a:p>
          <a:p>
            <a:pPr lvl="3"/>
            <a:r>
              <a:rPr lang="pt-BR"/>
              <a:t>title (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/>
              <a:t>)</a:t>
            </a:r>
          </a:p>
          <a:p>
            <a:pPr lvl="3"/>
            <a:r>
              <a:rPr lang="pt-BR"/>
              <a:t>author (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/>
              <a:t>)</a:t>
            </a:r>
          </a:p>
          <a:p>
            <a:pPr lvl="3"/>
            <a:r>
              <a:rPr lang="pt-BR"/>
              <a:t>isbn (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/>
              <a:t>)</a:t>
            </a:r>
          </a:p>
          <a:p>
            <a:pPr lvl="2"/>
            <a:r>
              <a:rPr lang="pt-BR">
                <a:cs typeface="Courier New" panose="02070309020205020404" pitchFamily="49" charset="0"/>
              </a:rPr>
              <a:t>Métodos</a:t>
            </a:r>
          </a:p>
          <a:p>
            <a:pPr lvl="3"/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__str__</a:t>
            </a:r>
            <a:r>
              <a:rPr lang="pt-BR">
                <a:cs typeface="Courier New" panose="02070309020205020404" pitchFamily="49" charset="0"/>
              </a:rPr>
              <a:t>: retorna representação</a:t>
            </a:r>
          </a:p>
          <a:p>
            <a:pPr marL="1023937" lvl="3" indent="0">
              <a:buNone/>
            </a:pPr>
            <a:r>
              <a:rPr lang="pt-BR">
                <a:cs typeface="Courier New" panose="02070309020205020404" pitchFamily="49" charset="0"/>
              </a:rPr>
              <a:t>                      do livro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4487" lvl="1" indent="0">
              <a:buNone/>
            </a:pP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9B22EA-501A-AF0E-ED12-AC58565C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779D9CAF-C74B-3E0A-1FCB-C59E4D5A238B}"/>
              </a:ext>
            </a:extLst>
          </p:cNvPr>
          <p:cNvSpPr txBox="1">
            <a:spLocks/>
          </p:cNvSpPr>
          <p:nvPr/>
        </p:nvSpPr>
        <p:spPr bwMode="auto">
          <a:xfrm>
            <a:off x="6274229" y="2536809"/>
            <a:ext cx="5386077" cy="4714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ts val="42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/>
            <a:r>
              <a:rPr lang="pt-BR" kern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</a:p>
          <a:p>
            <a:pPr lvl="2"/>
            <a:r>
              <a:rPr kumimoji="0" lang="pt-BR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Atributos</a:t>
            </a:r>
          </a:p>
          <a:p>
            <a:pPr marL="1339850" marR="0" lvl="3" indent="-315913" algn="just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3B812F"/>
              </a:buClr>
              <a:buSzPct val="120000"/>
              <a:buFont typeface="Arial" panose="020B0604020202020204" pitchFamily="34" charset="0"/>
              <a:buChar char="-"/>
              <a:tabLst/>
              <a:defRPr/>
            </a:pPr>
            <a:r>
              <a:rPr kumimoji="0" lang="pt-B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books (</a:t>
            </a:r>
            <a:r>
              <a:rPr kumimoji="0" lang="pt-B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list[Book]</a:t>
            </a:r>
            <a:r>
              <a:rPr kumimoji="0" lang="pt-B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)</a:t>
            </a:r>
            <a:endParaRPr kumimoji="0" lang="pt-B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lvl="2"/>
            <a:r>
              <a:rPr lang="pt-BR" kern="0">
                <a:solidFill>
                  <a:srgbClr val="000000"/>
                </a:solidFill>
                <a:latin typeface="Arial"/>
              </a:rPr>
              <a:t>Métodos</a:t>
            </a:r>
          </a:p>
          <a:p>
            <a:pPr lvl="3"/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add_book (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)</a:t>
            </a:r>
          </a:p>
          <a:p>
            <a:pPr lvl="3"/>
            <a:r>
              <a:rPr lang="pt-BR" kern="0">
                <a:solidFill>
                  <a:srgbClr val="000000"/>
                </a:solidFill>
                <a:latin typeface="Arial"/>
              </a:rPr>
              <a:t>remove_book(isbn)</a:t>
            </a:r>
          </a:p>
          <a:p>
            <a:pPr lvl="3"/>
            <a:r>
              <a:rPr lang="pt-BR" kern="0">
                <a:solidFill>
                  <a:srgbClr val="000000"/>
                </a:solidFill>
                <a:latin typeface="Arial"/>
              </a:rPr>
              <a:t>f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</a:t>
            </a:r>
            <a:r>
              <a:rPr lang="pt-BR" kern="0">
                <a:solidFill>
                  <a:srgbClr val="000000"/>
                </a:solidFill>
                <a:latin typeface="Arial"/>
              </a:rPr>
              <a:t>nd_book_by_title(title)</a:t>
            </a:r>
          </a:p>
          <a:p>
            <a:pPr lvl="3"/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find_book_by_author(auth</a:t>
            </a:r>
            <a:r>
              <a:rPr lang="pt-BR" kern="0">
                <a:solidFill>
                  <a:srgbClr val="000000"/>
                </a:solidFill>
                <a:latin typeface="Arial"/>
              </a:rPr>
              <a:t>or)</a:t>
            </a:r>
            <a:endParaRPr kumimoji="0" lang="pt-BR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lvl="3"/>
            <a:endParaRPr lang="pt-BR" kern="0"/>
          </a:p>
          <a:p>
            <a:pPr lvl="2"/>
            <a:endParaRPr lang="pt-BR" kern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1F35D1-A30F-AB51-9B69-F8D72B89FF59}"/>
              </a:ext>
            </a:extLst>
          </p:cNvPr>
          <p:cNvCxnSpPr/>
          <p:nvPr/>
        </p:nvCxnSpPr>
        <p:spPr>
          <a:xfrm>
            <a:off x="6019417" y="2536426"/>
            <a:ext cx="0" cy="4098718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46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7C1986-36F4-383E-7BC9-F0392516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84E9EF-10AD-A587-46ED-4496D70BF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912652"/>
              </p:ext>
            </p:extLst>
          </p:nvPr>
        </p:nvGraphicFramePr>
        <p:xfrm>
          <a:off x="141750" y="1307195"/>
          <a:ext cx="11972829" cy="2236987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3698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author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__str__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 de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author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 (ISBN: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})"</a:t>
                      </a:r>
                      <a:endParaRPr lang="pt-BR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94429B7-3A72-84AA-B48C-3E27D9333236}"/>
              </a:ext>
            </a:extLst>
          </p:cNvPr>
          <p:cNvSpPr/>
          <p:nvPr/>
        </p:nvSpPr>
        <p:spPr>
          <a:xfrm>
            <a:off x="1144653" y="2810983"/>
            <a:ext cx="8928557" cy="69703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41F3F0-43E2-33F4-DDD1-A747A4CC1C0C}"/>
              </a:ext>
            </a:extLst>
          </p:cNvPr>
          <p:cNvCxnSpPr>
            <a:cxnSpLocks/>
          </p:cNvCxnSpPr>
          <p:nvPr/>
        </p:nvCxnSpPr>
        <p:spPr>
          <a:xfrm>
            <a:off x="5504779" y="3548777"/>
            <a:ext cx="0" cy="7643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E20C1C7-0C7F-493C-98D9-195977590C98}"/>
              </a:ext>
            </a:extLst>
          </p:cNvPr>
          <p:cNvSpPr txBox="1"/>
          <p:nvPr/>
        </p:nvSpPr>
        <p:spPr>
          <a:xfrm>
            <a:off x="2871858" y="4322735"/>
            <a:ext cx="5265842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Vimos anteriormente o Método Especial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__init__</a:t>
            </a:r>
            <a:r>
              <a:rPr lang="en-US" sz="2000"/>
              <a:t>.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__str__ </a:t>
            </a:r>
            <a:r>
              <a:rPr lang="en-US" sz="2000"/>
              <a:t>é outro exemplo de Método Especial.</a:t>
            </a:r>
          </a:p>
        </p:txBody>
      </p:sp>
    </p:spTree>
    <p:extLst>
      <p:ext uri="{BB962C8B-B14F-4D97-AF65-F5344CB8AC3E}">
        <p14:creationId xmlns:p14="http://schemas.microsoft.com/office/powerpoint/2010/main" val="282425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19884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89FD46-CE6F-425C-3CF6-15CF33E82BB7}"/>
              </a:ext>
            </a:extLst>
          </p:cNvPr>
          <p:cNvSpPr/>
          <p:nvPr/>
        </p:nvSpPr>
        <p:spPr>
          <a:xfrm>
            <a:off x="671631" y="3979824"/>
            <a:ext cx="10958250" cy="212287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D0CD2-36D7-D833-2767-7E8AD1A78CC6}"/>
              </a:ext>
            </a:extLst>
          </p:cNvPr>
          <p:cNvSpPr/>
          <p:nvPr/>
        </p:nvSpPr>
        <p:spPr>
          <a:xfrm>
            <a:off x="712986" y="2040169"/>
            <a:ext cx="10958250" cy="17334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ABE78-9D63-645D-6E87-C4A81A5CCF84}"/>
              </a:ext>
            </a:extLst>
          </p:cNvPr>
          <p:cNvSpPr/>
          <p:nvPr/>
        </p:nvSpPr>
        <p:spPr>
          <a:xfrm>
            <a:off x="712986" y="974135"/>
            <a:ext cx="10958250" cy="84260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3FD66-AE5E-7F39-A032-F46522673B12}"/>
              </a:ext>
            </a:extLst>
          </p:cNvPr>
          <p:cNvSpPr/>
          <p:nvPr/>
        </p:nvSpPr>
        <p:spPr>
          <a:xfrm>
            <a:off x="568243" y="103961"/>
            <a:ext cx="10958250" cy="84260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06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68178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89FD46-CE6F-425C-3CF6-15CF33E82BB7}"/>
              </a:ext>
            </a:extLst>
          </p:cNvPr>
          <p:cNvSpPr/>
          <p:nvPr/>
        </p:nvSpPr>
        <p:spPr>
          <a:xfrm>
            <a:off x="616875" y="3951681"/>
            <a:ext cx="10958250" cy="212287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D0CD2-36D7-D833-2767-7E8AD1A78CC6}"/>
              </a:ext>
            </a:extLst>
          </p:cNvPr>
          <p:cNvSpPr/>
          <p:nvPr/>
        </p:nvSpPr>
        <p:spPr>
          <a:xfrm>
            <a:off x="712986" y="2040169"/>
            <a:ext cx="10958250" cy="173345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ABE78-9D63-645D-6E87-C4A81A5CCF84}"/>
              </a:ext>
            </a:extLst>
          </p:cNvPr>
          <p:cNvSpPr/>
          <p:nvPr/>
        </p:nvSpPr>
        <p:spPr>
          <a:xfrm>
            <a:off x="712986" y="974135"/>
            <a:ext cx="10958250" cy="84260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17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99579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89FD46-CE6F-425C-3CF6-15CF33E82BB7}"/>
              </a:ext>
            </a:extLst>
          </p:cNvPr>
          <p:cNvSpPr/>
          <p:nvPr/>
        </p:nvSpPr>
        <p:spPr>
          <a:xfrm>
            <a:off x="905975" y="2030980"/>
            <a:ext cx="10958250" cy="181960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D0CD2-36D7-D833-2767-7E8AD1A78CC6}"/>
              </a:ext>
            </a:extLst>
          </p:cNvPr>
          <p:cNvSpPr/>
          <p:nvPr/>
        </p:nvSpPr>
        <p:spPr>
          <a:xfrm>
            <a:off x="990754" y="3919515"/>
            <a:ext cx="10958250" cy="196779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39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78291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89FD46-CE6F-425C-3CF6-15CF33E82BB7}"/>
              </a:ext>
            </a:extLst>
          </p:cNvPr>
          <p:cNvSpPr/>
          <p:nvPr/>
        </p:nvSpPr>
        <p:spPr>
          <a:xfrm>
            <a:off x="616875" y="3859779"/>
            <a:ext cx="10958250" cy="212287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04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18278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ED61A-5C76-BF58-2862-16C2A8B30FEB}"/>
              </a:ext>
            </a:extLst>
          </p:cNvPr>
          <p:cNvSpPr/>
          <p:nvPr/>
        </p:nvSpPr>
        <p:spPr>
          <a:xfrm>
            <a:off x="3969537" y="4164448"/>
            <a:ext cx="2748316" cy="3616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538FB-82DB-68B7-3FAF-B7DAFAF83A45}"/>
              </a:ext>
            </a:extLst>
          </p:cNvPr>
          <p:cNvSpPr/>
          <p:nvPr/>
        </p:nvSpPr>
        <p:spPr>
          <a:xfrm>
            <a:off x="6782425" y="4171465"/>
            <a:ext cx="4622301" cy="3616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86B1FD-165A-9F57-8863-7149B36D1C05}"/>
              </a:ext>
            </a:extLst>
          </p:cNvPr>
          <p:cNvSpPr/>
          <p:nvPr/>
        </p:nvSpPr>
        <p:spPr>
          <a:xfrm>
            <a:off x="3350747" y="4164448"/>
            <a:ext cx="554218" cy="3616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6A1898-F1AC-4AD1-2A01-73586DD7A463}"/>
              </a:ext>
            </a:extLst>
          </p:cNvPr>
          <p:cNvCxnSpPr>
            <a:cxnSpLocks/>
          </p:cNvCxnSpPr>
          <p:nvPr/>
        </p:nvCxnSpPr>
        <p:spPr>
          <a:xfrm>
            <a:off x="5183132" y="4526050"/>
            <a:ext cx="0" cy="69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F857C7-7D49-B72C-35D6-81CA55472395}"/>
              </a:ext>
            </a:extLst>
          </p:cNvPr>
          <p:cNvSpPr txBox="1"/>
          <p:nvPr/>
        </p:nvSpPr>
        <p:spPr>
          <a:xfrm>
            <a:off x="3832211" y="5207607"/>
            <a:ext cx="2885642" cy="58477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n-lt"/>
              </a:rPr>
              <a:t>Para cada livro da biblioteca (LB)…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821CE-EA96-1F52-BA45-ABA7A4C9DAF3}"/>
              </a:ext>
            </a:extLst>
          </p:cNvPr>
          <p:cNvSpPr txBox="1"/>
          <p:nvPr/>
        </p:nvSpPr>
        <p:spPr>
          <a:xfrm>
            <a:off x="7426307" y="2303534"/>
            <a:ext cx="3547199" cy="107721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n-lt"/>
              </a:rPr>
              <a:t>… se o título informado pelo usuário convertido para minúsculo for igual ao título de LB também em minúsculo…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EF492F-0F65-6660-993C-F89E85356088}"/>
              </a:ext>
            </a:extLst>
          </p:cNvPr>
          <p:cNvCxnSpPr>
            <a:cxnSpLocks/>
          </p:cNvCxnSpPr>
          <p:nvPr/>
        </p:nvCxnSpPr>
        <p:spPr>
          <a:xfrm flipV="1">
            <a:off x="9167742" y="3380752"/>
            <a:ext cx="0" cy="7880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E7BB97-F6B0-C2B6-CF17-D118A70461D2}"/>
              </a:ext>
            </a:extLst>
          </p:cNvPr>
          <p:cNvCxnSpPr>
            <a:cxnSpLocks/>
          </p:cNvCxnSpPr>
          <p:nvPr/>
        </p:nvCxnSpPr>
        <p:spPr>
          <a:xfrm flipV="1">
            <a:off x="3627856" y="3358231"/>
            <a:ext cx="0" cy="8062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C8A45C-FE2B-4A1C-6082-57EE854BEB67}"/>
              </a:ext>
            </a:extLst>
          </p:cNvPr>
          <p:cNvSpPr txBox="1"/>
          <p:nvPr/>
        </p:nvSpPr>
        <p:spPr>
          <a:xfrm>
            <a:off x="2297490" y="3022984"/>
            <a:ext cx="2885642" cy="338554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n-lt"/>
              </a:rPr>
              <a:t>… adicionamos LB na lista.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6C626-CB75-9FF9-AF27-4E53EBCBFC05}"/>
              </a:ext>
            </a:extLst>
          </p:cNvPr>
          <p:cNvSpPr txBox="1"/>
          <p:nvPr/>
        </p:nvSpPr>
        <p:spPr>
          <a:xfrm>
            <a:off x="6047368" y="1285890"/>
            <a:ext cx="5910978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n-lt"/>
              </a:rPr>
              <a:t>Estrutura geral de uma List Compreension:</a:t>
            </a:r>
          </a:p>
          <a:p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600" b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expression </a:t>
            </a:r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600" b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item </a:t>
            </a:r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600" b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iterable </a:t>
            </a:r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en-US" sz="1600" b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condition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</a:t>
            </a:r>
            <a:endParaRPr lang="en-US" sz="1600" b="1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8675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820765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f“Nenhum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C80C3-8111-208E-7E98-8DA29599F5BB}"/>
              </a:ext>
            </a:extLst>
          </p:cNvPr>
          <p:cNvSpPr/>
          <p:nvPr/>
        </p:nvSpPr>
        <p:spPr>
          <a:xfrm>
            <a:off x="3363523" y="4171465"/>
            <a:ext cx="8054990" cy="36160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EB801F-8EE4-C60E-F89A-ED2C1DDBE0E5}"/>
              </a:ext>
            </a:extLst>
          </p:cNvPr>
          <p:cNvCxnSpPr>
            <a:cxnSpLocks/>
          </p:cNvCxnSpPr>
          <p:nvPr/>
        </p:nvCxnSpPr>
        <p:spPr>
          <a:xfrm flipV="1">
            <a:off x="8832309" y="2777114"/>
            <a:ext cx="0" cy="13916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A8E5FA4-5F79-D527-40F8-730594FD4032}"/>
              </a:ext>
            </a:extLst>
          </p:cNvPr>
          <p:cNvSpPr txBox="1"/>
          <p:nvPr/>
        </p:nvSpPr>
        <p:spPr>
          <a:xfrm>
            <a:off x="5909140" y="1204792"/>
            <a:ext cx="5831020" cy="156966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found_books 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[]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book </a:t>
            </a:r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self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livros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search_title_lower 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title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lower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book_title_lower 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book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title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lower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()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if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book_title_lower 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search_title_lower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</a:t>
            </a:r>
          </a:p>
          <a:p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found_books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append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6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book</a:t>
            </a:r>
            <a:r>
              <a:rPr lang="en-US" sz="16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sz="160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738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ACB93D-82F7-46B1-5B24-525FC5D1DFB4}"/>
              </a:ext>
            </a:extLst>
          </p:cNvPr>
          <p:cNvSpPr/>
          <p:nvPr/>
        </p:nvSpPr>
        <p:spPr>
          <a:xfrm>
            <a:off x="423502" y="151635"/>
            <a:ext cx="11247734" cy="68924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E099B-F594-46F8-A785-FF236669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00908"/>
              </p:ext>
            </p:extLst>
          </p:nvPr>
        </p:nvGraphicFramePr>
        <p:xfrm>
          <a:off x="60954" y="55140"/>
          <a:ext cx="11972829" cy="6651225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6512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[]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adicionado: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6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isbn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f"Livro removido: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foi encontrado com ISBN: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isbn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found_books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books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== 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lower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"Livro encontrado:"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found_books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f"Nenhum livro encontrado com o título: {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title</a:t>
                      </a:r>
                      <a:r>
                        <a:rPr lang="pt-BR" sz="16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6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author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16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6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pass</a:t>
                      </a:r>
                      <a:r>
                        <a:rPr lang="pt-BR" sz="16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6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6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TODO</a:t>
                      </a:r>
                      <a:endParaRPr lang="pt-BR" sz="16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F339F4F-8F6A-8A89-86A8-6EDEB9C0C223}"/>
              </a:ext>
            </a:extLst>
          </p:cNvPr>
          <p:cNvSpPr/>
          <p:nvPr/>
        </p:nvSpPr>
        <p:spPr>
          <a:xfrm>
            <a:off x="712987" y="6046985"/>
            <a:ext cx="9410509" cy="5950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18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E85128-8925-3477-4BF6-F2E80D9A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84" y="153453"/>
            <a:ext cx="10972800" cy="749384"/>
          </a:xfrm>
        </p:spPr>
        <p:txBody>
          <a:bodyPr/>
          <a:lstStyle/>
          <a:p>
            <a:r>
              <a:rPr lang="en-US"/>
              <a:t>Exemplo 2	</a:t>
            </a:r>
            <a:endParaRPr lang="pt-B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DD8E67E-8401-D5E9-8A53-4F48591D0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048857"/>
              </p:ext>
            </p:extLst>
          </p:nvPr>
        </p:nvGraphicFramePr>
        <p:xfrm>
          <a:off x="169320" y="902837"/>
          <a:ext cx="11972829" cy="2236987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23698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library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"Harry Potter"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"J. K. Rowling"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"123456"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"Eu, Robo"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"Isaac Asimov"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"654321"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add_book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book2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"Harry Potter"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"123456"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remove_book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"8795"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library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find_book_by_title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"Harry Potter"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DE7A78-F5A8-0D22-2034-F23D3B0F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4826"/>
              </p:ext>
            </p:extLst>
          </p:nvPr>
        </p:nvGraphicFramePr>
        <p:xfrm>
          <a:off x="1657632" y="3232390"/>
          <a:ext cx="8566067" cy="3568174"/>
        </p:xfrm>
        <a:graphic>
          <a:graphicData uri="http://schemas.openxmlformats.org/drawingml/2006/table">
            <a:tbl>
              <a:tblPr firstRow="1" firstCol="1" bandRow="1"/>
              <a:tblGrid>
                <a:gridCol w="8566067">
                  <a:extLst>
                    <a:ext uri="{9D8B030D-6E8A-4147-A177-3AD203B41FA5}">
                      <a16:colId xmlns:a16="http://schemas.microsoft.com/office/drawing/2014/main" val="1269773458"/>
                    </a:ext>
                  </a:extLst>
                </a:gridCol>
              </a:tblGrid>
              <a:tr h="3568174">
                <a:tc>
                  <a:txBody>
                    <a:bodyPr/>
                    <a:lstStyle/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Livro adicionado: Harry Potter de J. K. Rowling (ISBN: 123456)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Livro adicionado: Eu, Robo de Isaac Asimov (ISBN: 654321)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Livro encontrado: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Harry Potter de J. K. Rowling (ISBN: 123456)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Livro removido: Harry Potter de J. K. Rowling (ISBN: 123456)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Nenhum livro foi encontrado com ISBN: 8795</a:t>
                      </a:r>
                    </a:p>
                    <a:p>
                      <a:r>
                        <a:rPr lang="pt-BR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Nenhum livro encontrado com o titulo: Harry Potter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9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21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6E4AD3-6C51-E516-2817-027C4AB43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 código completo se encontra na pasta “Arquivos”</a:t>
            </a:r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682FF5-79C9-2D52-6E2E-B4110E10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985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B83996-F8B2-BD44-D8DD-D98A91101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Abstração (A</a:t>
            </a:r>
            <a:r>
              <a:rPr lang="en-US" i="1"/>
              <a:t>bstraction</a:t>
            </a:r>
            <a:r>
              <a:rPr lang="en-US"/>
              <a:t>)</a:t>
            </a:r>
          </a:p>
          <a:p>
            <a:r>
              <a:rPr lang="en-US" i="1"/>
              <a:t>Data Hiding</a:t>
            </a:r>
          </a:p>
          <a:p>
            <a:r>
              <a:rPr lang="en-US"/>
              <a:t>Encapsulamento (</a:t>
            </a:r>
            <a:r>
              <a:rPr lang="en-US" i="1"/>
              <a:t>Encapsulation</a:t>
            </a:r>
            <a:r>
              <a:rPr lang="en-US"/>
              <a:t>)</a:t>
            </a:r>
          </a:p>
          <a:p>
            <a:r>
              <a:rPr lang="en-US"/>
              <a:t>Polimorfismo (</a:t>
            </a:r>
            <a:r>
              <a:rPr lang="en-US" i="1"/>
              <a:t>Polymorphism</a:t>
            </a:r>
            <a:r>
              <a:rPr lang="en-US"/>
              <a:t>): aula futura</a:t>
            </a:r>
          </a:p>
          <a:p>
            <a:r>
              <a:rPr lang="en-US"/>
              <a:t>Herança (</a:t>
            </a:r>
            <a:r>
              <a:rPr lang="en-US" i="1"/>
              <a:t>Inheritance</a:t>
            </a:r>
            <a:r>
              <a:rPr lang="en-US"/>
              <a:t>): aula futura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EC083A-2B79-354B-E5F9-5292717F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</a:t>
            </a:r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52C53-5B0C-9105-776C-03406149C10B}"/>
              </a:ext>
            </a:extLst>
          </p:cNvPr>
          <p:cNvSpPr/>
          <p:nvPr/>
        </p:nvSpPr>
        <p:spPr>
          <a:xfrm>
            <a:off x="982804" y="1370702"/>
            <a:ext cx="4085584" cy="5225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1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9AE86-7C3A-BC2A-273F-1358A0BA2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Abstração	</a:t>
            </a:r>
          </a:p>
          <a:p>
            <a:pPr lvl="1"/>
            <a:r>
              <a:rPr lang="pt-BR"/>
              <a:t>Processo de remover características específicas para focar apenas nos aspectos relevantes em determinado contexto</a:t>
            </a:r>
          </a:p>
          <a:p>
            <a:pPr lvl="1"/>
            <a:r>
              <a:rPr lang="en-US"/>
              <a:t>Objetivo é reduzir a complexidade omitindo dados desnecessários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ECA9F6-7A73-D7A0-EAE4-DBD71A7C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(Abstração)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00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9AE86-7C3A-BC2A-273F-1358A0BA2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5178919"/>
          </a:xfrm>
        </p:spPr>
        <p:txBody>
          <a:bodyPr/>
          <a:lstStyle/>
          <a:p>
            <a:r>
              <a:rPr lang="en-US"/>
              <a:t>Exemplo</a:t>
            </a:r>
          </a:p>
          <a:p>
            <a:pPr lvl="1"/>
            <a:r>
              <a:rPr lang="en-US"/>
              <a:t>Vamos modelar um funcionário de uma empresa. Quais dados são relevantes?</a:t>
            </a:r>
          </a:p>
          <a:p>
            <a:pPr lvl="2"/>
            <a:r>
              <a:rPr lang="en-US"/>
              <a:t>Nome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/>
              <a:t>)</a:t>
            </a:r>
          </a:p>
          <a:p>
            <a:pPr lvl="2"/>
            <a:r>
              <a:rPr lang="en-US"/>
              <a:t>Número de identificação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/>
              <a:t>)</a:t>
            </a:r>
          </a:p>
          <a:p>
            <a:pPr lvl="2"/>
            <a:r>
              <a:rPr lang="en-US"/>
              <a:t>Salário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/>
              <a:t>)</a:t>
            </a:r>
          </a:p>
          <a:p>
            <a:pPr lvl="1"/>
            <a:r>
              <a:rPr lang="en-US"/>
              <a:t>Note que um funcionário é uma pessoa, portanto existem diversos outros dados relacionados, porém não relevantes no contexto:</a:t>
            </a:r>
          </a:p>
          <a:p>
            <a:pPr lvl="2"/>
            <a:r>
              <a:rPr lang="en-US"/>
              <a:t>Cor favorita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/>
              <a:t>)</a:t>
            </a:r>
          </a:p>
          <a:p>
            <a:pPr lvl="2"/>
            <a:r>
              <a:rPr lang="en-US"/>
              <a:t>Hobbies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list[str]</a:t>
            </a:r>
            <a:r>
              <a:rPr lang="en-US"/>
              <a:t>)</a:t>
            </a: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ECA9F6-7A73-D7A0-EAE4-DBD71A7C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(Abstração)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60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CA14-D86C-D86D-F9D5-102F3EFD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Princípios de OOP (Abstração - Exemplo)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4B1302-6550-1983-CCCC-7D23D24AE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851310"/>
              </p:ext>
            </p:extLst>
          </p:nvPr>
        </p:nvGraphicFramePr>
        <p:xfrm>
          <a:off x="72708" y="1022672"/>
          <a:ext cx="11972829" cy="526785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6785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Objetos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"Owen"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54321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3500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0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691748E-1CE8-8021-3B4A-EBCA947FF85F}"/>
              </a:ext>
            </a:extLst>
          </p:cNvPr>
          <p:cNvSpPr/>
          <p:nvPr/>
        </p:nvSpPr>
        <p:spPr>
          <a:xfrm>
            <a:off x="4909582" y="1621703"/>
            <a:ext cx="604388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202FEA-49A5-972F-3016-77A1299DF154}"/>
              </a:ext>
            </a:extLst>
          </p:cNvPr>
          <p:cNvSpPr/>
          <p:nvPr/>
        </p:nvSpPr>
        <p:spPr>
          <a:xfrm>
            <a:off x="7694902" y="1621703"/>
            <a:ext cx="604388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BB8E6-51FD-F033-F3E0-7F2730CFF294}"/>
              </a:ext>
            </a:extLst>
          </p:cNvPr>
          <p:cNvSpPr/>
          <p:nvPr/>
        </p:nvSpPr>
        <p:spPr>
          <a:xfrm>
            <a:off x="9661551" y="1621703"/>
            <a:ext cx="874726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891DBD-754E-3CFF-358A-A33151279767}"/>
              </a:ext>
            </a:extLst>
          </p:cNvPr>
          <p:cNvCxnSpPr>
            <a:cxnSpLocks/>
          </p:cNvCxnSpPr>
          <p:nvPr/>
        </p:nvCxnSpPr>
        <p:spPr>
          <a:xfrm>
            <a:off x="10127324" y="1972611"/>
            <a:ext cx="0" cy="69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733984-953A-554E-14E1-11A66238210A}"/>
              </a:ext>
            </a:extLst>
          </p:cNvPr>
          <p:cNvCxnSpPr>
            <a:cxnSpLocks/>
          </p:cNvCxnSpPr>
          <p:nvPr/>
        </p:nvCxnSpPr>
        <p:spPr>
          <a:xfrm>
            <a:off x="8023591" y="1972611"/>
            <a:ext cx="0" cy="69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42519A-111C-DC40-566E-F5C182695282}"/>
              </a:ext>
            </a:extLst>
          </p:cNvPr>
          <p:cNvCxnSpPr>
            <a:cxnSpLocks/>
          </p:cNvCxnSpPr>
          <p:nvPr/>
        </p:nvCxnSpPr>
        <p:spPr>
          <a:xfrm>
            <a:off x="5248226" y="1972611"/>
            <a:ext cx="0" cy="69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05DF28D-7B74-0FA5-9D59-46FEAA71758F}"/>
              </a:ext>
            </a:extLst>
          </p:cNvPr>
          <p:cNvSpPr txBox="1"/>
          <p:nvPr/>
        </p:nvSpPr>
        <p:spPr>
          <a:xfrm>
            <a:off x="5061980" y="2651630"/>
            <a:ext cx="5437537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Conhecidas como </a:t>
            </a:r>
            <a:r>
              <a:rPr lang="en-US" sz="2000" i="1"/>
              <a:t>type annotation</a:t>
            </a:r>
            <a:r>
              <a:rPr lang="en-US" sz="2000"/>
              <a:t>. Servem para documentação e são ignoradas pelo interpretador Python (= um argumento de tipo incompatível é aceito).</a:t>
            </a:r>
          </a:p>
        </p:txBody>
      </p:sp>
    </p:spTree>
    <p:extLst>
      <p:ext uri="{BB962C8B-B14F-4D97-AF65-F5344CB8AC3E}">
        <p14:creationId xmlns:p14="http://schemas.microsoft.com/office/powerpoint/2010/main" val="149673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CA14-D86C-D86D-F9D5-102F3EFD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Princípios de OOP (Abstração - Exemplo)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4B1302-6550-1983-CCCC-7D23D24AE255}"/>
              </a:ext>
            </a:extLst>
          </p:cNvPr>
          <p:cNvGraphicFramePr>
            <a:graphicFrameLocks noGrp="1"/>
          </p:cNvGraphicFramePr>
          <p:nvPr/>
        </p:nvGraphicFramePr>
        <p:xfrm>
          <a:off x="72708" y="1022672"/>
          <a:ext cx="11972829" cy="526785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6785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employee_id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Objetos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"Owen"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54321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3500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0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C268C87-5741-1080-3473-F24165CD2F97}"/>
              </a:ext>
            </a:extLst>
          </p:cNvPr>
          <p:cNvSpPr/>
          <p:nvPr/>
        </p:nvSpPr>
        <p:spPr>
          <a:xfrm>
            <a:off x="4762543" y="2242025"/>
            <a:ext cx="1808272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86ACFD-B465-27A3-CD0E-22746F2771F4}"/>
              </a:ext>
            </a:extLst>
          </p:cNvPr>
          <p:cNvCxnSpPr>
            <a:cxnSpLocks/>
          </p:cNvCxnSpPr>
          <p:nvPr/>
        </p:nvCxnSpPr>
        <p:spPr>
          <a:xfrm>
            <a:off x="8886681" y="2380197"/>
            <a:ext cx="0" cy="69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22E7D3-4053-7364-E0A9-5A2953A76CD4}"/>
              </a:ext>
            </a:extLst>
          </p:cNvPr>
          <p:cNvSpPr txBox="1"/>
          <p:nvPr/>
        </p:nvSpPr>
        <p:spPr>
          <a:xfrm>
            <a:off x="6253760" y="3086687"/>
            <a:ext cx="5265842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 que aconteceria se substituíssemos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 sz="2000"/>
              <a:t> por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2000"/>
              <a:t>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3D8CA-F6FB-A6CD-E85F-7A0C3000303D}"/>
              </a:ext>
            </a:extLst>
          </p:cNvPr>
          <p:cNvSpPr/>
          <p:nvPr/>
        </p:nvSpPr>
        <p:spPr>
          <a:xfrm>
            <a:off x="5682304" y="1605726"/>
            <a:ext cx="1808272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84A717-1D21-4667-E787-AE57FB85B44D}"/>
              </a:ext>
            </a:extLst>
          </p:cNvPr>
          <p:cNvCxnSpPr>
            <a:cxnSpLocks/>
          </p:cNvCxnSpPr>
          <p:nvPr/>
        </p:nvCxnSpPr>
        <p:spPr>
          <a:xfrm>
            <a:off x="6570815" y="2380197"/>
            <a:ext cx="2338841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AB2CA6-A2E2-BE89-096C-F456EC83F53A}"/>
              </a:ext>
            </a:extLst>
          </p:cNvPr>
          <p:cNvCxnSpPr>
            <a:cxnSpLocks/>
          </p:cNvCxnSpPr>
          <p:nvPr/>
        </p:nvCxnSpPr>
        <p:spPr>
          <a:xfrm flipV="1">
            <a:off x="7022963" y="1954043"/>
            <a:ext cx="0" cy="442628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91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CA14-D86C-D86D-F9D5-102F3EFD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Princípios de OOP (Abstração - Exemplo)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4B1302-6550-1983-CCCC-7D23D24AE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197201"/>
              </p:ext>
            </p:extLst>
          </p:nvPr>
        </p:nvGraphicFramePr>
        <p:xfrm>
          <a:off x="72708" y="1022672"/>
          <a:ext cx="11972829" cy="5267850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6785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id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endParaRPr lang="pt-BR" sz="200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8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# Objetos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"Owen"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54321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3500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0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993F27-794D-2A03-0CD3-D8C94249C7DE}"/>
              </a:ext>
            </a:extLst>
          </p:cNvPr>
          <p:cNvSpPr txBox="1"/>
          <p:nvPr/>
        </p:nvSpPr>
        <p:spPr>
          <a:xfrm>
            <a:off x="6725512" y="2286750"/>
            <a:ext cx="414619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Resposta: continua funcionando…</a:t>
            </a:r>
          </a:p>
          <a:p>
            <a:pPr algn="ctr"/>
            <a:r>
              <a:rPr lang="en-US" sz="2000"/>
              <a:t>Porém, quais as consequências?</a:t>
            </a:r>
          </a:p>
        </p:txBody>
      </p:sp>
    </p:spTree>
    <p:extLst>
      <p:ext uri="{BB962C8B-B14F-4D97-AF65-F5344CB8AC3E}">
        <p14:creationId xmlns:p14="http://schemas.microsoft.com/office/powerpoint/2010/main" val="124009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3548-289E-09B6-D6A5-9F19063F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Princípios de OOP (Abstração – Exemplo)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5EF5C7-893C-EA59-B810-BAFEED996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56796"/>
              </p:ext>
            </p:extLst>
          </p:nvPr>
        </p:nvGraphicFramePr>
        <p:xfrm>
          <a:off x="72708" y="1022672"/>
          <a:ext cx="11972829" cy="4964471"/>
        </p:xfrm>
        <a:graphic>
          <a:graphicData uri="http://schemas.openxmlformats.org/drawingml/2006/table">
            <a:tbl>
              <a:tblPr firstRow="1" firstCol="1" bandRow="1"/>
              <a:tblGrid>
                <a:gridCol w="45772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515106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96447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20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</a:t>
                      </a: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salary</a:t>
                      </a:r>
                    </a:p>
                    <a:p>
                      <a:r>
                        <a:rPr lang="pt-BR" sz="2000" b="1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def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-&gt;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str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2000" b="1">
                          <a:solidFill>
                            <a:srgbClr val="0000FF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f"Employee Name: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_name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ID: 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_employee_id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}, "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 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f"Salary: ${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_salary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2000" b="1">
                        <a:solidFill>
                          <a:srgbClr val="00008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"Emma"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12345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4000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 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808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"Owen"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54321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2000">
                          <a:solidFill>
                            <a:srgbClr val="FF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3500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emma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endParaRPr lang="pt-BR" sz="2000" b="1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2000" b="1">
                          <a:solidFill>
                            <a:srgbClr val="880088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owen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get_attributes</a:t>
                      </a:r>
                      <a:r>
                        <a:rPr lang="pt-BR" sz="2000" b="1">
                          <a:solidFill>
                            <a:srgbClr val="00008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())</a:t>
                      </a:r>
                      <a:r>
                        <a:rPr lang="pt-BR" sz="20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endParaRPr lang="pt-BR" sz="2000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2C85B72-C37D-8B90-A538-2EB4DB53E58B}"/>
              </a:ext>
            </a:extLst>
          </p:cNvPr>
          <p:cNvSpPr/>
          <p:nvPr/>
        </p:nvSpPr>
        <p:spPr>
          <a:xfrm>
            <a:off x="1731740" y="2555534"/>
            <a:ext cx="2378705" cy="35090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46FE7-0FA6-CBDF-70AA-6851CEC23432}"/>
              </a:ext>
            </a:extLst>
          </p:cNvPr>
          <p:cNvSpPr txBox="1"/>
          <p:nvPr/>
        </p:nvSpPr>
        <p:spPr>
          <a:xfrm>
            <a:off x="6372815" y="2530933"/>
            <a:ext cx="4146199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Acrescentamos essa linha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4FCAF8-9772-8B05-0F5D-48D153CB83BB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4110445" y="2730988"/>
            <a:ext cx="226237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E25AA2-6ED9-29FA-216F-4B33ED5D887A}"/>
              </a:ext>
            </a:extLst>
          </p:cNvPr>
          <p:cNvSpPr txBox="1"/>
          <p:nvPr/>
        </p:nvSpPr>
        <p:spPr>
          <a:xfrm>
            <a:off x="6886621" y="4377150"/>
            <a:ext cx="4639173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Agora, temos uma mensagem de erro:</a:t>
            </a:r>
          </a:p>
          <a:p>
            <a:pPr algn="ctr"/>
            <a:r>
              <a:rPr lang="en-US" sz="2000" i="1"/>
              <a:t>TypeError: 'int' object is not callable</a:t>
            </a:r>
          </a:p>
        </p:txBody>
      </p:sp>
    </p:spTree>
    <p:extLst>
      <p:ext uri="{BB962C8B-B14F-4D97-AF65-F5344CB8AC3E}">
        <p14:creationId xmlns:p14="http://schemas.microsoft.com/office/powerpoint/2010/main" val="200274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DD312C-AAB2-E586-F5DF-84AE5E557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Quando substituímos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/>
              <a:t> por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id,</a:t>
            </a:r>
            <a:r>
              <a:rPr lang="en-US">
                <a:cs typeface="Courier New" panose="02070309020205020404" pitchFamily="49" charset="0"/>
              </a:rPr>
              <a:t> estamos “escondendo” a função </a:t>
            </a:r>
            <a:r>
              <a:rPr lang="en-US" i="1">
                <a:cs typeface="Courier New" panose="02070309020205020404" pitchFamily="49" charset="0"/>
              </a:rPr>
              <a:t>built-in</a:t>
            </a:r>
            <a:r>
              <a:rPr lang="en-US">
                <a:cs typeface="Courier New" panose="02070309020205020404" pitchFamily="49" charset="0"/>
              </a:rPr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id (</a:t>
            </a:r>
            <a:r>
              <a:rPr lang="en-US">
                <a:cs typeface="Courier New" panose="02070309020205020404" pitchFamily="49" charset="0"/>
              </a:rPr>
              <a:t>efeito conhecido como </a:t>
            </a:r>
            <a:r>
              <a:rPr lang="en-US" i="1">
                <a:cs typeface="Courier New" panose="02070309020205020404" pitchFamily="49" charset="0"/>
              </a:rPr>
              <a:t>shadowing</a:t>
            </a:r>
            <a:r>
              <a:rPr lang="en-US"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A consequência é que quando escrevemos </a:t>
            </a:r>
            <a:r>
              <a:rPr lang="pt-BR" sz="2400" b="1">
                <a:solidFill>
                  <a:srgbClr val="880088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print</a:t>
            </a:r>
            <a:r>
              <a:rPr lang="pt-BR" sz="24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sz="2400" b="1">
                <a:solidFill>
                  <a:srgbClr val="880088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id</a:t>
            </a:r>
            <a:r>
              <a:rPr lang="pt-BR" sz="24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pt-BR" sz="24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name</a:t>
            </a:r>
            <a:r>
              <a:rPr lang="pt-BR" sz="2400" b="1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</a:rPr>
              <a:t>))</a:t>
            </a:r>
            <a:r>
              <a:rPr lang="en-US" sz="3600"/>
              <a:t> </a:t>
            </a:r>
            <a:r>
              <a:rPr lang="en-US"/>
              <a:t>é chamado o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/>
              <a:t> passando como argumento a variável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/>
              <a:t>.</a:t>
            </a:r>
            <a:endParaRPr lang="pt-BR">
              <a:effectLst/>
              <a:highlight>
                <a:srgbClr val="FFFFFF"/>
              </a:highlight>
            </a:endParaRPr>
          </a:p>
          <a:p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E6CBE1-07AF-83C3-AF1D-787B1D9D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Princípios de OOP (Abstração – Exemplo)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476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10906</TotalTime>
  <Words>5213</Words>
  <Application>Microsoft Office PowerPoint</Application>
  <PresentationFormat>Widescreen</PresentationFormat>
  <Paragraphs>1028</Paragraphs>
  <Slides>45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Courier New</vt:lpstr>
      <vt:lpstr>Garamond</vt:lpstr>
      <vt:lpstr>Times New Roman</vt:lpstr>
      <vt:lpstr>Wingdings</vt:lpstr>
      <vt:lpstr>Tema Padrão</vt:lpstr>
      <vt:lpstr>03 – Orientação a Objetos (I – Introdução)  </vt:lpstr>
      <vt:lpstr>OOP (Introdução)</vt:lpstr>
      <vt:lpstr>OOP (Introdução)</vt:lpstr>
      <vt:lpstr>OOP (Introdução)</vt:lpstr>
      <vt:lpstr>OOP (Introdução)</vt:lpstr>
      <vt:lpstr>OOP (Introdução)</vt:lpstr>
      <vt:lpstr>Recordando (Exemplo Aula Anterior)</vt:lpstr>
      <vt:lpstr>Recordando (Exemplo Aula Anterior)</vt:lpstr>
      <vt:lpstr>Recordando (Exemplo Aula Anterior)</vt:lpstr>
      <vt:lpstr>Recordando (Exemplo Aula Anterior)</vt:lpstr>
      <vt:lpstr>Recordando (Exemplo Aula Anterior)</vt:lpstr>
      <vt:lpstr>Exemplo 1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 (Aula anterior em OOP)</vt:lpstr>
      <vt:lpstr>Exemplo 1</vt:lpstr>
      <vt:lpstr>Exemplo 2</vt:lpstr>
      <vt:lpstr>Exemplo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Exemplo 2 </vt:lpstr>
      <vt:lpstr>Exemplo 2</vt:lpstr>
      <vt:lpstr>Princípios de OOP</vt:lpstr>
      <vt:lpstr>Princípios de OOP (Abstração)</vt:lpstr>
      <vt:lpstr>Princípios de OOP (Abstração)</vt:lpstr>
      <vt:lpstr>Princípios de OOP (Abstração - Exemplo)</vt:lpstr>
      <vt:lpstr>Princípios de OOP (Abstração - Exemplo)</vt:lpstr>
      <vt:lpstr>Princípios de OOP (Abstração - Exemplo)</vt:lpstr>
      <vt:lpstr>Princípios de OOP (Abstração – Exemplo)</vt:lpstr>
      <vt:lpstr>Princípios de OOP (Abstração – Exemplo)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669</cp:revision>
  <dcterms:created xsi:type="dcterms:W3CDTF">2017-06-20T21:36:17Z</dcterms:created>
  <dcterms:modified xsi:type="dcterms:W3CDTF">2024-08-23T16:48:59Z</dcterms:modified>
</cp:coreProperties>
</file>