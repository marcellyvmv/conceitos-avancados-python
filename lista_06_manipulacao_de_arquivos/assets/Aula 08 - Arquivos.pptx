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463" r:id="rId3"/>
    <p:sldId id="472" r:id="rId4"/>
    <p:sldId id="465" r:id="rId5"/>
    <p:sldId id="468" r:id="rId6"/>
    <p:sldId id="469" r:id="rId7"/>
    <p:sldId id="470" r:id="rId8"/>
    <p:sldId id="471" r:id="rId9"/>
    <p:sldId id="466" r:id="rId10"/>
    <p:sldId id="467" r:id="rId11"/>
    <p:sldId id="474" r:id="rId12"/>
    <p:sldId id="477" r:id="rId13"/>
    <p:sldId id="475" r:id="rId14"/>
    <p:sldId id="480" r:id="rId15"/>
    <p:sldId id="481" r:id="rId16"/>
    <p:sldId id="499" r:id="rId17"/>
    <p:sldId id="482" r:id="rId18"/>
    <p:sldId id="483" r:id="rId19"/>
    <p:sldId id="484" r:id="rId20"/>
    <p:sldId id="501" r:id="rId21"/>
    <p:sldId id="502" r:id="rId22"/>
    <p:sldId id="504" r:id="rId23"/>
    <p:sldId id="512" r:id="rId24"/>
    <p:sldId id="505" r:id="rId25"/>
    <p:sldId id="506" r:id="rId26"/>
    <p:sldId id="508" r:id="rId27"/>
    <p:sldId id="507" r:id="rId28"/>
    <p:sldId id="509" r:id="rId29"/>
    <p:sldId id="513" r:id="rId30"/>
    <p:sldId id="485" r:id="rId31"/>
    <p:sldId id="486" r:id="rId32"/>
    <p:sldId id="510" r:id="rId33"/>
    <p:sldId id="511" r:id="rId34"/>
    <p:sldId id="492" r:id="rId35"/>
    <p:sldId id="493" r:id="rId36"/>
    <p:sldId id="494" r:id="rId37"/>
    <p:sldId id="495" r:id="rId38"/>
    <p:sldId id="496" r:id="rId39"/>
    <p:sldId id="497" r:id="rId40"/>
    <p:sldId id="490" r:id="rId41"/>
  </p:sldIdLst>
  <p:sldSz cx="12192000" cy="6858000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uario" initials="U" lastIdx="3" clrIdx="0">
    <p:extLst>
      <p:ext uri="{19B8F6BF-5375-455C-9EA6-DF929625EA0E}">
        <p15:presenceInfo xmlns:p15="http://schemas.microsoft.com/office/powerpoint/2012/main" userId="Usuari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0AAB"/>
    <a:srgbClr val="F20CD1"/>
    <a:srgbClr val="B4CCFF"/>
    <a:srgbClr val="99CCFF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1" autoAdjust="0"/>
    <p:restoredTop sz="88925" autoAdjust="0"/>
  </p:normalViewPr>
  <p:slideViewPr>
    <p:cSldViewPr snapToGrid="0">
      <p:cViewPr varScale="1">
        <p:scale>
          <a:sx n="126" d="100"/>
          <a:sy n="126" d="100"/>
        </p:scale>
        <p:origin x="1008" y="-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1D8E3-36AB-4247-954E-CA64B1535725}" type="datetimeFigureOut">
              <a:rPr lang="pt-BR" smtClean="0"/>
              <a:t>27/09/2024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E881F-58A7-46F2-AC34-A982B63F0CA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22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83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0822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00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84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1284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E881F-58A7-46F2-AC34-A982B63F0CAE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86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964432"/>
            <a:ext cx="10566400" cy="9144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317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título mestre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0362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</p:spPr>
        <p:txBody>
          <a:bodyPr/>
          <a:lstStyle>
            <a:lvl1pPr>
              <a:spcBef>
                <a:spcPts val="4200"/>
              </a:spcBef>
              <a:defRPr/>
            </a:lvl1pPr>
            <a:lvl2pPr>
              <a:spcBef>
                <a:spcPts val="1800"/>
              </a:spcBef>
              <a:defRPr/>
            </a:lvl2pPr>
            <a:lvl3pPr marL="1022350" indent="-350838">
              <a:spcBef>
                <a:spcPts val="1000"/>
              </a:spcBef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097932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718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10895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83200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135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60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3717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01034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071390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322192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noProof="0"/>
              <a:t>Clique no ícone para adicionar tabela</a:t>
            </a:r>
          </a:p>
        </p:txBody>
      </p:sp>
    </p:spTree>
    <p:extLst>
      <p:ext uri="{BB962C8B-B14F-4D97-AF65-F5344CB8AC3E}">
        <p14:creationId xmlns:p14="http://schemas.microsoft.com/office/powerpoint/2010/main" val="2372978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218509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ítulo e 4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44632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7405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14EA250-FE77-3FA7-5F90-6D11537899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C339F5D-1391-29FE-2F73-D279896B33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 dirty="0"/>
              <a:t>Clique para editar os estilos do texto mestre</a:t>
            </a:r>
          </a:p>
          <a:p>
            <a:pPr lvl="1"/>
            <a:r>
              <a:rPr lang="pt-BR" altLang="en-US" dirty="0"/>
              <a:t>Segundo nível</a:t>
            </a:r>
          </a:p>
          <a:p>
            <a:pPr lvl="2"/>
            <a:r>
              <a:rPr lang="pt-BR" altLang="en-US" dirty="0"/>
              <a:t>Terceiro nível</a:t>
            </a:r>
          </a:p>
          <a:p>
            <a:pPr lvl="3"/>
            <a:r>
              <a:rPr lang="pt-BR" altLang="en-US" dirty="0"/>
              <a:t>Quarto nível</a:t>
            </a:r>
          </a:p>
          <a:p>
            <a:pPr lvl="4"/>
            <a:r>
              <a:rPr lang="pt-BR" altLang="en-US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4709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Garamond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 u="sng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just" rtl="0" eaLnBrk="1" fontAlgn="base" hangingPunct="1">
        <a:spcBef>
          <a:spcPts val="42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1" fontAlgn="base" hangingPunct="1">
        <a:spcBef>
          <a:spcPts val="18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</a:defRPr>
      </a:lvl3pPr>
      <a:lvl4pPr marL="1339850" indent="-315913" algn="just" rtl="0" eaLnBrk="1" fontAlgn="base" hangingPunct="1">
        <a:spcBef>
          <a:spcPts val="1000"/>
        </a:spcBef>
        <a:spcAft>
          <a:spcPct val="0"/>
        </a:spcAft>
        <a:buClr>
          <a:schemeClr val="accent2"/>
        </a:buClr>
        <a:buSzPct val="120000"/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</a:defRPr>
      </a:lvl4pPr>
      <a:lvl5pPr marL="16811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just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Newline#Representation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tring.html#format-specification-mini-language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D37FA-D22C-449F-A66B-FA568AD31E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/>
              <a:t>17 – Arquivos</a:t>
            </a:r>
            <a:br>
              <a:rPr lang="pt-BR" dirty="0"/>
            </a:b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465CA0-DCD8-4A81-AE6A-E7898D94A5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6435" y="5131487"/>
            <a:ext cx="3191164" cy="600135"/>
          </a:xfrm>
        </p:spPr>
        <p:txBody>
          <a:bodyPr/>
          <a:lstStyle/>
          <a:p>
            <a:r>
              <a:rPr lang="pt-BR" sz="3600" dirty="0"/>
              <a:t>Thiago Rocha</a:t>
            </a:r>
          </a:p>
        </p:txBody>
      </p:sp>
    </p:spTree>
    <p:extLst>
      <p:ext uri="{BB962C8B-B14F-4D97-AF65-F5344CB8AC3E}">
        <p14:creationId xmlns:p14="http://schemas.microsoft.com/office/powerpoint/2010/main" val="385335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EBCD5-E6DB-3199-5EDC-99B71130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Duas Categorias 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0FD6B-3435-CFCE-06E2-5E000BD8B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Manipulação do Conteúdo</a:t>
            </a:r>
          </a:p>
          <a:p>
            <a:pPr lvl="1"/>
            <a:r>
              <a:rPr lang="en-US"/>
              <a:t>Leitura e Escrita (</a:t>
            </a:r>
            <a:r>
              <a:rPr lang="en-US" i="1"/>
              <a:t>Input/Output </a:t>
            </a:r>
            <a:r>
              <a:rPr lang="en-US"/>
              <a:t>– I/O)</a:t>
            </a:r>
          </a:p>
          <a:p>
            <a:r>
              <a:rPr lang="en-US"/>
              <a:t>Manipulação do próprio Arquivo</a:t>
            </a:r>
          </a:p>
          <a:p>
            <a:pPr lvl="1"/>
            <a:r>
              <a:rPr lang="en-US"/>
              <a:t>Criar</a:t>
            </a:r>
          </a:p>
          <a:p>
            <a:pPr lvl="1"/>
            <a:r>
              <a:rPr lang="en-US"/>
              <a:t>Mover</a:t>
            </a:r>
          </a:p>
          <a:p>
            <a:pPr lvl="1"/>
            <a:r>
              <a:rPr lang="en-US"/>
              <a:t>Apagar</a:t>
            </a:r>
          </a:p>
          <a:p>
            <a:pPr lvl="1"/>
            <a:r>
              <a:rPr lang="en-US"/>
              <a:t>Renomear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pt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2F21DA-7FF0-3AEE-D556-0B011C4A2D00}"/>
              </a:ext>
            </a:extLst>
          </p:cNvPr>
          <p:cNvSpPr/>
          <p:nvPr/>
        </p:nvSpPr>
        <p:spPr>
          <a:xfrm>
            <a:off x="575080" y="1208477"/>
            <a:ext cx="6262244" cy="140606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137273"/>
              </p:ext>
            </p:extLst>
          </p:nvPr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388389" y="2628530"/>
            <a:ext cx="711515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103A940-19CC-4167-42B6-0E655989021C}"/>
              </a:ext>
            </a:extLst>
          </p:cNvPr>
          <p:cNvCxnSpPr>
            <a:cxnSpLocks/>
          </p:cNvCxnSpPr>
          <p:nvPr/>
        </p:nvCxnSpPr>
        <p:spPr>
          <a:xfrm>
            <a:off x="2099904" y="2822046"/>
            <a:ext cx="277076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587380F-FEA2-2FC9-171A-128706AA2844}"/>
              </a:ext>
            </a:extLst>
          </p:cNvPr>
          <p:cNvSpPr txBox="1"/>
          <p:nvPr/>
        </p:nvSpPr>
        <p:spPr>
          <a:xfrm>
            <a:off x="4877507" y="2621991"/>
            <a:ext cx="3850223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Único parâmetro obrigatório. É o caminho do arquivo a ser lido</a:t>
            </a:r>
          </a:p>
        </p:txBody>
      </p:sp>
    </p:spTree>
    <p:extLst>
      <p:ext uri="{BB962C8B-B14F-4D97-AF65-F5344CB8AC3E}">
        <p14:creationId xmlns:p14="http://schemas.microsoft.com/office/powerpoint/2010/main" val="199652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24484"/>
              </p:ext>
            </p:extLst>
          </p:nvPr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314869" y="2954775"/>
            <a:ext cx="1446711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4BF396-8E28-6496-C29E-58278F5A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68" y="1964143"/>
            <a:ext cx="7168161" cy="467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5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CC77B0-270C-3CB9-DDD9-E59116D2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68" y="1964143"/>
            <a:ext cx="7168161" cy="46755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4592468" y="2522846"/>
            <a:ext cx="2977811" cy="61552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1CF81-CC58-1D50-1078-846C9ACCA90B}"/>
              </a:ext>
            </a:extLst>
          </p:cNvPr>
          <p:cNvSpPr/>
          <p:nvPr/>
        </p:nvSpPr>
        <p:spPr>
          <a:xfrm>
            <a:off x="4592468" y="5648204"/>
            <a:ext cx="2977811" cy="34002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89A2C-300A-8E07-C082-BF2C03D55153}"/>
              </a:ext>
            </a:extLst>
          </p:cNvPr>
          <p:cNvSpPr txBox="1"/>
          <p:nvPr/>
        </p:nvSpPr>
        <p:spPr>
          <a:xfrm>
            <a:off x="7935522" y="3751710"/>
            <a:ext cx="4020603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Por </a:t>
            </a:r>
            <a:r>
              <a:rPr lang="en-US" sz="2000" i="1"/>
              <a:t>default</a:t>
            </a:r>
            <a:r>
              <a:rPr lang="en-US" sz="2000"/>
              <a:t>, o arquivo é aberto em modo texto para leitura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B154900-B8DC-38E7-7F05-EC1806B3079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7603582" y="2830606"/>
            <a:ext cx="2342242" cy="92110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1AD9F8D-F9E2-7003-9ED5-0BEEC096380E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603582" y="4459596"/>
            <a:ext cx="2342242" cy="1369334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9EFED336-85CA-1A1C-6B5F-EF517323983F}"/>
              </a:ext>
            </a:extLst>
          </p:cNvPr>
          <p:cNvSpPr/>
          <p:nvPr/>
        </p:nvSpPr>
        <p:spPr>
          <a:xfrm>
            <a:off x="1314869" y="2954775"/>
            <a:ext cx="1446711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1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CC77B0-270C-3CB9-DDD9-E59116D2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68" y="1964143"/>
            <a:ext cx="7168161" cy="46755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784688"/>
              </p:ext>
            </p:extLst>
          </p:nvPr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4607094" y="2556853"/>
            <a:ext cx="2977811" cy="277791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1CF81-CC58-1D50-1078-846C9ACCA90B}"/>
              </a:ext>
            </a:extLst>
          </p:cNvPr>
          <p:cNvSpPr/>
          <p:nvPr/>
        </p:nvSpPr>
        <p:spPr>
          <a:xfrm>
            <a:off x="4607094" y="5978538"/>
            <a:ext cx="2977811" cy="661201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1021DE0-FEBC-EEE8-A3CA-65AD57076F4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7584905" y="3945810"/>
            <a:ext cx="1242041" cy="485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6F89A2C-300A-8E07-C082-BF2C03D55153}"/>
              </a:ext>
            </a:extLst>
          </p:cNvPr>
          <p:cNvSpPr txBox="1"/>
          <p:nvPr/>
        </p:nvSpPr>
        <p:spPr>
          <a:xfrm>
            <a:off x="8826946" y="3288941"/>
            <a:ext cx="3267027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Como o modo texto é </a:t>
            </a:r>
            <a:r>
              <a:rPr lang="en-US" sz="2000" i="1"/>
              <a:t>default</a:t>
            </a:r>
            <a:r>
              <a:rPr lang="en-US" sz="2000"/>
              <a:t>, quando usamos esses caracteres é implícito que é modo texto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B0F00B4-01D6-5377-D7EE-3F77BFF5DBE2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584904" y="4612380"/>
            <a:ext cx="2875556" cy="1696758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9ED0F0F-091C-EC76-5170-F72C750F04BD}"/>
              </a:ext>
            </a:extLst>
          </p:cNvPr>
          <p:cNvSpPr/>
          <p:nvPr/>
        </p:nvSpPr>
        <p:spPr>
          <a:xfrm>
            <a:off x="1314869" y="2954775"/>
            <a:ext cx="1446711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03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CC77B0-270C-3CB9-DDD9-E59116D2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68" y="1964143"/>
            <a:ext cx="7168161" cy="46755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D41CF81-CC58-1D50-1078-846C9ACCA90B}"/>
              </a:ext>
            </a:extLst>
          </p:cNvPr>
          <p:cNvSpPr/>
          <p:nvPr/>
        </p:nvSpPr>
        <p:spPr>
          <a:xfrm>
            <a:off x="4607094" y="5317338"/>
            <a:ext cx="2977811" cy="3534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89A2C-300A-8E07-C082-BF2C03D55153}"/>
              </a:ext>
            </a:extLst>
          </p:cNvPr>
          <p:cNvSpPr txBox="1"/>
          <p:nvPr/>
        </p:nvSpPr>
        <p:spPr>
          <a:xfrm>
            <a:off x="8431481" y="3359402"/>
            <a:ext cx="3267027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Como a leitura é </a:t>
            </a:r>
            <a:r>
              <a:rPr lang="en-US" sz="2000" i="1"/>
              <a:t>default</a:t>
            </a:r>
            <a:r>
              <a:rPr lang="en-US" sz="2000"/>
              <a:t>, quando usamos ‘b’ fica implícito que é leitura no modo binário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1317A-D319-EC2F-980B-D0BE64D234B2}"/>
              </a:ext>
            </a:extLst>
          </p:cNvPr>
          <p:cNvSpPr/>
          <p:nvPr/>
        </p:nvSpPr>
        <p:spPr>
          <a:xfrm>
            <a:off x="4592468" y="2524360"/>
            <a:ext cx="2977811" cy="623198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0C5D76F-1AB2-1898-B15E-9029A71D683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599531" y="4682841"/>
            <a:ext cx="2465464" cy="81120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C8A11DE-E4AD-99DF-1DC9-0466BF434414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7584905" y="2863810"/>
            <a:ext cx="2480090" cy="49559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21883-8916-D905-BD24-DFB7B7BCB2FE}"/>
              </a:ext>
            </a:extLst>
          </p:cNvPr>
          <p:cNvSpPr/>
          <p:nvPr/>
        </p:nvSpPr>
        <p:spPr>
          <a:xfrm>
            <a:off x="1314869" y="2954775"/>
            <a:ext cx="1446711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1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4CC77B0-270C-3CB9-DDD9-E59116D25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468" y="1964143"/>
            <a:ext cx="7168161" cy="46755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D41CF81-CC58-1D50-1078-846C9ACCA90B}"/>
              </a:ext>
            </a:extLst>
          </p:cNvPr>
          <p:cNvSpPr/>
          <p:nvPr/>
        </p:nvSpPr>
        <p:spPr>
          <a:xfrm>
            <a:off x="4607094" y="5317338"/>
            <a:ext cx="2977811" cy="35342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89A2C-300A-8E07-C082-BF2C03D55153}"/>
              </a:ext>
            </a:extLst>
          </p:cNvPr>
          <p:cNvSpPr txBox="1"/>
          <p:nvPr/>
        </p:nvSpPr>
        <p:spPr>
          <a:xfrm>
            <a:off x="8431481" y="3359402"/>
            <a:ext cx="3267027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Para as outras operações em binário, precisamos especificar os dois caracteres: ‘wb’, ‘xb’, etc.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60C5D76F-1AB2-1898-B15E-9029A71D683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7599531" y="4682841"/>
            <a:ext cx="2465464" cy="811209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A3CB71F-2481-0AB5-2AAA-74E1AE415C50}"/>
              </a:ext>
            </a:extLst>
          </p:cNvPr>
          <p:cNvSpPr/>
          <p:nvPr/>
        </p:nvSpPr>
        <p:spPr>
          <a:xfrm>
            <a:off x="1314869" y="2954775"/>
            <a:ext cx="1446711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4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e Leitura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314869" y="3313185"/>
            <a:ext cx="2218667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4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do Arquivo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314869" y="3699165"/>
            <a:ext cx="2420846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3BB1F-109E-FE03-CC72-24A29EBB9CD2}"/>
              </a:ext>
            </a:extLst>
          </p:cNvPr>
          <p:cNvSpPr txBox="1"/>
          <p:nvPr/>
        </p:nvSpPr>
        <p:spPr>
          <a:xfrm>
            <a:off x="6528693" y="1126043"/>
            <a:ext cx="3267027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Codificação do arquivo (UTF-8, ASCII, etc.)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41895DC-1B32-1EDD-EC81-E792FC4B95AD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735715" y="1479986"/>
            <a:ext cx="2792978" cy="242114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DB131F-4EE1-341F-359B-CD970478B518}"/>
              </a:ext>
            </a:extLst>
          </p:cNvPr>
          <p:cNvSpPr txBox="1"/>
          <p:nvPr/>
        </p:nvSpPr>
        <p:spPr>
          <a:xfrm>
            <a:off x="5872375" y="4760929"/>
            <a:ext cx="4875269" cy="163121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Codificação é o método usado para traduzir os caracteres em código binário. Decodificação é o processo inverso. Diferentes codificações resultam em binários diferentes.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0C826C-95C5-4178-490D-36FE6C5ABE83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162206" y="1833929"/>
            <a:ext cx="1" cy="7946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A96CA4-74E2-2874-A084-9689543B7696}"/>
              </a:ext>
            </a:extLst>
          </p:cNvPr>
          <p:cNvSpPr txBox="1"/>
          <p:nvPr/>
        </p:nvSpPr>
        <p:spPr>
          <a:xfrm>
            <a:off x="5794263" y="2628530"/>
            <a:ext cx="4723634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Se não for fornecido, é chamada a função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locale.getencoding()</a:t>
            </a:r>
            <a:r>
              <a:rPr lang="en-US" sz="2000"/>
              <a:t>. O retorno depende da plataforma (Windows, por exemplo, é ANSI).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55A3A03-0DE1-0207-F2E8-63A2520DFDDD}"/>
              </a:ext>
            </a:extLst>
          </p:cNvPr>
          <p:cNvCxnSpPr>
            <a:cxnSpLocks/>
          </p:cNvCxnSpPr>
          <p:nvPr/>
        </p:nvCxnSpPr>
        <p:spPr>
          <a:xfrm>
            <a:off x="8175991" y="3951969"/>
            <a:ext cx="48245" cy="76769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47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e Leitura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291098" y="4066763"/>
            <a:ext cx="2095398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3BB1F-109E-FE03-CC72-24A29EBB9CD2}"/>
              </a:ext>
            </a:extLst>
          </p:cNvPr>
          <p:cNvSpPr txBox="1"/>
          <p:nvPr/>
        </p:nvSpPr>
        <p:spPr>
          <a:xfrm>
            <a:off x="7077449" y="1127076"/>
            <a:ext cx="3911090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Especifica como os erros de codificação devem ser tratados. Apenas em modo texto.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41895DC-1B32-1EDD-EC81-E792FC4B95A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386496" y="1634908"/>
            <a:ext cx="3690953" cy="2645082"/>
          </a:xfrm>
          <a:prstGeom prst="bentConnector3">
            <a:avLst>
              <a:gd name="adj1" fmla="val 36928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AE407BE9-FEF5-9646-ACF5-54450BA7E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496" y="3445175"/>
            <a:ext cx="6026997" cy="257876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6605B1-2B0A-6EDE-839D-64C52712BE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>
            <a:off x="9032994" y="2142739"/>
            <a:ext cx="1" cy="13024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8980DE4-15EF-3254-B4B7-7482683C7B66}"/>
              </a:ext>
            </a:extLst>
          </p:cNvPr>
          <p:cNvSpPr txBox="1"/>
          <p:nvPr/>
        </p:nvSpPr>
        <p:spPr>
          <a:xfrm>
            <a:off x="6194408" y="6245463"/>
            <a:ext cx="5852085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sz="2000"/>
              <a:t>Outros tipos podem ser vistos na documentação</a:t>
            </a:r>
            <a:endParaRPr lang="pt-BR" sz="2000">
              <a:effectLst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80D21E-EC7E-9680-31C9-407376DA6FED}"/>
              </a:ext>
            </a:extLst>
          </p:cNvPr>
          <p:cNvSpPr/>
          <p:nvPr/>
        </p:nvSpPr>
        <p:spPr>
          <a:xfrm>
            <a:off x="6019496" y="3963101"/>
            <a:ext cx="1095057" cy="59347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99C0298-0704-375F-6CB8-3F5AAC6B6FBF}"/>
              </a:ext>
            </a:extLst>
          </p:cNvPr>
          <p:cNvCxnSpPr>
            <a:cxnSpLocks/>
            <a:stCxn id="30" idx="1"/>
            <a:endCxn id="34" idx="3"/>
          </p:cNvCxnSpPr>
          <p:nvPr/>
        </p:nvCxnSpPr>
        <p:spPr>
          <a:xfrm rot="10800000" flipV="1">
            <a:off x="5100424" y="4259836"/>
            <a:ext cx="919073" cy="218136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C35A4AA-F153-8C23-F6E7-3FFEBB4EA592}"/>
              </a:ext>
            </a:extLst>
          </p:cNvPr>
          <p:cNvSpPr txBox="1"/>
          <p:nvPr/>
        </p:nvSpPr>
        <p:spPr>
          <a:xfrm>
            <a:off x="827096" y="6241149"/>
            <a:ext cx="4273327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errors=None</a:t>
            </a:r>
            <a:r>
              <a:rPr lang="en-US" sz="2000"/>
              <a:t> recai no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‘strict’</a:t>
            </a:r>
            <a:endParaRPr lang="pt-BR" sz="200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40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28" grpId="0" animBg="1"/>
      <p:bldP spid="30" grpId="0" animBg="1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e Leitura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291098" y="4415983"/>
            <a:ext cx="2270008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3BB1F-109E-FE03-CC72-24A29EBB9CD2}"/>
              </a:ext>
            </a:extLst>
          </p:cNvPr>
          <p:cNvSpPr txBox="1"/>
          <p:nvPr/>
        </p:nvSpPr>
        <p:spPr>
          <a:xfrm>
            <a:off x="6651203" y="816262"/>
            <a:ext cx="527962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Determina como uma nova linha deve ser indicada. Se aplica apenas ao modo texto. Em binário as linhas são lidas sem tradução.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141895DC-1B32-1EDD-EC81-E792FC4B95A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3561106" y="1324094"/>
            <a:ext cx="3090097" cy="3305116"/>
          </a:xfrm>
          <a:prstGeom prst="bentConnector3">
            <a:avLst>
              <a:gd name="adj1" fmla="val 37212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6605B1-2B0A-6EDE-839D-64C52712BEBA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291016" y="1831925"/>
            <a:ext cx="1" cy="8817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C2342C1-3D70-7A05-2A84-3582E6EAE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484" y="2755341"/>
            <a:ext cx="7278440" cy="25816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0F28F5-0E4F-55B7-C7AA-C0671E87A5C8}"/>
              </a:ext>
            </a:extLst>
          </p:cNvPr>
          <p:cNvSpPr txBox="1"/>
          <p:nvPr/>
        </p:nvSpPr>
        <p:spPr>
          <a:xfrm>
            <a:off x="7430074" y="5578299"/>
            <a:ext cx="2743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Fonte: Wikipedia (</a:t>
            </a:r>
            <a:r>
              <a:rPr lang="pt-BR">
                <a:hlinkClick r:id="rId3"/>
              </a:rPr>
              <a:t>Link</a:t>
            </a:r>
            <a:r>
              <a:rPr lang="pt-B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319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e Leitura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735-14F8-D145-0D5A-6240E522A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4063489" cy="4530725"/>
          </a:xfrm>
        </p:spPr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Sintaxe: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032A72-B87B-BBBE-853E-2F9C82FF4407}"/>
              </a:ext>
            </a:extLst>
          </p:cNvPr>
          <p:cNvGraphicFramePr>
            <a:graphicFrameLocks noGrp="1"/>
          </p:cNvGraphicFramePr>
          <p:nvPr/>
        </p:nvGraphicFramePr>
        <p:xfrm>
          <a:off x="384446" y="2628530"/>
          <a:ext cx="3714272" cy="3200400"/>
        </p:xfrm>
        <a:graphic>
          <a:graphicData uri="http://schemas.openxmlformats.org/drawingml/2006/table">
            <a:tbl>
              <a:tblPr firstRow="1" firstCol="1" bandRow="1"/>
              <a:tblGrid>
                <a:gridCol w="371427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986529">
                <a:tc>
                  <a:txBody>
                    <a:bodyPr/>
                    <a:lstStyle/>
                    <a:p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mode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buffering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=-</a:t>
                      </a:r>
                      <a:r>
                        <a:rPr lang="en-US" sz="24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encoding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errors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newline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closefd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endParaRPr lang="en-US" sz="24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opener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24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24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2400">
                        <a:effectLst/>
                      </a:endParaRPr>
                    </a:p>
                    <a:p>
                      <a:endParaRPr lang="pt-BR" sz="18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9204581-FB69-D4CC-DA25-7A33E259536E}"/>
              </a:ext>
            </a:extLst>
          </p:cNvPr>
          <p:cNvSpPr/>
          <p:nvPr/>
        </p:nvSpPr>
        <p:spPr>
          <a:xfrm>
            <a:off x="1291098" y="4415983"/>
            <a:ext cx="2270008" cy="42645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3BB1F-109E-FE03-CC72-24A29EBB9CD2}"/>
              </a:ext>
            </a:extLst>
          </p:cNvPr>
          <p:cNvSpPr txBox="1"/>
          <p:nvPr/>
        </p:nvSpPr>
        <p:spPr>
          <a:xfrm>
            <a:off x="6651203" y="816262"/>
            <a:ext cx="527962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Determina como uma nova linha deve ser indicada. Se aplica apenas ao modo texto. Em binário as linhas são lidas sem tradução.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6605B1-2B0A-6EDE-839D-64C52712BEBA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9291016" y="1831925"/>
            <a:ext cx="1" cy="88173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E4C41D02-9520-D174-B88E-4AE9FFBD0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612" y="2713659"/>
            <a:ext cx="5556809" cy="3404648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14B6BB4-C299-62EE-A710-D59C7AB41A94}"/>
              </a:ext>
            </a:extLst>
          </p:cNvPr>
          <p:cNvCxnSpPr>
            <a:cxnSpLocks/>
          </p:cNvCxnSpPr>
          <p:nvPr/>
        </p:nvCxnSpPr>
        <p:spPr>
          <a:xfrm flipV="1">
            <a:off x="3561106" y="1324094"/>
            <a:ext cx="3090097" cy="3305116"/>
          </a:xfrm>
          <a:prstGeom prst="bentConnector3">
            <a:avLst>
              <a:gd name="adj1" fmla="val 37212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001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F0BD9-8E77-64E6-1881-AAC8DC6A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Abertura e Leitura</a:t>
            </a:r>
            <a:endParaRPr lang="pt-B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7B59A9F-15D3-68FE-D585-274F05548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Função </a:t>
            </a:r>
            <a:r>
              <a:rPr lang="en-US" i="1"/>
              <a:t>built-in</a:t>
            </a:r>
            <a:r>
              <a:rPr lang="en-US"/>
              <a:t>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</a:p>
          <a:p>
            <a:pPr lvl="1"/>
            <a:r>
              <a:rPr lang="en-US"/>
              <a:t>Retorna um </a:t>
            </a:r>
            <a:r>
              <a:rPr lang="en-US" i="1"/>
              <a:t>file object</a:t>
            </a:r>
            <a:r>
              <a:rPr lang="en-US"/>
              <a:t>, que podemos usar para acessar o arquivo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473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C53D9A9-E0E7-4CBA-4657-6B483837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</p:spPr>
        <p:txBody>
          <a:bodyPr/>
          <a:lstStyle/>
          <a:p>
            <a:r>
              <a:rPr lang="en-US"/>
              <a:t>Vamos ler e escrever na tela o seguinte arquivo: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  <a:p>
            <a:r>
              <a:rPr lang="en-US"/>
              <a:t>Vamos implementar uma primeira versão:</a:t>
            </a:r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44A3-BEB9-F1BD-EC76-DB5C50A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(Versão com erro)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497F3A-2678-69BF-2B27-0EE8EC5A2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207123"/>
              </p:ext>
            </p:extLst>
          </p:nvPr>
        </p:nvGraphicFramePr>
        <p:xfrm>
          <a:off x="3086931" y="5221194"/>
          <a:ext cx="6018137" cy="926446"/>
        </p:xfrm>
        <a:graphic>
          <a:graphicData uri="http://schemas.openxmlformats.org/drawingml/2006/table">
            <a:tbl>
              <a:tblPr firstRow="1" firstCol="1" bandRow="1"/>
              <a:tblGrid>
                <a:gridCol w="34098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567715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"Exemplo 1.txt"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4D13AA-97FF-AF76-C589-B55A4BB60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596711"/>
              </p:ext>
            </p:extLst>
          </p:nvPr>
        </p:nvGraphicFramePr>
        <p:xfrm>
          <a:off x="1781859" y="1977330"/>
          <a:ext cx="7808508" cy="1645920"/>
        </p:xfrm>
        <a:graphic>
          <a:graphicData uri="http://schemas.openxmlformats.org/drawingml/2006/table">
            <a:tbl>
              <a:tblPr firstRow="1" firstCol="1" bandRow="1"/>
              <a:tblGrid>
                <a:gridCol w="33605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472455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Porque a essência de um pinguim se resume a isso: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pinguins vivem em condições anormalmente adversas e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nunca vão embora. Eles são uma das poucas espécies que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permanecem, lutam e perseveram. Para mim, essa é a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essência de um pinguim. Ele permanece.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~Atypical [S03E06]~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0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C53D9A9-E0E7-4CBA-4657-6B483837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</p:spPr>
        <p:txBody>
          <a:bodyPr/>
          <a:lstStyle/>
          <a:p>
            <a:r>
              <a:rPr lang="pt-BR"/>
              <a:t>Output: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44A3-BEB9-F1BD-EC76-DB5C50A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(Versão com erro)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4D13AA-97FF-AF76-C589-B55A4BB60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600361"/>
              </p:ext>
            </p:extLst>
          </p:nvPr>
        </p:nvGraphicFramePr>
        <p:xfrm>
          <a:off x="1781858" y="1977330"/>
          <a:ext cx="8380549" cy="3017520"/>
        </p:xfrm>
        <a:graphic>
          <a:graphicData uri="http://schemas.openxmlformats.org/drawingml/2006/table">
            <a:tbl>
              <a:tblPr firstRow="1" firstCol="1" bandRow="1"/>
              <a:tblGrid>
                <a:gridCol w="484641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895908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Porque a essÃªncia de um pinguim se resume a isso: 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pinguins vivem em condiÃ§Ãµes anormalmente adversas 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nunca vÃ£o embora. Eles sÃ£o uma das poucas espÃ©cies que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permanecem, lutam e perseveram. Para mim, essa Ã© a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essÃªncia de um pinguim. Ele permanece.</a:t>
                      </a: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~Atypical [S03E06]~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4D4E2D7-D82C-3169-F990-657E49240135}"/>
              </a:ext>
            </a:extLst>
          </p:cNvPr>
          <p:cNvSpPr/>
          <p:nvPr/>
        </p:nvSpPr>
        <p:spPr>
          <a:xfrm>
            <a:off x="3518942" y="1907198"/>
            <a:ext cx="1248072" cy="389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D12D2580-30BA-B64A-F87E-FA3942B63E64}"/>
              </a:ext>
            </a:extLst>
          </p:cNvPr>
          <p:cNvCxnSpPr>
            <a:cxnSpLocks/>
            <a:stCxn id="8" idx="0"/>
            <a:endCxn id="12" idx="1"/>
          </p:cNvCxnSpPr>
          <p:nvPr/>
        </p:nvCxnSpPr>
        <p:spPr>
          <a:xfrm rot="5400000" flipH="1" flipV="1">
            <a:off x="4776900" y="875508"/>
            <a:ext cx="397769" cy="1665612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DF5401-9BF0-9D08-8985-5B59F24E0BDB}"/>
              </a:ext>
            </a:extLst>
          </p:cNvPr>
          <p:cNvSpPr txBox="1"/>
          <p:nvPr/>
        </p:nvSpPr>
        <p:spPr>
          <a:xfrm>
            <a:off x="5808590" y="1155486"/>
            <a:ext cx="3573761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Os acentos não foram impressos corretamente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6D0357-BC37-D646-C13B-C991F4D9B46A}"/>
              </a:ext>
            </a:extLst>
          </p:cNvPr>
          <p:cNvSpPr txBox="1"/>
          <p:nvPr/>
        </p:nvSpPr>
        <p:spPr>
          <a:xfrm>
            <a:off x="3927164" y="5321163"/>
            <a:ext cx="4202128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Há espaços em branco que não existiam no arquivo original</a:t>
            </a:r>
          </a:p>
        </p:txBody>
      </p:sp>
    </p:spTree>
    <p:extLst>
      <p:ext uri="{BB962C8B-B14F-4D97-AF65-F5344CB8AC3E}">
        <p14:creationId xmlns:p14="http://schemas.microsoft.com/office/powerpoint/2010/main" val="135211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44A3-BEB9-F1BD-EC76-DB5C50A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(Versão com erro)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497F3A-2678-69BF-2B27-0EE8EC5A2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532530"/>
              </p:ext>
            </p:extLst>
          </p:nvPr>
        </p:nvGraphicFramePr>
        <p:xfrm>
          <a:off x="3086435" y="1269951"/>
          <a:ext cx="6018561" cy="926446"/>
        </p:xfrm>
        <a:graphic>
          <a:graphicData uri="http://schemas.openxmlformats.org/drawingml/2006/table">
            <a:tbl>
              <a:tblPr firstRow="1" firstCol="1" bandRow="1"/>
              <a:tblGrid>
                <a:gridCol w="406187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5612374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"Exemplo 1.txt"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8D536017-1E39-A7D1-9937-8AF816DC7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320" y="2342223"/>
            <a:ext cx="10972800" cy="4530725"/>
          </a:xfrm>
        </p:spPr>
        <p:txBody>
          <a:bodyPr/>
          <a:lstStyle/>
          <a:p>
            <a:r>
              <a:rPr lang="en-US"/>
              <a:t>Os espaços extras em branco resultam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/>
              <a:t> ter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/>
              <a:t> ao final 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/>
              <a:t> por </a:t>
            </a:r>
            <a:r>
              <a:rPr lang="en-US" i="1"/>
              <a:t>default</a:t>
            </a:r>
            <a:r>
              <a:rPr lang="en-US"/>
              <a:t> inserir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/>
              <a:t> ao final da string</a:t>
            </a:r>
          </a:p>
          <a:p>
            <a:pPr lvl="1"/>
            <a:r>
              <a:rPr lang="en-US"/>
              <a:t>Solução: removemos de line 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\n</a:t>
            </a:r>
            <a:r>
              <a:rPr lang="en-US"/>
              <a:t> ao final</a:t>
            </a:r>
            <a:endParaRPr lang="pt-BR"/>
          </a:p>
          <a:p>
            <a:r>
              <a:rPr lang="en-US"/>
              <a:t>O problema no acento resulta da codificação estar errada: arquivos por </a:t>
            </a:r>
            <a:r>
              <a:rPr lang="en-US" i="1"/>
              <a:t>default</a:t>
            </a:r>
            <a:r>
              <a:rPr lang="en-US"/>
              <a:t> no Windows são salvos em UTF-8 e o </a:t>
            </a:r>
            <a:r>
              <a:rPr lang="en-US" i="1"/>
              <a:t>default</a:t>
            </a:r>
            <a:r>
              <a:rPr lang="en-US"/>
              <a:t> da função built-in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n-US"/>
              <a:t> no Windows é ANSI</a:t>
            </a:r>
          </a:p>
          <a:p>
            <a:pPr lvl="1"/>
            <a:r>
              <a:rPr lang="en-US"/>
              <a:t>Solução: especificamos a codificação correta</a:t>
            </a:r>
          </a:p>
        </p:txBody>
      </p:sp>
    </p:spTree>
    <p:extLst>
      <p:ext uri="{BB962C8B-B14F-4D97-AF65-F5344CB8AC3E}">
        <p14:creationId xmlns:p14="http://schemas.microsoft.com/office/powerpoint/2010/main" val="59490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FD0F1AB-8696-64DE-9358-BABFFA447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</p:spPr>
        <p:txBody>
          <a:bodyPr/>
          <a:lstStyle/>
          <a:p>
            <a:r>
              <a:rPr lang="en-US"/>
              <a:t>Versão corrigida</a:t>
            </a: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/>
              <a:t>Output: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44A3-BEB9-F1BD-EC76-DB5C50A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(Versão corrigida)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B497F3A-2678-69BF-2B27-0EE8EC5A2E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64712"/>
              </p:ext>
            </p:extLst>
          </p:nvPr>
        </p:nvGraphicFramePr>
        <p:xfrm>
          <a:off x="2043376" y="2106237"/>
          <a:ext cx="8768600" cy="926446"/>
        </p:xfrm>
        <a:graphic>
          <a:graphicData uri="http://schemas.openxmlformats.org/drawingml/2006/table">
            <a:tbl>
              <a:tblPr firstRow="1" firstCol="1" bandRow="1"/>
              <a:tblGrid>
                <a:gridCol w="35979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408804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"Exemplo 1.txt"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"r"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encoding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"utf-8"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line.strip()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21B2210-DA3A-CDE5-24CC-CF52AD82AFAF}"/>
              </a:ext>
            </a:extLst>
          </p:cNvPr>
          <p:cNvSpPr/>
          <p:nvPr/>
        </p:nvSpPr>
        <p:spPr>
          <a:xfrm>
            <a:off x="6903502" y="2044176"/>
            <a:ext cx="2361839" cy="389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E8042A5-8E90-2E23-C4E6-824E3828C00C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8084421" y="2433869"/>
            <a:ext cx="1" cy="86139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5E724A2-FACC-C5EE-37AA-F28B5CDEAFA4}"/>
              </a:ext>
            </a:extLst>
          </p:cNvPr>
          <p:cNvSpPr txBox="1"/>
          <p:nvPr/>
        </p:nvSpPr>
        <p:spPr>
          <a:xfrm>
            <a:off x="5983357" y="3295261"/>
            <a:ext cx="4202128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Especificando a codificação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C62D7B-FECF-08F9-8298-FC9C64330DAF}"/>
              </a:ext>
            </a:extLst>
          </p:cNvPr>
          <p:cNvSpPr/>
          <p:nvPr/>
        </p:nvSpPr>
        <p:spPr>
          <a:xfrm>
            <a:off x="3822279" y="2595713"/>
            <a:ext cx="1834134" cy="389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1025250-7091-52E0-D7CB-6689DFD3F119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4731921" y="2985406"/>
            <a:ext cx="7425" cy="108533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114A3A-12DA-D35D-A48A-6716B81B530C}"/>
              </a:ext>
            </a:extLst>
          </p:cNvPr>
          <p:cNvSpPr txBox="1"/>
          <p:nvPr/>
        </p:nvSpPr>
        <p:spPr>
          <a:xfrm>
            <a:off x="3036166" y="4070745"/>
            <a:ext cx="3391510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Remove todos os </a:t>
            </a:r>
            <a:r>
              <a:rPr lang="en-US" sz="2000" i="1"/>
              <a:t>whitespaces</a:t>
            </a:r>
            <a:r>
              <a:rPr lang="en-US" sz="2000"/>
              <a:t> iniciais e finais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7D739C-A2B4-0E88-CA5D-B56EDF382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27786"/>
              </p:ext>
            </p:extLst>
          </p:nvPr>
        </p:nvGraphicFramePr>
        <p:xfrm>
          <a:off x="2604684" y="5155578"/>
          <a:ext cx="8112432" cy="1645920"/>
        </p:xfrm>
        <a:graphic>
          <a:graphicData uri="http://schemas.openxmlformats.org/drawingml/2006/table">
            <a:tbl>
              <a:tblPr firstRow="1" firstCol="1" bandRow="1"/>
              <a:tblGrid>
                <a:gridCol w="348031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764401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Porque a essência de um pinguim se resume a isso: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pinguins vivem em condições anormalmente adversas 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nunca vão embora. Eles são uma das poucas espécies que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permanecem, lutam e perseveram. Para mim, essa é a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essência de um pinguim. Ele permanece.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~Atypical [S03E06]~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0D41E4-4BFF-72E4-A582-C844583C6546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427676" y="4424688"/>
            <a:ext cx="1328596" cy="807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E7E4EA-77EF-0163-4873-55C21E986C0E}"/>
              </a:ext>
            </a:extLst>
          </p:cNvPr>
          <p:cNvSpPr txBox="1"/>
          <p:nvPr/>
        </p:nvSpPr>
        <p:spPr>
          <a:xfrm>
            <a:off x="7756272" y="4078817"/>
            <a:ext cx="3548477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i="1"/>
              <a:t>whitespaces</a:t>
            </a:r>
            <a:r>
              <a:rPr lang="en-US" sz="2000"/>
              <a:t> incluem espaço em branco, \n, \t, etc.</a:t>
            </a:r>
          </a:p>
        </p:txBody>
      </p:sp>
    </p:spTree>
    <p:extLst>
      <p:ext uri="{BB962C8B-B14F-4D97-AF65-F5344CB8AC3E}">
        <p14:creationId xmlns:p14="http://schemas.microsoft.com/office/powerpoint/2010/main" val="185171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2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5FD0F1AB-8696-64DE-9358-BABFFA447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</p:spPr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Note que mesmo na versão com erro, não foi lançada um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ValueError</a:t>
            </a:r>
          </a:p>
          <a:p>
            <a:pPr lvl="1"/>
            <a:r>
              <a:rPr lang="en-US"/>
              <a:t>Isso acontece porque os bytes lidos foram reconhecidos, porém traduzidos de forma incorreta</a:t>
            </a:r>
          </a:p>
          <a:p>
            <a:pPr lvl="2"/>
            <a:r>
              <a:rPr lang="en-US"/>
              <a:t>Caracter “ê” em UTF-8: 0xC3 0xAA</a:t>
            </a:r>
          </a:p>
          <a:p>
            <a:pPr lvl="2"/>
            <a:r>
              <a:rPr lang="en-US"/>
              <a:t>Caracter “Ã” em Windows-1252: 0xC3</a:t>
            </a:r>
          </a:p>
          <a:p>
            <a:pPr lvl="2"/>
            <a:r>
              <a:rPr lang="en-US"/>
              <a:t>Caracter “</a:t>
            </a:r>
            <a:r>
              <a:rPr lang="en-US" baseline="30000"/>
              <a:t>ª</a:t>
            </a:r>
            <a:r>
              <a:rPr lang="en-US"/>
              <a:t>” em Windows-1252: 0xAA</a:t>
            </a:r>
          </a:p>
          <a:p>
            <a:pPr lvl="2"/>
            <a:endParaRPr lang="en-US"/>
          </a:p>
          <a:p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644A3-BEB9-F1BD-EC76-DB5C50A7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1 (Observações Finais)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591040-D9F6-FDC2-A930-71E348071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399446"/>
              </p:ext>
            </p:extLst>
          </p:nvPr>
        </p:nvGraphicFramePr>
        <p:xfrm>
          <a:off x="523291" y="1202131"/>
          <a:ext cx="8380549" cy="1645920"/>
        </p:xfrm>
        <a:graphic>
          <a:graphicData uri="http://schemas.openxmlformats.org/drawingml/2006/table">
            <a:tbl>
              <a:tblPr firstRow="1" firstCol="1" bandRow="1"/>
              <a:tblGrid>
                <a:gridCol w="356440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24109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Porque a essÃªncia de um pinguim se resume a isso: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pinguins vivem em condiÃ§Ãµes anormalmente adversas 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nunca vÃ£o embora. Eles sÃ£o uma das poucas espÃ©cies que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permanecem, lutam e perseveram. Para mim, essa Ã© a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essÃªncia de um pinguim. Ele permanece.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~Atypical [S03E06]~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1ACD571-5381-76E0-52B3-18BBB7789EE5}"/>
              </a:ext>
            </a:extLst>
          </p:cNvPr>
          <p:cNvSpPr txBox="1"/>
          <p:nvPr/>
        </p:nvSpPr>
        <p:spPr>
          <a:xfrm>
            <a:off x="9194196" y="1423458"/>
            <a:ext cx="2888020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Removemos as linhas em branco para reduzir o espaço ocupado</a:t>
            </a:r>
          </a:p>
        </p:txBody>
      </p:sp>
    </p:spTree>
    <p:extLst>
      <p:ext uri="{BB962C8B-B14F-4D97-AF65-F5344CB8AC3E}">
        <p14:creationId xmlns:p14="http://schemas.microsoft.com/office/powerpoint/2010/main" val="69414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4CD4-8345-979E-3DAE-D1AD9C840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Leitura: método readlines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48FB8-0335-907D-C7F3-DE6619E64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Exemplo 1 usamos a estrutura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 line in file </a:t>
            </a:r>
            <a:r>
              <a:rPr lang="en-US"/>
              <a:t>para percorrer iterativamente o arquivo e ler cada linha  </a:t>
            </a:r>
          </a:p>
          <a:p>
            <a:pPr lvl="1"/>
            <a:r>
              <a:rPr lang="en-US"/>
              <a:t>Também podemos usar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readlines()</a:t>
            </a:r>
            <a:r>
              <a:rPr lang="en-US"/>
              <a:t> ,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/>
              <a:t>que é mais conveniente em alguns casos. O método devolve uma lista de </a:t>
            </a:r>
            <a:r>
              <a:rPr lang="en-US" i="1"/>
              <a:t>strings</a:t>
            </a:r>
            <a:r>
              <a:rPr lang="en-US"/>
              <a:t>, em que cada elemento corresponde a uma linha do código na ordem de leitura do arquivo.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53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D627-818E-9EDC-BC4F-6C42FF06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0B73E-8F54-6287-11BB-E20EE6443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Leia o arquivo a seguir e exiba a primeira e a quarta linha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B9ADF2-23F3-1139-AAE8-D599DFB1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23103"/>
              </p:ext>
            </p:extLst>
          </p:nvPr>
        </p:nvGraphicFramePr>
        <p:xfrm>
          <a:off x="2769751" y="2507244"/>
          <a:ext cx="7086962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252794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6834168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 matters not how strait the gate,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How charged with punishments the scroll,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 am the master of my fate,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I am the captain of my soul.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~Invictus by William Ernest Henley~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61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26C55-46E1-7FF0-8D75-11F1C89C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2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4DFB6-81B1-5895-2833-A99E89F11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70"/>
            <a:ext cx="6701266" cy="2289291"/>
          </a:xfrm>
        </p:spPr>
        <p:txBody>
          <a:bodyPr/>
          <a:lstStyle/>
          <a:p>
            <a:r>
              <a:rPr lang="en-US"/>
              <a:t>Com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E1EC74-4730-DF4C-2628-DE1514B22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509914"/>
              </p:ext>
            </p:extLst>
          </p:nvPr>
        </p:nvGraphicFramePr>
        <p:xfrm>
          <a:off x="609600" y="2013762"/>
          <a:ext cx="8462888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40147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061415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2.txt'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lines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readlines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index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index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6CF037-5A8C-7454-9A6F-46876F66E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64384"/>
              </p:ext>
            </p:extLst>
          </p:nvPr>
        </p:nvGraphicFramePr>
        <p:xfrm>
          <a:off x="575117" y="4597771"/>
          <a:ext cx="8542881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401692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141189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114863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2.txt'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counter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endParaRPr lang="en-US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if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counter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index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counter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EBCE5B1-9A6A-962D-4BBB-745B8AD9E51D}"/>
              </a:ext>
            </a:extLst>
          </p:cNvPr>
          <p:cNvSpPr txBox="1"/>
          <p:nvPr/>
        </p:nvSpPr>
        <p:spPr>
          <a:xfrm>
            <a:off x="7310866" y="661927"/>
            <a:ext cx="4242644" cy="110799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sz="2200" kern="0"/>
              <a:t>Com </a:t>
            </a:r>
            <a:r>
              <a:rPr lang="en-US" sz="2200" kern="0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 sz="2200" kern="0"/>
              <a:t> não precisamos usar o contador e reduzimos o nível de identação.</a:t>
            </a:r>
            <a:endParaRPr lang="pt-BR" sz="2200" kern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23B417-A819-CA5B-A313-8B962D1E6260}"/>
              </a:ext>
            </a:extLst>
          </p:cNvPr>
          <p:cNvSpPr txBox="1">
            <a:spLocks/>
          </p:cNvSpPr>
          <p:nvPr/>
        </p:nvSpPr>
        <p:spPr bwMode="auto">
          <a:xfrm>
            <a:off x="575119" y="3879335"/>
            <a:ext cx="6701266" cy="13875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ts val="42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just" rtl="0" eaLnBrk="1" fontAlgn="base" hangingPunct="1">
              <a:spcBef>
                <a:spcPts val="18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just" rtl="0" eaLnBrk="1" fontAlgn="base" hangingPunct="1"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/>
              <a:t>Com </a:t>
            </a:r>
            <a:r>
              <a:rPr lang="en-US" kern="0">
                <a:latin typeface="Courier New" panose="02070309020205020404" pitchFamily="49" charset="0"/>
                <a:cs typeface="Courier New" panose="02070309020205020404" pitchFamily="49" charset="0"/>
              </a:rPr>
              <a:t>for line in file</a:t>
            </a:r>
            <a:endParaRPr lang="pt-BR" ker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901E32-9498-5969-3C73-B6A865DA45C1}"/>
              </a:ext>
            </a:extLst>
          </p:cNvPr>
          <p:cNvSpPr/>
          <p:nvPr/>
        </p:nvSpPr>
        <p:spPr>
          <a:xfrm>
            <a:off x="1235089" y="3047809"/>
            <a:ext cx="3809279" cy="389693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D4CA5D2-8515-F499-E251-FAC2DA6AF0C8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5044368" y="3242655"/>
            <a:ext cx="2607763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6D04E6-CDB8-26AD-416C-320701F625AE}"/>
              </a:ext>
            </a:extLst>
          </p:cNvPr>
          <p:cNvSpPr txBox="1"/>
          <p:nvPr/>
        </p:nvSpPr>
        <p:spPr>
          <a:xfrm>
            <a:off x="7652131" y="2688657"/>
            <a:ext cx="4359652" cy="110799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r>
              <a:rPr lang="en-US" sz="2200" kern="0"/>
              <a:t>Se tivéssemos usado </a:t>
            </a:r>
            <a:r>
              <a:rPr lang="en-US" sz="2200" kern="0">
                <a:latin typeface="Courier New" panose="02070309020205020404" pitchFamily="49" charset="0"/>
                <a:cs typeface="Courier New" panose="02070309020205020404" pitchFamily="49" charset="0"/>
              </a:rPr>
              <a:t>strip() </a:t>
            </a:r>
            <a:r>
              <a:rPr lang="en-US" sz="2200" kern="0"/>
              <a:t>teríamos perdido o espaçamento inicial do poema</a:t>
            </a:r>
            <a:endParaRPr lang="pt-BR" sz="2200" kern="0"/>
          </a:p>
        </p:txBody>
      </p:sp>
    </p:spTree>
    <p:extLst>
      <p:ext uri="{BB962C8B-B14F-4D97-AF65-F5344CB8AC3E}">
        <p14:creationId xmlns:p14="http://schemas.microsoft.com/office/powerpoint/2010/main" val="399867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12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D5CA8-CF58-DFA6-B184-5A5694DB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Leitura: método readlines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20F28-7F09-83FC-272A-CB0528BCD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kern="0"/>
              <a:t>Um caso interessante em que </a:t>
            </a:r>
            <a:r>
              <a:rPr lang="en-US" sz="3200" kern="0">
                <a:latin typeface="Courier New" panose="02070309020205020404" pitchFamily="49" charset="0"/>
                <a:cs typeface="Courier New" panose="02070309020205020404" pitchFamily="49" charset="0"/>
              </a:rPr>
              <a:t>readlines </a:t>
            </a:r>
            <a:r>
              <a:rPr lang="en-US" sz="3200" kern="0"/>
              <a:t>também é vantajoso  acontece quando precisamos “carregar’ os dados do arquivo pelo código.</a:t>
            </a:r>
          </a:p>
          <a:p>
            <a:r>
              <a:rPr lang="en-US" sz="3200" kern="0"/>
              <a:t>Uma desvantagem de </a:t>
            </a:r>
            <a:r>
              <a:rPr lang="en-US" sz="3200" kern="0">
                <a:latin typeface="Courier New" panose="02070309020205020404" pitchFamily="49" charset="0"/>
                <a:cs typeface="Courier New" panose="02070309020205020404" pitchFamily="49" charset="0"/>
              </a:rPr>
              <a:t>readlines </a:t>
            </a:r>
            <a:r>
              <a:rPr lang="en-US" sz="3200" kern="0"/>
              <a:t>é que se o arquivo for muito grande o consumo de memória também será grande.</a:t>
            </a:r>
            <a:endParaRPr lang="pt-BR" sz="3200" kern="0"/>
          </a:p>
          <a:p>
            <a:endParaRPr lang="pt-BR" sz="3200" kern="0"/>
          </a:p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1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55FA-6E28-1E96-E393-8568244A7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Leitura: método readline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069D-1D0D-51A4-FB5C-AD0E05EE8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Além da leitura por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 line in file</a:t>
            </a:r>
            <a:r>
              <a:rPr lang="en-US"/>
              <a:t> e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n-US"/>
              <a:t>, também temos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/>
              <a:t> (no singular)</a:t>
            </a:r>
          </a:p>
          <a:p>
            <a:pPr lvl="1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n-US"/>
              <a:t> lê e retorna uma única linha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55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4935-3FB6-316E-E6A5-6AB797C24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4FBDD-E132-0841-E3D5-E82DE41B1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 arquivo abaixo, a primeira linha identifica o personagem e a segunda linha é o diálogo em si. Esse padrão se repete até  o fim do arquivo. Imprima separadamente os diálogos de cada personagem.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B9ADF2-23F3-1139-AAE8-D599DFB13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239220"/>
              </p:ext>
            </p:extLst>
          </p:nvPr>
        </p:nvGraphicFramePr>
        <p:xfrm>
          <a:off x="1654833" y="3187626"/>
          <a:ext cx="9091447" cy="3566160"/>
        </p:xfrm>
        <a:graphic>
          <a:graphicData uri="http://schemas.openxmlformats.org/drawingml/2006/table">
            <a:tbl>
              <a:tblPr firstRow="1" firstCol="1" bandRow="1"/>
              <a:tblGrid>
                <a:gridCol w="407958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8683489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Matt: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 what are we doing out here?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Rebekah: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Just taking a break from the polite chitchat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Matt: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It's freezing. Let me get my coat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Rebekah: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This is your car?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Matt: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Yep. If I could compel myself a Maserati, I would. But I can't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Rebekah: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Oh, I'm a vampire. We don't... Thanks.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~Vampire Diaries [S03E14]~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097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C9C1-BCF6-E8A5-A6CE-D1ADF62F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AE7B-C07C-4B33-EF74-C53F5FC4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C9794-99C4-6243-4AC4-DB9BA3247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27000"/>
              </p:ext>
            </p:extLst>
          </p:nvPr>
        </p:nvGraphicFramePr>
        <p:xfrm>
          <a:off x="173221" y="2048139"/>
          <a:ext cx="11750739" cy="4530725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307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read_with_readline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{}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while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readline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'~'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break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line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readline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character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return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0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D627-818E-9EDC-BC4F-6C42FF06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5F8C404-F3DF-327C-3F29-E5A40EE0D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377388"/>
              </p:ext>
            </p:extLst>
          </p:nvPr>
        </p:nvGraphicFramePr>
        <p:xfrm>
          <a:off x="173221" y="1831453"/>
          <a:ext cx="11750739" cy="493776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734028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read_with_readlines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{}</a:t>
                      </a:r>
                    </a:p>
                    <a:p>
                      <a:endParaRPr lang="pt-BR" sz="18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readlines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range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i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break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character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A3D1B2-805D-860C-0FED-689CE4F18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85969"/>
            <a:ext cx="10972800" cy="4530725"/>
          </a:xfrm>
        </p:spPr>
        <p:txBody>
          <a:bodyPr/>
          <a:lstStyle/>
          <a:p>
            <a:r>
              <a:rPr lang="en-US"/>
              <a:t>Com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554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C9C1-BCF6-E8A5-A6CE-D1ADF62F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AE7B-C07C-4B33-EF74-C53F5FC4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 line in file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AC9794-99C4-6243-4AC4-DB9BA3247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365158"/>
              </p:ext>
            </p:extLst>
          </p:nvPr>
        </p:nvGraphicFramePr>
        <p:xfrm>
          <a:off x="173221" y="2048139"/>
          <a:ext cx="11750739" cy="424432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24432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read_with_for_loop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{}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current_character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current_character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is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current_character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current_character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not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current_character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[]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current_character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current_character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None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35D8FA8-0D07-93E5-2957-5841DB6E7F03}"/>
              </a:ext>
            </a:extLst>
          </p:cNvPr>
          <p:cNvSpPr/>
          <p:nvPr/>
        </p:nvSpPr>
        <p:spPr>
          <a:xfrm>
            <a:off x="887819" y="2593631"/>
            <a:ext cx="3398159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72CCE7-7DF6-CDFE-888A-32EA261EAE12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285978" y="2751318"/>
            <a:ext cx="3976097" cy="70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D462900-CBC5-0394-0BE7-644A84561D95}"/>
              </a:ext>
            </a:extLst>
          </p:cNvPr>
          <p:cNvSpPr txBox="1"/>
          <p:nvPr/>
        </p:nvSpPr>
        <p:spPr>
          <a:xfrm>
            <a:off x="8262075" y="2019722"/>
            <a:ext cx="3755797" cy="1477328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Se for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/>
              <a:t> a próxima linha indica o personagem. Se não for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/>
              <a:t>, a próxima linha indica o diálogo do personagem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current_character</a:t>
            </a:r>
            <a:r>
              <a:rPr lang="en-US"/>
              <a:t>.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052936-B299-3BD2-F146-022A37A6C851}"/>
              </a:ext>
            </a:extLst>
          </p:cNvPr>
          <p:cNvSpPr/>
          <p:nvPr/>
        </p:nvSpPr>
        <p:spPr>
          <a:xfrm>
            <a:off x="2015290" y="5060200"/>
            <a:ext cx="4654196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EFB221C-9731-C2EE-C4B0-F1C8E92F1A94}"/>
              </a:ext>
            </a:extLst>
          </p:cNvPr>
          <p:cNvCxnSpPr>
            <a:cxnSpLocks/>
          </p:cNvCxnSpPr>
          <p:nvPr/>
        </p:nvCxnSpPr>
        <p:spPr>
          <a:xfrm>
            <a:off x="6669486" y="5227216"/>
            <a:ext cx="154277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75797AC-077B-6B18-83D8-1DE03999CFD9}"/>
              </a:ext>
            </a:extLst>
          </p:cNvPr>
          <p:cNvSpPr txBox="1"/>
          <p:nvPr/>
        </p:nvSpPr>
        <p:spPr>
          <a:xfrm>
            <a:off x="8212265" y="4624790"/>
            <a:ext cx="3843947" cy="120032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/>
              <a:t>Como apenas teremos acesso ao diálogo na próxima iteração do loop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/>
              <a:t>, precisamos criar o dicionário associado a uma lista vazia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57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485D8-92E5-FB11-9924-CB1ABA44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3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E873E-F873-C22C-1C53-4DCB58C7B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Função principal</a:t>
            </a:r>
          </a:p>
          <a:p>
            <a:pPr lvl="1"/>
            <a:r>
              <a:rPr lang="en-US"/>
              <a:t>Pode ser usada com as três formas anteriores do Exemplo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BAF3B8-8D70-09A3-486E-A70DF8869C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637477"/>
              </p:ext>
            </p:extLst>
          </p:nvPr>
        </p:nvGraphicFramePr>
        <p:xfrm>
          <a:off x="2192867" y="2888864"/>
          <a:ext cx="7806265" cy="2831553"/>
        </p:xfrm>
        <a:graphic>
          <a:graphicData uri="http://schemas.openxmlformats.org/drawingml/2006/table">
            <a:tbl>
              <a:tblPr firstRow="1" firstCol="1" bandRow="1"/>
              <a:tblGrid>
                <a:gridCol w="444983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7361282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283155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dialogues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read_with_readline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3.txt’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character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lines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dialogues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f"\n{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character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lines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en-US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 {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en-US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481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EF332-CC83-7E0C-7B9B-52543E97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Escrita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90FF-A49F-3E09-4287-390AFD1DC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Agora vamos </a:t>
            </a:r>
            <a:r>
              <a:rPr lang="en-US" u="sng"/>
              <a:t>escrever</a:t>
            </a:r>
            <a:r>
              <a:rPr lang="en-US"/>
              <a:t> em um arquivo</a:t>
            </a:r>
          </a:p>
          <a:p>
            <a:r>
              <a:rPr lang="en-US"/>
              <a:t>Vamos considerar que nosso diretório de trabalho (</a:t>
            </a:r>
            <a:r>
              <a:rPr lang="en-US" i="1"/>
              <a:t>working directory</a:t>
            </a:r>
            <a:r>
              <a:rPr lang="en-US"/>
              <a:t>) seja C:\Users\Thiago\source\repos\python. Podemos determinar o diretório de trabalho a partir de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print(os.getcwd()) </a:t>
            </a:r>
          </a:p>
          <a:p>
            <a:r>
              <a:rPr lang="en-US"/>
              <a:t>Agora queremos escrever nosso arquivo em: C:\Users\Thiago\source\. Portanto, devemos voltar dois diretórios.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972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8557-7607-DF36-1C41-6A507A9A9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4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56F165-3343-77AB-385E-06ED03BDE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290927"/>
              </p:ext>
            </p:extLst>
          </p:nvPr>
        </p:nvGraphicFramePr>
        <p:xfrm>
          <a:off x="2286910" y="3209602"/>
          <a:ext cx="9577315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342998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923431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'..\..\Exemplo 2.txt'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'w'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'It matters not how strait the gate,\n'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 How charged with punishments the scroll,\n'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'I am the master of my fate,!\n'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 I am the captain of my soul.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'~Invictus by William Ernest Henley~'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</a:p>
                    <a:p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"Texto gravado no arquivo 'exemplo 2.txt' com sucesso!"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DEA0262-B6A5-5F3D-DB1E-C9B4C7EDABF2}"/>
              </a:ext>
            </a:extLst>
          </p:cNvPr>
          <p:cNvSpPr/>
          <p:nvPr/>
        </p:nvSpPr>
        <p:spPr>
          <a:xfrm>
            <a:off x="4081715" y="3161339"/>
            <a:ext cx="923649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B643B485-2373-4600-73A0-C91AB7DB986D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4680841" y="1902864"/>
            <a:ext cx="1121174" cy="139577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18BFC8-94BC-468E-19F3-D683E30A5DB6}"/>
              </a:ext>
            </a:extLst>
          </p:cNvPr>
          <p:cNvSpPr txBox="1"/>
          <p:nvPr/>
        </p:nvSpPr>
        <p:spPr>
          <a:xfrm>
            <a:off x="5982657" y="1862567"/>
            <a:ext cx="3570296" cy="400110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Cada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..\</a:t>
            </a:r>
            <a:r>
              <a:rPr lang="en-US" sz="2000"/>
              <a:t> recua um diretório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0BDA77-6C16-7EC4-F705-838E5227A1D8}"/>
              </a:ext>
            </a:extLst>
          </p:cNvPr>
          <p:cNvSpPr/>
          <p:nvPr/>
        </p:nvSpPr>
        <p:spPr>
          <a:xfrm>
            <a:off x="3606589" y="3490849"/>
            <a:ext cx="749447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3180493-9BFB-25A1-803B-04A2AA228416}"/>
              </a:ext>
            </a:extLst>
          </p:cNvPr>
          <p:cNvCxnSpPr>
            <a:cxnSpLocks/>
            <a:stCxn id="10" idx="0"/>
            <a:endCxn id="13" idx="2"/>
          </p:cNvCxnSpPr>
          <p:nvPr/>
        </p:nvCxnSpPr>
        <p:spPr>
          <a:xfrm rot="16200000" flipV="1">
            <a:off x="2544862" y="2054398"/>
            <a:ext cx="829214" cy="2043688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D56E33-305A-866F-5ACB-06D5B4F31209}"/>
              </a:ext>
            </a:extLst>
          </p:cNvPr>
          <p:cNvSpPr txBox="1"/>
          <p:nvPr/>
        </p:nvSpPr>
        <p:spPr>
          <a:xfrm>
            <a:off x="152477" y="1645972"/>
            <a:ext cx="357029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Escreve a </a:t>
            </a:r>
            <a:r>
              <a:rPr lang="en-US" sz="2000" i="1"/>
              <a:t>string</a:t>
            </a:r>
            <a:r>
              <a:rPr lang="en-US" sz="2000"/>
              <a:t> no arquivo e retorna o número de caracteres escritos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8223E-800C-51DF-9C0C-7DE603A6EDAA}"/>
              </a:ext>
            </a:extLst>
          </p:cNvPr>
          <p:cNvSpPr txBox="1"/>
          <p:nvPr/>
        </p:nvSpPr>
        <p:spPr>
          <a:xfrm>
            <a:off x="2921694" y="5842120"/>
            <a:ext cx="6121925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Também poderíamos ter usado o caminho absoluto: C:\Users\Thiago\source\</a:t>
            </a:r>
          </a:p>
        </p:txBody>
      </p:sp>
    </p:spTree>
    <p:extLst>
      <p:ext uri="{BB962C8B-B14F-4D97-AF65-F5344CB8AC3E}">
        <p14:creationId xmlns:p14="http://schemas.microsoft.com/office/powerpoint/2010/main" val="81639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3" grpId="0" animBg="1"/>
      <p:bldP spid="1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8DECF-D701-B2E3-D7BE-14A558D0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5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A6972-BA28-FE14-BAE1-5A46AF7CE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Podemos usar </a:t>
            </a:r>
            <a:r>
              <a:rPr lang="en-US" i="1"/>
              <a:t>f-strings</a:t>
            </a:r>
            <a:r>
              <a:rPr lang="en-US"/>
              <a:t> com o método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</a:p>
          <a:p>
            <a:r>
              <a:rPr lang="en-US"/>
              <a:t>Para esse exemplo considere um arquivo de entrada no formato a seguir, que mostra o número de gols de determinados jogadores por jogo. Vamos ler esse arquivo e imprimir a média de gols.</a:t>
            </a:r>
            <a:endParaRPr lang="pt-BR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30AF2B-4076-0A85-2BB2-636251B3E9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204854"/>
              </p:ext>
            </p:extLst>
          </p:nvPr>
        </p:nvGraphicFramePr>
        <p:xfrm>
          <a:off x="4744726" y="4492054"/>
          <a:ext cx="2514137" cy="926446"/>
        </p:xfrm>
        <a:graphic>
          <a:graphicData uri="http://schemas.openxmlformats.org/drawingml/2006/table">
            <a:tbl>
              <a:tblPr firstRow="1" firstCol="1" bandRow="1"/>
              <a:tblGrid>
                <a:gridCol w="346460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2167677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Jogador1,2,0,0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Jogador2,1,3,1</a:t>
                      </a:r>
                    </a:p>
                    <a:p>
                      <a:r>
                        <a:rPr lang="en-US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Jogador3,2,0,1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59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A103C-8A73-C819-F895-52D00C6A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5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9F453F-DB7C-67EB-4120-6030DB4BB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23366"/>
              </p:ext>
            </p:extLst>
          </p:nvPr>
        </p:nvGraphicFramePr>
        <p:xfrm>
          <a:off x="220630" y="1313264"/>
          <a:ext cx="11750739" cy="521208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30725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input_file_path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5 - Input.txt’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output_file_path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5 - Output.txt’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goals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{}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input_file_path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parts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split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', 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player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parts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list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map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parts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:]))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goals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player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scores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output_file_path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'w'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encoding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'utf-8'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f"{'Jogador':&lt;10} {'Jogo1':&lt;6} {'Jogo2':&lt;6} {'Jogo3':&lt;6} {'Média':&lt;8}\n"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player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scores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goals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items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average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player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:&lt;10}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:&lt;6}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:&lt;6}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scores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2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]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:&lt;6}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average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:&lt;8.2f}\n"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1A75B54-9F82-2B4F-F1A2-ECFA50AB537C}"/>
              </a:ext>
            </a:extLst>
          </p:cNvPr>
          <p:cNvSpPr/>
          <p:nvPr/>
        </p:nvSpPr>
        <p:spPr>
          <a:xfrm>
            <a:off x="662287" y="2673863"/>
            <a:ext cx="8000676" cy="30335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A190DE-D151-6009-E9E3-CA88F699055E}"/>
              </a:ext>
            </a:extLst>
          </p:cNvPr>
          <p:cNvSpPr/>
          <p:nvPr/>
        </p:nvSpPr>
        <p:spPr>
          <a:xfrm>
            <a:off x="697676" y="4555380"/>
            <a:ext cx="8073629" cy="346692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CFAFD35-DD51-2268-3098-7CEC413BE8D6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 flipV="1">
            <a:off x="8662963" y="1885451"/>
            <a:ext cx="1214738" cy="940089"/>
          </a:xfrm>
          <a:prstGeom prst="bent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F9BD4BC6-82CB-9778-F678-19927D863137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 flipV="1">
            <a:off x="8771305" y="1885451"/>
            <a:ext cx="1106396" cy="2843275"/>
          </a:xfrm>
          <a:prstGeom prst="bentConnector3">
            <a:avLst>
              <a:gd name="adj1" fmla="val 45691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7576043-ACA0-09C4-C0B3-BDA4D9BEC935}"/>
              </a:ext>
            </a:extLst>
          </p:cNvPr>
          <p:cNvSpPr txBox="1"/>
          <p:nvPr/>
        </p:nvSpPr>
        <p:spPr>
          <a:xfrm>
            <a:off x="9877701" y="1069843"/>
            <a:ext cx="2239182" cy="163121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Abrimos o arquivo de entrada para leitura e o arquivo de saída para escrita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7B084A-E975-4B71-E068-A8EBEC9739C6}"/>
              </a:ext>
            </a:extLst>
          </p:cNvPr>
          <p:cNvSpPr/>
          <p:nvPr/>
        </p:nvSpPr>
        <p:spPr>
          <a:xfrm>
            <a:off x="1187381" y="3781423"/>
            <a:ext cx="4715049" cy="303354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CBC8DF-6811-A5FF-2A8F-5DF6B6986362}"/>
              </a:ext>
            </a:extLst>
          </p:cNvPr>
          <p:cNvSpPr/>
          <p:nvPr/>
        </p:nvSpPr>
        <p:spPr>
          <a:xfrm>
            <a:off x="697677" y="4879481"/>
            <a:ext cx="9425728" cy="56791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89B3F722-15CF-2D93-FD83-86914D2F8072}"/>
              </a:ext>
            </a:extLst>
          </p:cNvPr>
          <p:cNvCxnSpPr>
            <a:cxnSpLocks/>
            <a:stCxn id="24" idx="3"/>
            <a:endCxn id="28" idx="2"/>
          </p:cNvCxnSpPr>
          <p:nvPr/>
        </p:nvCxnSpPr>
        <p:spPr>
          <a:xfrm flipV="1">
            <a:off x="10123405" y="3960143"/>
            <a:ext cx="652214" cy="1203296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9D8014-FC66-7125-7560-AC8BAB597561}"/>
              </a:ext>
            </a:extLst>
          </p:cNvPr>
          <p:cNvSpPr txBox="1"/>
          <p:nvPr/>
        </p:nvSpPr>
        <p:spPr>
          <a:xfrm>
            <a:off x="9395352" y="2944480"/>
            <a:ext cx="2760534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&lt;N</a:t>
            </a:r>
            <a:r>
              <a:rPr lang="en-US" sz="2000"/>
              <a:t>: alinhado a esquerda ocupando N espaços (</a:t>
            </a:r>
            <a:r>
              <a:rPr lang="en-US" sz="2000">
                <a:hlinkClick r:id="rId2"/>
              </a:rPr>
              <a:t>Link</a:t>
            </a:r>
            <a:r>
              <a:rPr lang="en-US" sz="20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833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3" grpId="0" animBg="1"/>
      <p:bldP spid="23" grpId="0" animBg="1"/>
      <p:bldP spid="24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749B5-F6D5-7749-6C81-1442FA69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6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DA710-54E5-554E-AED7-A9EB5CE3A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Considere uma empresa atualmente com 6 funcionários, descritos em um arquivo texto como mostrado abaixo. Leia cada linha do arquivo e escreva a média salarial. Faça tratamento de erros.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AC53D8-0ED2-DCD2-5235-56040DD95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44446"/>
              </p:ext>
            </p:extLst>
          </p:nvPr>
        </p:nvGraphicFramePr>
        <p:xfrm>
          <a:off x="3985985" y="3610605"/>
          <a:ext cx="4220029" cy="1920240"/>
        </p:xfrm>
        <a:graphic>
          <a:graphicData uri="http://schemas.openxmlformats.org/drawingml/2006/table">
            <a:tbl>
              <a:tblPr firstRow="1" firstCol="1" bandRow="1"/>
              <a:tblGrid>
                <a:gridCol w="318895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3901134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92644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Nome      ID     Salario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Frodo     123    4000.00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Emma      001    7450.00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Sofia     589    3500.00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Owen      472    6000.00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Adelaine  890    5150.00</a:t>
                      </a:r>
                    </a:p>
                    <a:p>
                      <a:r>
                        <a:rPr lang="it-IT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Stewart   589    5200.00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656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4C2CAE-D2C8-6B4E-57DF-852DE636E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543443"/>
              </p:ext>
            </p:extLst>
          </p:nvPr>
        </p:nvGraphicFramePr>
        <p:xfrm>
          <a:off x="220630" y="1056876"/>
          <a:ext cx="11750739" cy="569976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5314636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7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22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IncompatibleNumberOfColumns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Exception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700">
                          <a:solidFill>
                            <a:srgbClr val="FF8000"/>
                          </a:solidFill>
                          <a:effectLst/>
                          <a:latin typeface="Courier New" panose="02070309020205020404" pitchFamily="49" charset="0"/>
                        </a:rPr>
                        <a:t>"""Número de colunas na linha lida é incompatível com o formato esperado"""</a:t>
                      </a:r>
                      <a:endParaRPr lang="pt-BR" sz="1700">
                        <a:effectLst/>
                      </a:endParaRPr>
                    </a:p>
                    <a:p>
                      <a:endParaRPr lang="en-US" sz="17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n-US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en-US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7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</a:p>
                    <a:p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emp_id 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emp_id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en-US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en-US" sz="170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Company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employees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[]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add_employee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employees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append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calculate_average_salary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total_salary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sum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for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employees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total_employees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employees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total_employees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0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ZeroDivisionError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"Não há funcionários na empresa."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return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total_salary </a:t>
                      </a:r>
                      <a:r>
                        <a:rPr lang="pt-BR" sz="17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pt-BR" sz="17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total_employees</a:t>
                      </a:r>
                      <a:endParaRPr lang="en-US" sz="170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9410AD-93C2-ED81-BFA3-B7BFE98D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6</a:t>
            </a: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49A05D-F1B5-001B-8CB6-AFED819BB0D5}"/>
              </a:ext>
            </a:extLst>
          </p:cNvPr>
          <p:cNvSpPr/>
          <p:nvPr/>
        </p:nvSpPr>
        <p:spPr>
          <a:xfrm>
            <a:off x="657955" y="1056876"/>
            <a:ext cx="10303960" cy="59230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0849C6-D847-0B1A-D41A-DE4EADC1A238}"/>
              </a:ext>
            </a:extLst>
          </p:cNvPr>
          <p:cNvCxnSpPr>
            <a:cxnSpLocks/>
          </p:cNvCxnSpPr>
          <p:nvPr/>
        </p:nvCxnSpPr>
        <p:spPr>
          <a:xfrm>
            <a:off x="7647215" y="1649185"/>
            <a:ext cx="0" cy="127362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CABD50-E42E-2DE7-1481-C5B290D2B760}"/>
              </a:ext>
            </a:extLst>
          </p:cNvPr>
          <p:cNvSpPr txBox="1"/>
          <p:nvPr/>
        </p:nvSpPr>
        <p:spPr>
          <a:xfrm>
            <a:off x="5089181" y="2922814"/>
            <a:ext cx="5736662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Criamos nossa própria classe de exceção, herdando da classe base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sz="2000"/>
              <a:t> e apenas acrescentando uma </a:t>
            </a:r>
            <a:r>
              <a:rPr lang="en-US" sz="2000" i="1"/>
              <a:t>docstring</a:t>
            </a:r>
            <a:r>
              <a:rPr lang="en-US" sz="2000"/>
              <a:t> descritiva.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E8D3C1-FDB8-12DA-BFD2-35B657141CE8}"/>
              </a:ext>
            </a:extLst>
          </p:cNvPr>
          <p:cNvSpPr/>
          <p:nvPr/>
        </p:nvSpPr>
        <p:spPr>
          <a:xfrm>
            <a:off x="1430840" y="6192688"/>
            <a:ext cx="7898218" cy="33265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AD4D00-B8B5-CC68-F307-0C625531516A}"/>
              </a:ext>
            </a:extLst>
          </p:cNvPr>
          <p:cNvCxnSpPr>
            <a:cxnSpLocks/>
          </p:cNvCxnSpPr>
          <p:nvPr/>
        </p:nvCxnSpPr>
        <p:spPr>
          <a:xfrm flipV="1">
            <a:off x="8915401" y="5312229"/>
            <a:ext cx="0" cy="8804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48B393-374A-7281-D0D8-C960DEFA4D78}"/>
              </a:ext>
            </a:extLst>
          </p:cNvPr>
          <p:cNvSpPr txBox="1"/>
          <p:nvPr/>
        </p:nvSpPr>
        <p:spPr>
          <a:xfrm>
            <a:off x="5943710" y="4604343"/>
            <a:ext cx="5736662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Se a exceção for lançada, o código retorna ao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sz="2000"/>
              <a:t> e busca 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sz="2000"/>
              <a:t> apropriada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7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12" grpId="0" animBg="1"/>
      <p:bldP spid="1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10AD-93C2-ED81-BFA3-B7BFE98D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6</a:t>
            </a:r>
            <a:endParaRPr lang="pt-B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91FD0B-0C00-322B-BCEE-806E2FD3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757415"/>
              </p:ext>
            </p:extLst>
          </p:nvPr>
        </p:nvGraphicFramePr>
        <p:xfrm>
          <a:off x="173221" y="1428421"/>
          <a:ext cx="11750739" cy="493776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7505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display_average_salary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average_salary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calculate_average_salary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f"A média salarial é: R${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average_salary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process_employee_file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'r'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next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line_counter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      for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in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line_counter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+=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1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fields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line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strip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split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fields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!=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00"/>
                          </a:solidFill>
                          <a:effectLst/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raise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IncompatibleNumberOfColumns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f"Erro: a linha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line_counter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possui {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len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fields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  colunas. Devem existir 3 colunas."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fields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employee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add_employee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>
                        <a:effectLst/>
                      </a:endParaRPr>
                    </a:p>
                    <a:p>
                      <a:endParaRPr lang="en-US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C8F70DA-7063-4ACD-E526-0ECC7F4BA05E}"/>
              </a:ext>
            </a:extLst>
          </p:cNvPr>
          <p:cNvSpPr/>
          <p:nvPr/>
        </p:nvSpPr>
        <p:spPr>
          <a:xfrm>
            <a:off x="1447169" y="3041596"/>
            <a:ext cx="1377673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F02071-F6A8-DC40-3284-2F90C705761F}"/>
              </a:ext>
            </a:extLst>
          </p:cNvPr>
          <p:cNvSpPr txBox="1"/>
          <p:nvPr/>
        </p:nvSpPr>
        <p:spPr>
          <a:xfrm>
            <a:off x="7332378" y="2544631"/>
            <a:ext cx="3570296" cy="1323439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Pula a linha. Se o arquivo estiver vazio será lançada uma exceção do tipo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StopIteration</a:t>
            </a:r>
            <a:r>
              <a:rPr lang="en-US" sz="2000"/>
              <a:t>.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EF6529-962F-5B98-37C2-1C74904241D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24842" y="3206351"/>
            <a:ext cx="4507536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8267467-A6FF-9FB2-80FE-33417ABB482E}"/>
              </a:ext>
            </a:extLst>
          </p:cNvPr>
          <p:cNvSpPr/>
          <p:nvPr/>
        </p:nvSpPr>
        <p:spPr>
          <a:xfrm>
            <a:off x="608970" y="4711178"/>
            <a:ext cx="11093173" cy="579276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9C33D9B-CA93-8C20-5C9E-47F6688E219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148418" y="5290454"/>
            <a:ext cx="4436802" cy="812273"/>
          </a:xfrm>
          <a:prstGeom prst="bentConnector3">
            <a:avLst>
              <a:gd name="adj1" fmla="val -665"/>
            </a:avLst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C18C5ED-97CE-7665-074D-B398BF37FE19}"/>
              </a:ext>
            </a:extLst>
          </p:cNvPr>
          <p:cNvSpPr txBox="1"/>
          <p:nvPr/>
        </p:nvSpPr>
        <p:spPr>
          <a:xfrm>
            <a:off x="5585220" y="5748784"/>
            <a:ext cx="5578079" cy="707886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Lança a nossa exceção, que depois devemos capturar.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39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410AD-93C2-ED81-BFA3-B7BFE98D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6</a:t>
            </a:r>
            <a:endParaRPr lang="pt-BR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91FD0B-0C00-322B-BCEE-806E2FD30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855806"/>
              </p:ext>
            </p:extLst>
          </p:nvPr>
        </p:nvGraphicFramePr>
        <p:xfrm>
          <a:off x="173221" y="1026568"/>
          <a:ext cx="11750739" cy="586740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7505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5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60</a:t>
                      </a:r>
                      <a:endParaRPr lang="pt-BR" sz="175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</a:p>
                    <a:p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 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6.txt'</a:t>
                      </a:r>
                      <a:endParaRPr lang="pt-BR" sz="175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company 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Company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try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company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process_employee_file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company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display_average_salary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FileNotFoundError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"Erro: Arquivo não encontrado."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StopIteration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"Erro: Arquivo vazio"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ValueError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ZeroDivisionError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ImcompatibleNumberOfColumns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except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Exception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75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print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f"Ocorreu um erro inesperado: {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}"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endParaRPr lang="pt-BR" sz="1750" b="1">
                        <a:solidFill>
                          <a:srgbClr val="00008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75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"__main__"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75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75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75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pt-BR" sz="175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endParaRPr lang="en-US" sz="1750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AEFB904-5048-C811-975F-AA96D2743794}"/>
              </a:ext>
            </a:extLst>
          </p:cNvPr>
          <p:cNvSpPr/>
          <p:nvPr/>
        </p:nvSpPr>
        <p:spPr>
          <a:xfrm>
            <a:off x="787830" y="2935674"/>
            <a:ext cx="6072338" cy="3244109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35D06-6DB3-81AA-6293-4D2407CDD818}"/>
              </a:ext>
            </a:extLst>
          </p:cNvPr>
          <p:cNvSpPr txBox="1"/>
          <p:nvPr/>
        </p:nvSpPr>
        <p:spPr>
          <a:xfrm>
            <a:off x="7960757" y="4049896"/>
            <a:ext cx="357029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Captura as exceções que podem ser levantas pelas funções chamadas em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C610F6D-6AB2-BCA6-511E-BEDFB25D95EC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6860168" y="4557728"/>
            <a:ext cx="1100589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17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78AB-5168-E19C-476F-6CB84CBE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7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6AEA1-C216-A4BD-D669-3DD30CB1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Vamos agora considerar que queremos atualizar o arquivo do Exemplo 6 com a possibilidade de adicionar um funcionário. Poderíamos fazer isso modificando a própria solução do Exemplo 6. Entretanto, vamos criar um código específico para não aumentar o tamanho código do Exemplo 4.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3896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B111-FD99-C3B8-313B-3FE9C04E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Exemplo 7</a:t>
            </a:r>
            <a:endParaRPr lang="pt-BR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72206-5163-676D-0FC7-58C22F7C3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463865"/>
              </p:ext>
            </p:extLst>
          </p:nvPr>
        </p:nvGraphicFramePr>
        <p:xfrm>
          <a:off x="220630" y="1025390"/>
          <a:ext cx="11750739" cy="5486400"/>
        </p:xfrm>
        <a:graphic>
          <a:graphicData uri="http://schemas.openxmlformats.org/drawingml/2006/table">
            <a:tbl>
              <a:tblPr firstRow="1" firstCol="1" bandRow="1"/>
              <a:tblGrid>
                <a:gridCol w="420836">
                  <a:extLst>
                    <a:ext uri="{9D8B030D-6E8A-4147-A177-3AD203B41FA5}">
                      <a16:colId xmlns:a16="http://schemas.microsoft.com/office/drawing/2014/main" val="1226536794"/>
                    </a:ext>
                  </a:extLst>
                </a:gridCol>
                <a:gridCol w="11329903">
                  <a:extLst>
                    <a:ext uri="{9D8B030D-6E8A-4147-A177-3AD203B41FA5}">
                      <a16:colId xmlns:a16="http://schemas.microsoft.com/office/drawing/2014/main" val="1399388831"/>
                    </a:ext>
                  </a:extLst>
                </a:gridCol>
              </a:tblGrid>
              <a:tr h="4575052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8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9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10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11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12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13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pt-BR" sz="1800"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14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15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16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17</a:t>
                      </a:r>
                    </a:p>
                    <a:p>
                      <a:pPr marL="0" marR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18</a:t>
                      </a: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add_employee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with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open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'a'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as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write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f"{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:&lt;9}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emp_id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:&lt;6} {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:.2f}\n"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__init__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name </a:t>
                      </a: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 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emp_id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self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():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8000"/>
                          </a:solidFill>
                          <a:effectLst/>
                          <a:latin typeface="Courier New" panose="02070309020205020404" pitchFamily="49" charset="0"/>
                        </a:rPr>
                        <a:t># Deveria haver um tratamento de erros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file_path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'Exemplo 6.txt’</a:t>
                      </a:r>
                      <a:endParaRPr lang="pt-BR" sz="18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 b="1">
                          <a:solidFill>
                            <a:srgbClr val="880088"/>
                          </a:solidFill>
                          <a:effectLst/>
                          <a:latin typeface="Courier New" panose="02070309020205020404" pitchFamily="49" charset="0"/>
                        </a:rPr>
                        <a:t>input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"Digite o nome, o id e o salário do funcionário, separados por espaço: "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split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employee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name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emp_id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salary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add_employee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file_path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employee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endParaRPr lang="pt-BR" sz="18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  <a:p>
                      <a:r>
                        <a:rPr lang="pt-BR" sz="1800" b="1"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__name__ 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effectLst/>
                          <a:latin typeface="Courier New" panose="02070309020205020404" pitchFamily="49" charset="0"/>
                        </a:rPr>
                        <a:t>'__main__’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</a:p>
                    <a:p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main</a:t>
                      </a:r>
                      <a:r>
                        <a:rPr lang="pt-BR" sz="1800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</a:rPr>
                        <a:t>()</a:t>
                      </a:r>
                      <a:endParaRPr lang="pt-BR">
                        <a:effectLst/>
                      </a:endParaRPr>
                    </a:p>
                  </a:txBody>
                  <a:tcPr marL="46419" marR="464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24940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D160F88-4C91-E20E-958D-F2545D5A2866}"/>
              </a:ext>
            </a:extLst>
          </p:cNvPr>
          <p:cNvSpPr/>
          <p:nvPr/>
        </p:nvSpPr>
        <p:spPr>
          <a:xfrm>
            <a:off x="3791674" y="1251799"/>
            <a:ext cx="593979" cy="329510"/>
          </a:xfrm>
          <a:prstGeom prst="rect">
            <a:avLst/>
          </a:prstGeom>
          <a:solidFill>
            <a:srgbClr val="99CCFF">
              <a:alpha val="40000"/>
            </a:srgbClr>
          </a:solidFill>
          <a:ln>
            <a:solidFill>
              <a:srgbClr val="B4CC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833F438-8038-1CB9-6C44-1F2B3C5700DF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rot="5400000" flipH="1" flipV="1">
            <a:off x="5199324" y="-270171"/>
            <a:ext cx="411311" cy="2632631"/>
          </a:xfrm>
          <a:prstGeom prst="bentConnector2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2E43AB6-8DD3-E0DF-4278-3CA0C8E1AFA7}"/>
              </a:ext>
            </a:extLst>
          </p:cNvPr>
          <p:cNvSpPr txBox="1"/>
          <p:nvPr/>
        </p:nvSpPr>
        <p:spPr>
          <a:xfrm>
            <a:off x="6721295" y="332656"/>
            <a:ext cx="3570296" cy="1015663"/>
          </a:xfrm>
          <a:prstGeom prst="rect">
            <a:avLst/>
          </a:prstGeom>
          <a:solidFill>
            <a:srgbClr val="99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/>
              <a:t>Usamoa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r>
              <a:rPr lang="en-US" sz="2000"/>
              <a:t> para atualizar o arquivo, ou seja, escrever no final dele</a:t>
            </a:r>
            <a:endParaRPr lang="en-US" sz="20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3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6B654-6B0D-EA10-25A8-83B43770F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CSV Files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42DA8-5CF1-BA29-2193-1526AD7A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Arquivos CSV (</a:t>
            </a:r>
            <a:r>
              <a:rPr lang="en-US" i="1"/>
              <a:t>Comma-Separeted Values</a:t>
            </a:r>
            <a:r>
              <a:rPr lang="en-US"/>
              <a:t>) são um tipo de arquivo texto que possuem dados separados por determinado caracter</a:t>
            </a:r>
          </a:p>
          <a:p>
            <a:pPr lvl="1"/>
            <a:r>
              <a:rPr lang="en-US"/>
              <a:t>Os caracteres mais usados são vírgula (,) e ponto e vírgula (;)</a:t>
            </a:r>
            <a:endParaRPr lang="pt-BR"/>
          </a:p>
          <a:p>
            <a:r>
              <a:rPr lang="en-US"/>
              <a:t>Veja que o arquivo de entrada do Exemplo 4 era um CSV</a:t>
            </a:r>
          </a:p>
          <a:p>
            <a:pPr lvl="1"/>
            <a:r>
              <a:rPr lang="en-US"/>
              <a:t>Entretanto, espaço muitas vezes é incoveniente porque um campo pode precisar de mais de uma palavra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64409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 Padrão" id="{5B42EFA3-33EE-47DD-A488-DB78A38E859A}" vid="{2CFE1DDC-F190-4E49-9E1E-3C869FC37C8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Padrão</Template>
  <TotalTime>12058</TotalTime>
  <Words>3875</Words>
  <Application>Microsoft Office PowerPoint</Application>
  <PresentationFormat>Widescreen</PresentationFormat>
  <Paragraphs>734</Paragraphs>
  <Slides>40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Courier New</vt:lpstr>
      <vt:lpstr>Garamond</vt:lpstr>
      <vt:lpstr>Wingdings</vt:lpstr>
      <vt:lpstr>Tema Padrão</vt:lpstr>
      <vt:lpstr>17 – Arquivos </vt:lpstr>
      <vt:lpstr>Duas Categorias </vt:lpstr>
      <vt:lpstr>Abertura do Arquivo</vt:lpstr>
      <vt:lpstr>Abertura do Arquivo</vt:lpstr>
      <vt:lpstr>Abertura do Arquivo</vt:lpstr>
      <vt:lpstr>Abertura do Arquivo</vt:lpstr>
      <vt:lpstr>Abertura do Arquivo</vt:lpstr>
      <vt:lpstr>Abertura do Arquivo</vt:lpstr>
      <vt:lpstr>Abertura e Leitura</vt:lpstr>
      <vt:lpstr>Abertura do Arquivo</vt:lpstr>
      <vt:lpstr>Abertura e Leitura</vt:lpstr>
      <vt:lpstr>Abertura e Leitura</vt:lpstr>
      <vt:lpstr>Abertura e Leitura</vt:lpstr>
      <vt:lpstr>Abertura e Leitura</vt:lpstr>
      <vt:lpstr>Exemplo 1 (Versão com erro)</vt:lpstr>
      <vt:lpstr>Exemplo 1 (Versão com erro)</vt:lpstr>
      <vt:lpstr>Exemplo 1 (Versão com erro)</vt:lpstr>
      <vt:lpstr>Exemplo 1 (Versão corrigida)</vt:lpstr>
      <vt:lpstr>Exemplo 1 (Observações Finais)</vt:lpstr>
      <vt:lpstr>Leitura: método readlines</vt:lpstr>
      <vt:lpstr>Exemplo 2</vt:lpstr>
      <vt:lpstr>Exemplo 2</vt:lpstr>
      <vt:lpstr>Leitura: método readlines</vt:lpstr>
      <vt:lpstr>Leitura: método readline</vt:lpstr>
      <vt:lpstr>Exemplo 3</vt:lpstr>
      <vt:lpstr>Exemplo 3</vt:lpstr>
      <vt:lpstr>Exemplo 3</vt:lpstr>
      <vt:lpstr>Exemplo 3</vt:lpstr>
      <vt:lpstr>Exemplo 3</vt:lpstr>
      <vt:lpstr>Escrita</vt:lpstr>
      <vt:lpstr>Exemplo 4</vt:lpstr>
      <vt:lpstr>Exemplo 5</vt:lpstr>
      <vt:lpstr>Exemplo 5</vt:lpstr>
      <vt:lpstr>Exemplo 6</vt:lpstr>
      <vt:lpstr>Exemplo 6</vt:lpstr>
      <vt:lpstr>Exemplo 6</vt:lpstr>
      <vt:lpstr>Exemplo 6</vt:lpstr>
      <vt:lpstr>Exemplo 7</vt:lpstr>
      <vt:lpstr>Exemplo 7</vt:lpstr>
      <vt:lpstr>CSV 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Aprendizagem por Reforço</dc:title>
  <dc:creator>Usuario</dc:creator>
  <cp:lastModifiedBy>Thiago</cp:lastModifiedBy>
  <cp:revision>703</cp:revision>
  <dcterms:created xsi:type="dcterms:W3CDTF">2017-06-20T21:36:17Z</dcterms:created>
  <dcterms:modified xsi:type="dcterms:W3CDTF">2024-09-27T16:56:47Z</dcterms:modified>
</cp:coreProperties>
</file>