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317" r:id="rId3"/>
    <p:sldId id="318" r:id="rId4"/>
    <p:sldId id="319" r:id="rId5"/>
    <p:sldId id="321" r:id="rId6"/>
    <p:sldId id="322" r:id="rId7"/>
    <p:sldId id="325" r:id="rId8"/>
    <p:sldId id="323" r:id="rId9"/>
    <p:sldId id="328" r:id="rId10"/>
    <p:sldId id="329" r:id="rId11"/>
    <p:sldId id="332" r:id="rId12"/>
    <p:sldId id="350" r:id="rId13"/>
    <p:sldId id="331" r:id="rId14"/>
    <p:sldId id="334" r:id="rId15"/>
    <p:sldId id="335" r:id="rId16"/>
    <p:sldId id="327" r:id="rId17"/>
    <p:sldId id="337" r:id="rId18"/>
    <p:sldId id="341" r:id="rId19"/>
    <p:sldId id="339" r:id="rId20"/>
    <p:sldId id="342" r:id="rId21"/>
    <p:sldId id="343" r:id="rId22"/>
    <p:sldId id="344" r:id="rId23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0AAB"/>
    <a:srgbClr val="F20CD1"/>
    <a:srgbClr val="B4CCFF"/>
    <a:srgbClr val="99CCFF"/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11" autoAdjust="0"/>
    <p:restoredTop sz="83852" autoAdjust="0"/>
  </p:normalViewPr>
  <p:slideViewPr>
    <p:cSldViewPr snapToGrid="0">
      <p:cViewPr varScale="1">
        <p:scale>
          <a:sx n="119" d="100"/>
          <a:sy n="119" d="100"/>
        </p:scale>
        <p:origin x="1282" y="7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06/09/2024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8148AED-315F-E91B-3B6C-3A82C89EB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530725"/>
          </a:xfrm>
          <a:prstGeom prst="rect">
            <a:avLst/>
          </a:prstGeo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3DC9D92-526D-7715-5FA4-71A403A4F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>
            <a:extLst>
              <a:ext uri="{FF2B5EF4-FFF2-40B4-BE49-F238E27FC236}">
                <a16:creationId xmlns:a16="http://schemas.microsoft.com/office/drawing/2014/main" id="{427D14DF-83DE-F719-FBAD-88FFC9730F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6EAA96D-8897-9CF0-B996-15DEBA29D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3272354-4A89-A704-CDAF-30F2735FA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05 – Orientação a Objetos (III – Herança  e Polimorfismo – Parte 1)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6435" y="5131487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4A016C-E75B-E73C-00CA-10BE9AA7D1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295401"/>
            <a:ext cx="10972800" cy="45307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Na última aula modelamos um funcionário de uma empresa: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E0C2F4-7ECD-68D0-EE48-67E014060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Introdução</a:t>
            </a:r>
            <a:endParaRPr lang="pt-B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187425-CFAA-00D5-D8C0-AE80FE345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665399"/>
              </p:ext>
            </p:extLst>
          </p:nvPr>
        </p:nvGraphicFramePr>
        <p:xfrm>
          <a:off x="109585" y="2120505"/>
          <a:ext cx="11972829" cy="333373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33373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_employee_id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employee_id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f"Employee Name: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ID: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_employee_id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"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f"Salary: ${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12345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4000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7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4A016C-E75B-E73C-00CA-10BE9AA7D1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295401"/>
            <a:ext cx="10972800" cy="45307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Agora, consideremos que nossa empresa é um restaurante, com garçons, cozinheiros, etc</a:t>
            </a:r>
          </a:p>
          <a:p>
            <a:pPr lvl="1"/>
            <a:r>
              <a:rPr lang="en-US"/>
              <a:t>Todos esses funcionários possuem os atributos da 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/>
              <a:t>: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/>
              <a:t>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employee_id</a:t>
            </a:r>
            <a:r>
              <a:rPr lang="en-US"/>
              <a:t> 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salary</a:t>
            </a:r>
            <a:r>
              <a:rPr lang="en-US"/>
              <a:t>.</a:t>
            </a:r>
          </a:p>
          <a:p>
            <a:pPr lvl="1"/>
            <a:r>
              <a:rPr lang="en-US"/>
              <a:t>Entretanto, eles também possuem atributos específicos</a:t>
            </a:r>
          </a:p>
          <a:p>
            <a:pPr lvl="2"/>
            <a:r>
              <a:rPr lang="en-US"/>
              <a:t>Cozinheiros: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specialty</a:t>
            </a:r>
            <a:r>
              <a:rPr lang="en-US"/>
              <a:t> 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menu_contributions</a:t>
            </a:r>
          </a:p>
          <a:p>
            <a:pPr lvl="2"/>
            <a:r>
              <a:rPr lang="en-US"/>
              <a:t>Garçons: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section</a:t>
            </a:r>
            <a:r>
              <a:rPr lang="en-US"/>
              <a:t> 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languages</a:t>
            </a:r>
          </a:p>
          <a:p>
            <a:r>
              <a:rPr lang="en-US"/>
              <a:t>Como modelaríamos cada classe baseando-se na aula anterior?</a:t>
            </a:r>
          </a:p>
          <a:p>
            <a:endParaRPr lang="en-US"/>
          </a:p>
          <a:p>
            <a:pPr lvl="1"/>
            <a:endParaRPr lang="en-US"/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E0C2F4-7ECD-68D0-EE48-67E014060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Introdução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56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EF6361-382D-8805-CD38-681AA04B2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Cooker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B4D86A-F311-37F5-DC22-4C9B8E16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Introdução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8D694C-18BA-AE48-0464-5D7676B6E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023459"/>
              </p:ext>
            </p:extLst>
          </p:nvPr>
        </p:nvGraphicFramePr>
        <p:xfrm>
          <a:off x="44562" y="1908653"/>
          <a:ext cx="12086172" cy="4703516"/>
        </p:xfrm>
        <a:graphic>
          <a:graphicData uri="http://schemas.openxmlformats.org/drawingml/2006/table">
            <a:tbl>
              <a:tblPr firstRow="1" firstCol="1" bandRow="1"/>
              <a:tblGrid>
                <a:gridCol w="456290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62988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70351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Cooker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specialty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     menu_contributions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list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employee_id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salary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specialty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specialty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menu_contributions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f"Employee Name: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ID: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employee_id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"</a:t>
                      </a:r>
                    </a:p>
                    <a:p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    f"Salary: ${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:.2f}, Specialty: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specialty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"</a:t>
                      </a:r>
                    </a:p>
                    <a:p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    f"Menu Contributions: "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f"{', 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join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'None'} "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1EEB03B-883D-E146-CBF9-5936B6637524}"/>
              </a:ext>
            </a:extLst>
          </p:cNvPr>
          <p:cNvSpPr/>
          <p:nvPr/>
        </p:nvSpPr>
        <p:spPr>
          <a:xfrm>
            <a:off x="1086201" y="2706002"/>
            <a:ext cx="4139562" cy="89933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A3085-3319-800F-E458-96C442017832}"/>
              </a:ext>
            </a:extLst>
          </p:cNvPr>
          <p:cNvSpPr txBox="1"/>
          <p:nvPr/>
        </p:nvSpPr>
        <p:spPr>
          <a:xfrm>
            <a:off x="6889144" y="2847074"/>
            <a:ext cx="3642152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Repare nesse código para o próximo slide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5053B3-D9D9-C60B-EB51-C18B51D0A424}"/>
              </a:ext>
            </a:extLst>
          </p:cNvPr>
          <p:cNvCxnSpPr>
            <a:cxnSpLocks/>
          </p:cNvCxnSpPr>
          <p:nvPr/>
        </p:nvCxnSpPr>
        <p:spPr>
          <a:xfrm>
            <a:off x="5225763" y="3175328"/>
            <a:ext cx="166338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88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EF6361-382D-8805-CD38-681AA04B2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Waiter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B4D86A-F311-37F5-DC22-4C9B8E16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Introdução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8D694C-18BA-AE48-0464-5D7676B6E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99142"/>
              </p:ext>
            </p:extLst>
          </p:nvPr>
        </p:nvGraphicFramePr>
        <p:xfrm>
          <a:off x="44562" y="1908653"/>
          <a:ext cx="12086172" cy="4389120"/>
        </p:xfrm>
        <a:graphic>
          <a:graphicData uri="http://schemas.openxmlformats.org/drawingml/2006/table">
            <a:tbl>
              <a:tblPr firstRow="1" firstCol="1" bandRow="1"/>
              <a:tblGrid>
                <a:gridCol w="395672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69050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33373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Waiter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     languages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list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employee_id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salary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section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section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languages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languages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f"Employee Name: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ID: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employee_id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"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f"Salary: ${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:.2f}, Section: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section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"</a:t>
                      </a:r>
                    </a:p>
                    <a:p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    f"Languages: {', 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join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languages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languages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'None'} "</a:t>
                      </a:r>
                    </a:p>
                    <a:p>
                      <a:r>
                        <a:rPr lang="pt-BR" sz="1800" b="1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1EEB03B-883D-E146-CBF9-5936B6637524}"/>
              </a:ext>
            </a:extLst>
          </p:cNvPr>
          <p:cNvSpPr/>
          <p:nvPr/>
        </p:nvSpPr>
        <p:spPr>
          <a:xfrm>
            <a:off x="988298" y="2752390"/>
            <a:ext cx="4282137" cy="8129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A3085-3319-800F-E458-96C442017832}"/>
              </a:ext>
            </a:extLst>
          </p:cNvPr>
          <p:cNvSpPr txBox="1"/>
          <p:nvPr/>
        </p:nvSpPr>
        <p:spPr>
          <a:xfrm>
            <a:off x="6921567" y="2915635"/>
            <a:ext cx="3642152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Repetição dos atributos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5053B3-D9D9-C60B-EB51-C18B51D0A424}"/>
              </a:ext>
            </a:extLst>
          </p:cNvPr>
          <p:cNvCxnSpPr>
            <a:cxnSpLocks/>
          </p:cNvCxnSpPr>
          <p:nvPr/>
        </p:nvCxnSpPr>
        <p:spPr>
          <a:xfrm>
            <a:off x="5270435" y="3121266"/>
            <a:ext cx="166338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08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E2A014-44B6-C44D-CDA6-3F19DB58F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Notamos que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Waiter</a:t>
            </a:r>
            <a:r>
              <a:rPr lang="en-US"/>
              <a:t> 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Cooker</a:t>
            </a:r>
            <a:r>
              <a:rPr lang="en-US"/>
              <a:t>, sendo ambos funcionários, repetem diversos atributos</a:t>
            </a:r>
          </a:p>
          <a:p>
            <a:r>
              <a:rPr lang="en-US"/>
              <a:t>A repetição de código seria ainda maior se incluíssemos métodos para acessar e alterar os atributos comuns</a:t>
            </a:r>
          </a:p>
          <a:p>
            <a:r>
              <a:rPr lang="en-US"/>
              <a:t>Como evitar isso?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E6DB79-35BE-D784-BB62-DF2D5C5DB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Introdução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319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B83996-F8B2-BD44-D8DD-D98A91101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Abstração (A</a:t>
            </a:r>
            <a:r>
              <a:rPr lang="en-US" i="1"/>
              <a:t>bstraction</a:t>
            </a:r>
            <a:r>
              <a:rPr lang="en-US"/>
              <a:t>)</a:t>
            </a:r>
          </a:p>
          <a:p>
            <a:r>
              <a:rPr lang="en-US" i="1"/>
              <a:t>Data Hiding</a:t>
            </a:r>
          </a:p>
          <a:p>
            <a:r>
              <a:rPr lang="en-US"/>
              <a:t>Encapsulamento (</a:t>
            </a:r>
            <a:r>
              <a:rPr lang="en-US" i="1"/>
              <a:t>Encapsulation</a:t>
            </a:r>
            <a:r>
              <a:rPr lang="en-US"/>
              <a:t>)</a:t>
            </a:r>
          </a:p>
          <a:p>
            <a:r>
              <a:rPr lang="en-US"/>
              <a:t>Herança (</a:t>
            </a:r>
            <a:r>
              <a:rPr lang="en-US" i="1"/>
              <a:t>Inheritance</a:t>
            </a:r>
            <a:r>
              <a:rPr lang="en-US"/>
              <a:t>)</a:t>
            </a:r>
          </a:p>
          <a:p>
            <a:r>
              <a:rPr lang="en-US"/>
              <a:t>Polimorfismo (</a:t>
            </a:r>
            <a:r>
              <a:rPr lang="en-US" i="1"/>
              <a:t>Polymorphism</a:t>
            </a:r>
            <a:r>
              <a:rPr lang="en-US"/>
              <a:t>)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EC083A-2B79-354B-E5F9-5292717FA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</a:t>
            </a:r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752C53-5B0C-9105-776C-03406149C10B}"/>
              </a:ext>
            </a:extLst>
          </p:cNvPr>
          <p:cNvSpPr/>
          <p:nvPr/>
        </p:nvSpPr>
        <p:spPr>
          <a:xfrm>
            <a:off x="1014969" y="4327208"/>
            <a:ext cx="3897059" cy="52251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91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07DAF0-8A01-1CEC-355E-E335F6225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Colocamos os atributos comuns em uma classe, chamada de classe base</a:t>
            </a:r>
          </a:p>
          <a:p>
            <a:pPr lvl="1"/>
            <a:r>
              <a:rPr lang="en-US"/>
              <a:t>No nosso caso, a 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/>
              <a:t>Criamos as classes derivadas que vão herdar os atributos da classe base e acrescentam os seus específicos</a:t>
            </a:r>
          </a:p>
          <a:p>
            <a:pPr lvl="1"/>
            <a:r>
              <a:rPr lang="en-US"/>
              <a:t>No nosso caso, classes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Waiter</a:t>
            </a:r>
            <a:r>
              <a:rPr lang="en-US"/>
              <a:t> 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Cooker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55ABE7-23F9-AA96-5F50-7514ED85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Ideia Geral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99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1A244C-D4A2-6214-1927-53475ED34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reescrever usando herança</a:t>
            </a:r>
          </a:p>
          <a:p>
            <a:pPr lvl="1"/>
            <a:r>
              <a:rPr lang="en-US"/>
              <a:t>A 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/>
              <a:t> fica inalterada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25DC06-059E-75E7-675A-E9FDDF3C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BF1372-DE7B-C2BF-7912-86E602678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725133"/>
              </p:ext>
            </p:extLst>
          </p:nvPr>
        </p:nvGraphicFramePr>
        <p:xfrm>
          <a:off x="141750" y="2814347"/>
          <a:ext cx="11972829" cy="2547989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54798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_employee_id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employee_id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f"Employee Name: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ID: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_employee_id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"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f"Salary: ${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27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1A244C-D4A2-6214-1927-53475ED34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reescrever usando herança</a:t>
            </a:r>
          </a:p>
          <a:p>
            <a:pPr lvl="1"/>
            <a:r>
              <a:rPr lang="en-US"/>
              <a:t>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Cooker</a:t>
            </a:r>
            <a:r>
              <a:rPr lang="en-US"/>
              <a:t>: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25DC06-059E-75E7-675A-E9FDDF3C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BF1372-DE7B-C2BF-7912-86E602678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214497"/>
              </p:ext>
            </p:extLst>
          </p:nvPr>
        </p:nvGraphicFramePr>
        <p:xfrm>
          <a:off x="160129" y="2561623"/>
          <a:ext cx="11972829" cy="41148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54798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Cooker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specialty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       menu_contributions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list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specialty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specialty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menu_contributions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base_attributes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base_attributes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Specialty: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specialty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"</a:t>
                      </a:r>
                    </a:p>
                    <a:p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    f"Menu Contributions: "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f"{', 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join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'None'}"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CBA408-74DF-D141-716B-1B1D39918474}"/>
              </a:ext>
            </a:extLst>
          </p:cNvPr>
          <p:cNvSpPr/>
          <p:nvPr/>
        </p:nvSpPr>
        <p:spPr>
          <a:xfrm>
            <a:off x="2407248" y="2561623"/>
            <a:ext cx="1149264" cy="27347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42E11-C4B9-2949-87CD-37DA488D2911}"/>
              </a:ext>
            </a:extLst>
          </p:cNvPr>
          <p:cNvSpPr txBox="1"/>
          <p:nvPr/>
        </p:nvSpPr>
        <p:spPr>
          <a:xfrm>
            <a:off x="5219893" y="2457464"/>
            <a:ext cx="6028359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Indica que estamos herdando de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6ADBF8-4D6A-2F1F-4D0E-B4153150442C}"/>
              </a:ext>
            </a:extLst>
          </p:cNvPr>
          <p:cNvCxnSpPr>
            <a:cxnSpLocks/>
          </p:cNvCxnSpPr>
          <p:nvPr/>
        </p:nvCxnSpPr>
        <p:spPr>
          <a:xfrm>
            <a:off x="3556512" y="2698528"/>
            <a:ext cx="166338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4EF68A5-0610-A64F-0627-E6E5D9EEC0B4}"/>
              </a:ext>
            </a:extLst>
          </p:cNvPr>
          <p:cNvSpPr/>
          <p:nvPr/>
        </p:nvSpPr>
        <p:spPr>
          <a:xfrm>
            <a:off x="1194940" y="3358926"/>
            <a:ext cx="5876726" cy="31100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C2732-5078-2028-004E-35F1524A9FCE}"/>
              </a:ext>
            </a:extLst>
          </p:cNvPr>
          <p:cNvSpPr txBox="1"/>
          <p:nvPr/>
        </p:nvSpPr>
        <p:spPr>
          <a:xfrm>
            <a:off x="8575818" y="3151295"/>
            <a:ext cx="3265786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Chamamos o método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__init__</a:t>
            </a:r>
            <a:r>
              <a:rPr lang="en-US" sz="2000"/>
              <a:t> da classe base passando os atributos dele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7058B2-F774-81B0-24F0-AF87CF212C82}"/>
              </a:ext>
            </a:extLst>
          </p:cNvPr>
          <p:cNvCxnSpPr>
            <a:cxnSpLocks/>
          </p:cNvCxnSpPr>
          <p:nvPr/>
        </p:nvCxnSpPr>
        <p:spPr>
          <a:xfrm>
            <a:off x="7084324" y="3521795"/>
            <a:ext cx="149149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F1F2875-4323-F8FE-3FF2-AED45CCDD201}"/>
              </a:ext>
            </a:extLst>
          </p:cNvPr>
          <p:cNvSpPr/>
          <p:nvPr/>
        </p:nvSpPr>
        <p:spPr>
          <a:xfrm>
            <a:off x="1199535" y="3691212"/>
            <a:ext cx="6028359" cy="497949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383B2A-5339-951E-0605-E6094C647473}"/>
              </a:ext>
            </a:extLst>
          </p:cNvPr>
          <p:cNvSpPr txBox="1"/>
          <p:nvPr/>
        </p:nvSpPr>
        <p:spPr>
          <a:xfrm>
            <a:off x="8632279" y="4542341"/>
            <a:ext cx="3265786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Criamos os atributos específicos da classe derivada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Cooker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BDADB40-F891-628C-40E3-15F7232FCAFE}"/>
              </a:ext>
            </a:extLst>
          </p:cNvPr>
          <p:cNvCxnSpPr>
            <a:cxnSpLocks/>
          </p:cNvCxnSpPr>
          <p:nvPr/>
        </p:nvCxnSpPr>
        <p:spPr>
          <a:xfrm>
            <a:off x="7241679" y="3944781"/>
            <a:ext cx="1404385" cy="1082417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58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0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1A244C-D4A2-6214-1927-53475ED34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reescrever usando herança</a:t>
            </a:r>
          </a:p>
          <a:p>
            <a:pPr lvl="1"/>
            <a:r>
              <a:rPr lang="en-US"/>
              <a:t>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Cooker</a:t>
            </a:r>
            <a:r>
              <a:rPr lang="en-US"/>
              <a:t>: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25DC06-059E-75E7-675A-E9FDDF3C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BF1372-DE7B-C2BF-7912-86E602678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01429"/>
              </p:ext>
            </p:extLst>
          </p:nvPr>
        </p:nvGraphicFramePr>
        <p:xfrm>
          <a:off x="160129" y="2561623"/>
          <a:ext cx="11972829" cy="41148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54798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Cooker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specialty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       menu_contributions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list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specialty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specialty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menu_contributions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base_attributes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base_attributes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Specialty: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specialty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"</a:t>
                      </a:r>
                    </a:p>
                    <a:p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    f"Menu Contributions: "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f"{', 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join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'None'}"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A02C7E4-40D6-21C8-FCAB-44FFD539F8AA}"/>
              </a:ext>
            </a:extLst>
          </p:cNvPr>
          <p:cNvSpPr/>
          <p:nvPr/>
        </p:nvSpPr>
        <p:spPr>
          <a:xfrm>
            <a:off x="1176560" y="4742014"/>
            <a:ext cx="5876726" cy="33857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9EA3A3-BE73-9D72-0E0B-EBEC413E7186}"/>
              </a:ext>
            </a:extLst>
          </p:cNvPr>
          <p:cNvCxnSpPr>
            <a:cxnSpLocks/>
          </p:cNvCxnSpPr>
          <p:nvPr/>
        </p:nvCxnSpPr>
        <p:spPr>
          <a:xfrm>
            <a:off x="7053286" y="4909477"/>
            <a:ext cx="127740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1AD3FD8-AF5C-A858-4BA4-A35E0A24FC72}"/>
              </a:ext>
            </a:extLst>
          </p:cNvPr>
          <p:cNvSpPr txBox="1"/>
          <p:nvPr/>
        </p:nvSpPr>
        <p:spPr>
          <a:xfrm>
            <a:off x="8330690" y="4123692"/>
            <a:ext cx="3767880" cy="163121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Chamamos o método 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__str__</a:t>
            </a:r>
            <a:r>
              <a:rPr lang="en-US" sz="2000"/>
              <a:t> da classe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sz="2000"/>
              <a:t>, que retorna uma string descritiva dos atributos de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</a:p>
        </p:txBody>
      </p:sp>
    </p:spTree>
    <p:extLst>
      <p:ext uri="{BB962C8B-B14F-4D97-AF65-F5344CB8AC3E}">
        <p14:creationId xmlns:p14="http://schemas.microsoft.com/office/powerpoint/2010/main" val="315174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1A244C-D4A2-6214-1927-53475ED34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reescrever usando herança</a:t>
            </a:r>
          </a:p>
          <a:p>
            <a:pPr lvl="1"/>
            <a:r>
              <a:rPr lang="en-US"/>
              <a:t>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Cooker</a:t>
            </a:r>
            <a:r>
              <a:rPr lang="en-US"/>
              <a:t>: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25DC06-059E-75E7-675A-E9FDDF3C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BF1372-DE7B-C2BF-7912-86E602678055}"/>
              </a:ext>
            </a:extLst>
          </p:cNvPr>
          <p:cNvGraphicFramePr>
            <a:graphicFrameLocks noGrp="1"/>
          </p:cNvGraphicFramePr>
          <p:nvPr/>
        </p:nvGraphicFramePr>
        <p:xfrm>
          <a:off x="160129" y="2561623"/>
          <a:ext cx="11972829" cy="41148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54798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Cooker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specialty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       menu_contributions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list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specialty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specialty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menu_contributions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base_attributes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base_attributes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Specialty: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specialty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"</a:t>
                      </a:r>
                    </a:p>
                    <a:p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    f"Menu Contributions: "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f"{', 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join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'None'}"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A02C7E4-40D6-21C8-FCAB-44FFD539F8AA}"/>
              </a:ext>
            </a:extLst>
          </p:cNvPr>
          <p:cNvSpPr/>
          <p:nvPr/>
        </p:nvSpPr>
        <p:spPr>
          <a:xfrm>
            <a:off x="1493614" y="5585621"/>
            <a:ext cx="2301835" cy="33857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AD3FD8-AF5C-A858-4BA4-A35E0A24FC72}"/>
              </a:ext>
            </a:extLst>
          </p:cNvPr>
          <p:cNvSpPr txBox="1"/>
          <p:nvPr/>
        </p:nvSpPr>
        <p:spPr>
          <a:xfrm>
            <a:off x="8330689" y="4551721"/>
            <a:ext cx="3767880" cy="132343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Concatenamos a mensagem descritiva dos atributos da classe base com os da classe derivada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75D58E05-6331-330E-7405-8341E8A530D0}"/>
              </a:ext>
            </a:extLst>
          </p:cNvPr>
          <p:cNvCxnSpPr>
            <a:cxnSpLocks/>
          </p:cNvCxnSpPr>
          <p:nvPr/>
        </p:nvCxnSpPr>
        <p:spPr>
          <a:xfrm flipV="1">
            <a:off x="2576372" y="5224486"/>
            <a:ext cx="5754317" cy="328970"/>
          </a:xfrm>
          <a:prstGeom prst="bentConnector3">
            <a:avLst>
              <a:gd name="adj1" fmla="val -228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69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1A244C-D4A2-6214-1927-53475ED34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reescrever usando herança</a:t>
            </a:r>
          </a:p>
          <a:p>
            <a:pPr lvl="1"/>
            <a:r>
              <a:rPr lang="en-US"/>
              <a:t>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Waiter</a:t>
            </a:r>
            <a:r>
              <a:rPr lang="en-US"/>
              <a:t>: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25DC06-059E-75E7-675A-E9FDDF3C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BF1372-DE7B-C2BF-7912-86E602678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16879"/>
              </p:ext>
            </p:extLst>
          </p:nvPr>
        </p:nvGraphicFramePr>
        <p:xfrm>
          <a:off x="160129" y="2561623"/>
          <a:ext cx="11972829" cy="3632403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63240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Waiter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       languages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list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section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section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languages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languages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base_attributes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base_attributes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Section: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section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"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f"Languages: {', 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join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languages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languages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'None'} "</a:t>
                      </a:r>
                    </a:p>
                    <a:p>
                      <a:r>
                        <a:rPr lang="pt-BR" sz="1800" b="1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>
                          <a:effectLst/>
                        </a:rPr>
                        <a:t>        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15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0F306E-6FAB-3F12-FA35-349FAB098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2131"/>
            <a:ext cx="10972800" cy="4530725"/>
          </a:xfrm>
        </p:spPr>
        <p:txBody>
          <a:bodyPr/>
          <a:lstStyle/>
          <a:p>
            <a:r>
              <a:rPr lang="en-US"/>
              <a:t>Agora podemos criar os objetos para testar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B14604-8837-0B35-58FB-C2ACBF7CA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E35B05-7953-FB29-11BC-619E8A829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036725"/>
              </p:ext>
            </p:extLst>
          </p:nvPr>
        </p:nvGraphicFramePr>
        <p:xfrm>
          <a:off x="219171" y="1604261"/>
          <a:ext cx="11972829" cy="5017098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017098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remy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Cooker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"Remy"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001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12000.00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specialty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"Cozinha Italiana"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=[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"Ratatouille"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"Fettuccine Alfredo"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linguini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Waiter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"Linguini"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002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5000.00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"Ala 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languages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=[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"Inglês"</a:t>
                      </a:r>
                      <a:r>
                        <a:rPr lang="pt-BR" altLang="ko-K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ko-KR" alt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altLang="ko-K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Francês"</a:t>
                      </a:r>
                      <a:r>
                        <a:rPr lang="pt-BR" altLang="ko-K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en-US" altLang="ko-K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altLang="ko-K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altLang="ko-K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remy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linguini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pic>
        <p:nvPicPr>
          <p:cNvPr id="1026" name="Picture 2" descr="Ratatouille: Alfredo Linguini [INFP 6w7] – Funky MBTI">
            <a:extLst>
              <a:ext uri="{FF2B5EF4-FFF2-40B4-BE49-F238E27FC236}">
                <a16:creationId xmlns:a16="http://schemas.microsoft.com/office/drawing/2014/main" id="{BFA3F2C7-968E-2919-AA4D-DB6E8CA5E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833" y="3571901"/>
            <a:ext cx="3978681" cy="239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295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8ADD2A-B777-5C79-67D9-16C512A48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Note que não criamos objetos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</a:p>
          <a:p>
            <a:pPr lvl="1"/>
            <a:r>
              <a:rPr lang="en-US"/>
              <a:t>Por vezes, a classe base é usada apenas como um molde para as classes derivadas reunindo os atributos comuns a elas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7F11CF-C13F-F264-0FDC-E321EBD5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17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F0FB6C-B912-EAD6-BFFB-75FADB964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Herança é conhecida como </a:t>
            </a:r>
            <a:r>
              <a:rPr lang="en-US" i="1"/>
              <a:t>is-a relationship</a:t>
            </a:r>
            <a:endParaRPr lang="en-US"/>
          </a:p>
          <a:p>
            <a:pPr lvl="1"/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Waiter</a:t>
            </a:r>
            <a:r>
              <a:rPr lang="pt-BR"/>
              <a:t> é um [tipo de]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</a:p>
          <a:p>
            <a:pPr lvl="1"/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Cooker</a:t>
            </a:r>
            <a:r>
              <a:rPr lang="pt-BR"/>
              <a:t> é um [tipo de]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62EFF0-2CCF-5B7C-5791-AD76C43D2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Is-a relationship</a:t>
            </a:r>
            <a:endParaRPr lang="pt-BR" i="1"/>
          </a:p>
        </p:txBody>
      </p:sp>
    </p:spTree>
    <p:extLst>
      <p:ext uri="{BB962C8B-B14F-4D97-AF65-F5344CB8AC3E}">
        <p14:creationId xmlns:p14="http://schemas.microsoft.com/office/powerpoint/2010/main" val="361969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A648A0-B07F-50B3-E329-90705A10B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Exemplo 1, na classe derivada, chamamos 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__init__ </a:t>
            </a:r>
            <a:r>
              <a:rPr lang="en-US"/>
              <a:t>da classe base usando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en-US"/>
              <a:t>. Também é possível usar o nome da classe: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70DC18-8BF9-BD90-CDD3-563D8A0F0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Alternativa 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394149-9576-C98B-909B-1FC8E15B1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889264"/>
              </p:ext>
            </p:extLst>
          </p:nvPr>
        </p:nvGraphicFramePr>
        <p:xfrm>
          <a:off x="54285" y="2809752"/>
          <a:ext cx="11972829" cy="384048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54798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Cooker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specialty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       menu_contributions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list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>
                        <a:effectLst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specialty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specialty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menu_contributions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base_attributes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base_attributes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Specialty: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specialty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"</a:t>
                      </a:r>
                    </a:p>
                    <a:p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      f"Menu Contributions: "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75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f"{', '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join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menu_contributions </a:t>
                      </a:r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'None'}"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8605C26-76E5-3AF4-91CF-1EC3F6B8B4FC}"/>
              </a:ext>
            </a:extLst>
          </p:cNvPr>
          <p:cNvSpPr/>
          <p:nvPr/>
        </p:nvSpPr>
        <p:spPr>
          <a:xfrm>
            <a:off x="1075791" y="3650921"/>
            <a:ext cx="6896489" cy="282377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7A4F03-164D-8630-FD05-ED43C0184617}"/>
              </a:ext>
            </a:extLst>
          </p:cNvPr>
          <p:cNvSpPr txBox="1"/>
          <p:nvPr/>
        </p:nvSpPr>
        <p:spPr>
          <a:xfrm>
            <a:off x="8249189" y="4628758"/>
            <a:ext cx="3671385" cy="677108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rgbClr val="000080"/>
                </a:solidFill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880088"/>
                </a:solidFill>
                <a:latin typeface="Courier New" panose="02070309020205020404" pitchFamily="49" charset="0"/>
              </a:rPr>
              <a:t>super</a:t>
            </a:r>
            <a:r>
              <a:rPr lang="pt-BR" b="1">
                <a:solidFill>
                  <a:srgbClr val="000080"/>
                </a:solidFill>
                <a:latin typeface="Courier New" panose="02070309020205020404" pitchFamily="49" charset="0"/>
              </a:rPr>
              <a:t>().</a:t>
            </a:r>
            <a:r>
              <a:rPr lang="pt-BR">
                <a:solidFill>
                  <a:srgbClr val="000000"/>
                </a:solidFill>
                <a:latin typeface="Courier New" panose="02070309020205020404" pitchFamily="49" charset="0"/>
              </a:rPr>
              <a:t>__init__</a:t>
            </a:r>
            <a:r>
              <a:rPr lang="pt-BR" b="1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>
                <a:solidFill>
                  <a:srgbClr val="000000"/>
                </a:solidFill>
                <a:latin typeface="Courier New" panose="02070309020205020404" pitchFamily="49" charset="0"/>
              </a:rPr>
              <a:t>name</a:t>
            </a:r>
            <a:r>
              <a:rPr lang="pt-BR" b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pt-BR">
                <a:solidFill>
                  <a:srgbClr val="000000"/>
                </a:solidFill>
                <a:latin typeface="Courier New" panose="02070309020205020404" pitchFamily="49" charset="0"/>
              </a:rPr>
              <a:t> employee_id</a:t>
            </a:r>
            <a:r>
              <a:rPr lang="pt-BR" b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pt-BR">
                <a:solidFill>
                  <a:srgbClr val="000000"/>
                </a:solidFill>
                <a:latin typeface="Courier New" panose="02070309020205020404" pitchFamily="49" charset="0"/>
              </a:rPr>
              <a:t> salary</a:t>
            </a:r>
            <a:r>
              <a:rPr lang="pt-BR" b="1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730A57D-1B7B-C3F0-7E6A-62CAA52B23F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972280" y="3763284"/>
            <a:ext cx="2112602" cy="865474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3C4B202-E8A8-2F95-A4AC-6F1087F4E48E}"/>
              </a:ext>
            </a:extLst>
          </p:cNvPr>
          <p:cNvSpPr txBox="1"/>
          <p:nvPr/>
        </p:nvSpPr>
        <p:spPr>
          <a:xfrm>
            <a:off x="10119344" y="3806225"/>
            <a:ext cx="1463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Equivalente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18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EE7E78-FA53-8997-85F4-67C09C9B8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0246"/>
            <a:ext cx="10972800" cy="2403555"/>
          </a:xfrm>
        </p:spPr>
        <p:txBody>
          <a:bodyPr/>
          <a:lstStyle/>
          <a:p>
            <a:r>
              <a:rPr lang="en-US"/>
              <a:t>Vamos criar um sistema que calcule o preço final de uma compra de um livro, que pode ser físico ou digital. Consideremos também que nas compras digitais possa ser aplicado um desconto sobre o preço base, como um incentivo pelo menor custo.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A7DB0C-14DC-5F75-AF3F-F813D31F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FEA378-F0F2-3A5E-1021-6EE531CB6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479237"/>
              </p:ext>
            </p:extLst>
          </p:nvPr>
        </p:nvGraphicFramePr>
        <p:xfrm>
          <a:off x="77420" y="3691986"/>
          <a:ext cx="11972829" cy="3085601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08560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order_id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base_price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order_id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order_id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base_price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base_price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FF8000"/>
                          </a:solidFill>
                          <a:effectLst/>
                          <a:latin typeface="Courier New" panose="02070309020205020404" pitchFamily="49" charset="0"/>
                        </a:rPr>
                        <a:t>"""Método genérico. Vamos sobrescrever nas classes derivadas. """</a:t>
                      </a:r>
                    </a:p>
                    <a:p>
                      <a:r>
                        <a:rPr lang="pt-BR" sz="1800">
                          <a:solidFill>
                            <a:srgbClr val="FF8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base_price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f"Order ID: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order_id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Base Price: ${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base_price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12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352B11-CAAC-AC92-A236-66D573588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E37B55-FEA0-7756-4981-E31E8B5CC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407854"/>
              </p:ext>
            </p:extLst>
          </p:nvPr>
        </p:nvGraphicFramePr>
        <p:xfrm>
          <a:off x="169321" y="1256650"/>
          <a:ext cx="11972829" cy="329184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54798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PhysicalOrder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order_id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base_price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shipping_cost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base_price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shipping_cost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shipping_cost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Sobrescrevendo o método de Order</a:t>
                      </a:r>
                    </a:p>
                    <a:p>
                      <a:r>
                        <a:rPr lang="pt-BR" sz="1800" b="1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base_price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shipping_cost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base_attributes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base_attributes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Shipping Cost: ${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shipping_cost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:.2f}"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33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352B11-CAAC-AC92-A236-66D573588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E37B55-FEA0-7756-4981-E31E8B5CC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736287"/>
              </p:ext>
            </p:extLst>
          </p:nvPr>
        </p:nvGraphicFramePr>
        <p:xfrm>
          <a:off x="169321" y="1256650"/>
          <a:ext cx="11972829" cy="329184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54798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DigitalOrder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order_id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base_price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discount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0.0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base_price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discount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discount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Sobrescrevendo o método de Order</a:t>
                      </a:r>
                    </a:p>
                    <a:p>
                      <a:r>
                        <a:rPr lang="pt-BR" sz="1800" b="1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base_price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discount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base_attributes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base_attributes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}, Discount: ${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discount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:.2f}"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352B11-CAAC-AC92-A236-66D573588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E37B55-FEA0-7756-4981-E31E8B5CC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29404"/>
              </p:ext>
            </p:extLst>
          </p:nvPr>
        </p:nvGraphicFramePr>
        <p:xfrm>
          <a:off x="169321" y="1256650"/>
          <a:ext cx="11972829" cy="3995406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99540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get_order_details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Order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order_type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"Entre com o tipo (physical/digital):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strip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order_id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"Entre com o ID: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base_price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"Entre com o preço base: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order_type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"physical"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shipping_cost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"Entre com o preço do frete: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PhysicalOrder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base_price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shipping_cost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order_type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"digital"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discount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"Entre com o desconto: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DigitalOrder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base_price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discount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"Opção inválida. Digite 'physical’ ou 'digital'.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get_order_details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07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352B11-CAAC-AC92-A236-66D573588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E37B55-FEA0-7756-4981-E31E8B5CC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960718"/>
              </p:ext>
            </p:extLst>
          </p:nvPr>
        </p:nvGraphicFramePr>
        <p:xfrm>
          <a:off x="169321" y="1256650"/>
          <a:ext cx="11972829" cy="3995406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99540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[]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num_orders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"Quantos livros?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_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num_orders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get_order_details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"\nResumo da Compra:"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order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orders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-&gt; Preço total: ${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order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__name__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"__main__"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71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13174</TotalTime>
  <Words>2559</Words>
  <Application>Microsoft Office PowerPoint</Application>
  <PresentationFormat>Widescreen</PresentationFormat>
  <Paragraphs>487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Courier New</vt:lpstr>
      <vt:lpstr>Garamond</vt:lpstr>
      <vt:lpstr>Wingdings</vt:lpstr>
      <vt:lpstr>Tema Padrão</vt:lpstr>
      <vt:lpstr>05 – Orientação a Objetos (III – Herança  e Polimorfismo – Parte 1)  </vt:lpstr>
      <vt:lpstr>Introdução</vt:lpstr>
      <vt:lpstr>Introdução</vt:lpstr>
      <vt:lpstr>Introdução</vt:lpstr>
      <vt:lpstr>Introdução</vt:lpstr>
      <vt:lpstr>Introdução</vt:lpstr>
      <vt:lpstr>Princípios de OOP</vt:lpstr>
      <vt:lpstr>Ideia Geral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Is-a relationship</vt:lpstr>
      <vt:lpstr>Alternativa a super()</vt:lpstr>
      <vt:lpstr>Exemplo 2</vt:lpstr>
      <vt:lpstr>Exemplo 2</vt:lpstr>
      <vt:lpstr>Exemplo 2</vt:lpstr>
      <vt:lpstr>Exemplo 2</vt:lpstr>
      <vt:lpstr>Exemplo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</cp:lastModifiedBy>
  <cp:revision>743</cp:revision>
  <dcterms:created xsi:type="dcterms:W3CDTF">2017-06-20T21:36:17Z</dcterms:created>
  <dcterms:modified xsi:type="dcterms:W3CDTF">2024-09-06T14:22:14Z</dcterms:modified>
</cp:coreProperties>
</file>