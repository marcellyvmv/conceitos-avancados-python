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30"/>
  </p:notesMasterIdLst>
  <p:sldIdLst>
    <p:sldId id="256" r:id="rId2"/>
    <p:sldId id="431" r:id="rId3"/>
    <p:sldId id="461" r:id="rId4"/>
    <p:sldId id="467" r:id="rId5"/>
    <p:sldId id="432" r:id="rId6"/>
    <p:sldId id="433" r:id="rId7"/>
    <p:sldId id="435" r:id="rId8"/>
    <p:sldId id="460" r:id="rId9"/>
    <p:sldId id="441" r:id="rId10"/>
    <p:sldId id="439" r:id="rId11"/>
    <p:sldId id="442" r:id="rId12"/>
    <p:sldId id="444" r:id="rId13"/>
    <p:sldId id="445" r:id="rId14"/>
    <p:sldId id="446" r:id="rId15"/>
    <p:sldId id="448" r:id="rId16"/>
    <p:sldId id="447" r:id="rId17"/>
    <p:sldId id="450" r:id="rId18"/>
    <p:sldId id="451" r:id="rId19"/>
    <p:sldId id="449" r:id="rId20"/>
    <p:sldId id="453" r:id="rId21"/>
    <p:sldId id="455" r:id="rId22"/>
    <p:sldId id="452" r:id="rId23"/>
    <p:sldId id="454" r:id="rId24"/>
    <p:sldId id="456" r:id="rId25"/>
    <p:sldId id="457" r:id="rId26"/>
    <p:sldId id="466" r:id="rId27"/>
    <p:sldId id="465" r:id="rId28"/>
    <p:sldId id="463" r:id="rId29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1" autoAdjust="0"/>
    <p:restoredTop sz="83852" autoAdjust="0"/>
  </p:normalViewPr>
  <p:slideViewPr>
    <p:cSldViewPr snapToGrid="0">
      <p:cViewPr varScale="1">
        <p:scale>
          <a:sx n="53" d="100"/>
          <a:sy n="53" d="100"/>
        </p:scale>
        <p:origin x="1348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09/10/2024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926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53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6879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36156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5748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6821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2921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68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403847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6879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5414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1893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175884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76817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6016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2504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1220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fitzp/books" TargetMode="External"/><Relationship Id="rId2" Type="http://schemas.openxmlformats.org/officeDocument/2006/relationships/hyperlink" Target="https://www.pythonguis.com/pyqt6-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CC34OHNcOtpmCA8s_dpPMvQLyHbvxocY" TargetMode="External"/><Relationship Id="rId2" Type="http://schemas.openxmlformats.org/officeDocument/2006/relationships/hyperlink" Target="https://www.youtube.com/watch?v=f_9NBdSAo-g&amp;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qt/qtbas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qt-6/qtwidgets-module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qt-6/qapplication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qt.io/qt-6/qapplication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240(01) – PyQt (Introdução)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F0BB-9353-63C7-6B1D-3A95C680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Referências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ED1E-9BD8-E93B-2737-EC7E5B9F6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9370685" cy="4530725"/>
          </a:xfrm>
        </p:spPr>
        <p:txBody>
          <a:bodyPr/>
          <a:lstStyle/>
          <a:p>
            <a:r>
              <a:rPr lang="en-US"/>
              <a:t>Create GUI Applications with Python &amp; Qt6 – The hands-on guide to making apps with Python</a:t>
            </a:r>
          </a:p>
          <a:p>
            <a:pPr lvl="1"/>
            <a:r>
              <a:rPr lang="pt-BR"/>
              <a:t>Martin Fitzpatrick</a:t>
            </a:r>
          </a:p>
          <a:p>
            <a:pPr lvl="2"/>
            <a:r>
              <a:rPr lang="pt-BR">
                <a:hlinkClick r:id="rId2"/>
              </a:rPr>
              <a:t>https://www.pythonguis.com/pyqt6-book/</a:t>
            </a:r>
            <a:r>
              <a:rPr lang="pt-BR"/>
              <a:t> </a:t>
            </a:r>
          </a:p>
          <a:p>
            <a:pPr lvl="1"/>
            <a:r>
              <a:rPr lang="pt-BR"/>
              <a:t>Os códigos fontes são disponibilizados gratuitamente no GitHub</a:t>
            </a:r>
          </a:p>
          <a:p>
            <a:pPr lvl="2"/>
            <a:r>
              <a:rPr lang="pt-BR">
                <a:hlinkClick r:id="rId3"/>
              </a:rPr>
              <a:t>https://github.com/mfitzp/books</a:t>
            </a:r>
            <a:r>
              <a:rPr lang="pt-BR"/>
              <a:t> </a:t>
            </a:r>
          </a:p>
          <a:p>
            <a:pPr lvl="1"/>
            <a:r>
              <a:rPr lang="pt-BR"/>
              <a:t>Ao longo do curso usaremos diversos códigos do livro adaptados do livro.</a:t>
            </a:r>
          </a:p>
          <a:p>
            <a:pPr marL="344487" lvl="1" indent="0">
              <a:buNone/>
            </a:pPr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EE36DB-7FCE-732D-C90C-ADBDC7B3A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515" y="1987716"/>
            <a:ext cx="1864218" cy="266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6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D07E-78A6-A2DD-17DF-B07F06A6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Vídeos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CFF7-327F-7871-656D-A54A044E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/>
              <a:t>Python App Development (Code With Josh)</a:t>
            </a:r>
          </a:p>
          <a:p>
            <a:pPr lvl="1"/>
            <a:r>
              <a:rPr lang="pt-BR">
                <a:hlinkClick r:id="rId2"/>
              </a:rPr>
              <a:t>https://www.youtube.com/watch?v=f_9NBdSAo-g&amp;t</a:t>
            </a:r>
            <a:r>
              <a:rPr lang="pt-BR"/>
              <a:t> </a:t>
            </a:r>
          </a:p>
          <a:p>
            <a:r>
              <a:rPr lang="pt-BR" i="1"/>
              <a:t>PyQt5 GUI Thursdays (Codemy.com)</a:t>
            </a:r>
          </a:p>
          <a:p>
            <a:pPr lvl="1"/>
            <a:r>
              <a:rPr lang="pt-BR" i="1">
                <a:hlinkClick r:id="rId3"/>
              </a:rPr>
              <a:t>https://www.youtube.com/playlist?list=PLCC34OHNcOtpmCA8s_dpPMvQLyHbvxocY</a:t>
            </a:r>
            <a:r>
              <a:rPr lang="pt-BR" i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098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6DD8-9F71-DEAC-56D8-63E5DD01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Instalação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FBE9A-B571-1BD0-21D5-88FE6D1A9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prompt de comando digite:</a:t>
            </a:r>
          </a:p>
          <a:p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6BC05-B09B-498B-2E9F-552DD49176EC}"/>
              </a:ext>
            </a:extLst>
          </p:cNvPr>
          <p:cNvSpPr txBox="1"/>
          <p:nvPr/>
        </p:nvSpPr>
        <p:spPr>
          <a:xfrm>
            <a:off x="6391609" y="1380096"/>
            <a:ext cx="2926999" cy="46166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pip3 install pyqt6</a:t>
            </a: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28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ADE7-1C4D-9074-5B81-F2516DDA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Conceitos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11A3-EE21-104D-AB00-0B37AA0F2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Open-source</a:t>
            </a:r>
          </a:p>
          <a:p>
            <a:pPr lvl="1"/>
            <a:r>
              <a:rPr lang="pt-BR"/>
              <a:t>Código fonte disponibilizado para o público permitindo redistribuição e modificação</a:t>
            </a:r>
          </a:p>
          <a:p>
            <a:r>
              <a:rPr lang="en-US" i="1"/>
              <a:t>Widget</a:t>
            </a:r>
          </a:p>
          <a:p>
            <a:pPr lvl="1"/>
            <a:r>
              <a:rPr lang="en-US"/>
              <a:t>Elemento de interação em uma interface gráfica (</a:t>
            </a:r>
            <a:r>
              <a:rPr lang="en-US" i="1"/>
              <a:t>Graphic User Interface </a:t>
            </a:r>
            <a:r>
              <a:rPr lang="en-US"/>
              <a:t>– GUI)</a:t>
            </a:r>
          </a:p>
          <a:p>
            <a:pPr lvl="2"/>
            <a:r>
              <a:rPr lang="en-US"/>
              <a:t>Exemplos: botão, barra de rolamento, caixa de diálogo, etc</a:t>
            </a:r>
          </a:p>
        </p:txBody>
      </p:sp>
    </p:spTree>
    <p:extLst>
      <p:ext uri="{BB962C8B-B14F-4D97-AF65-F5344CB8AC3E}">
        <p14:creationId xmlns:p14="http://schemas.microsoft.com/office/powerpoint/2010/main" val="325995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ADE7-1C4D-9074-5B81-F2516DDA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Conceitos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11A3-EE21-104D-AB00-0B37AA0F2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Widget toolkit (</a:t>
            </a:r>
            <a:r>
              <a:rPr lang="en-US" dirty="0" err="1"/>
              <a:t>ou</a:t>
            </a:r>
            <a:r>
              <a:rPr lang="en-US" i="1" dirty="0"/>
              <a:t> widget library)</a:t>
            </a:r>
          </a:p>
          <a:p>
            <a:pPr lvl="1"/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dirty="0" err="1"/>
              <a:t>contendo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coleção</a:t>
            </a:r>
            <a:r>
              <a:rPr lang="en-US" dirty="0"/>
              <a:t> de </a:t>
            </a:r>
            <a:r>
              <a:rPr lang="en-US" i="1" dirty="0"/>
              <a:t>widgets</a:t>
            </a:r>
            <a:r>
              <a:rPr lang="en-US" dirty="0"/>
              <a:t> para </a:t>
            </a:r>
            <a:r>
              <a:rPr lang="en-US" dirty="0" err="1"/>
              <a:t>construção</a:t>
            </a:r>
            <a:r>
              <a:rPr lang="en-US" dirty="0"/>
              <a:t> de interfaces </a:t>
            </a:r>
            <a:r>
              <a:rPr lang="en-US" dirty="0" err="1"/>
              <a:t>gráficas</a:t>
            </a:r>
            <a:r>
              <a:rPr lang="en-US" dirty="0"/>
              <a:t> (</a:t>
            </a:r>
            <a:r>
              <a:rPr lang="en-US" i="1" dirty="0"/>
              <a:t>Graphic User Interface </a:t>
            </a:r>
            <a:r>
              <a:rPr lang="en-US" dirty="0"/>
              <a:t>– GUI)</a:t>
            </a:r>
          </a:p>
          <a:p>
            <a:r>
              <a:rPr lang="en-US" dirty="0"/>
              <a:t>Plataforma</a:t>
            </a:r>
          </a:p>
          <a:p>
            <a:pPr lvl="1"/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um Sistema </a:t>
            </a:r>
            <a:r>
              <a:rPr lang="en-US" dirty="0" err="1"/>
              <a:t>Operacional</a:t>
            </a:r>
            <a:r>
              <a:rPr lang="en-US" dirty="0"/>
              <a:t> (OS) e </a:t>
            </a:r>
            <a:r>
              <a:rPr lang="en-US" dirty="0" err="1"/>
              <a:t>Arquitetura</a:t>
            </a:r>
            <a:r>
              <a:rPr lang="en-US" dirty="0"/>
              <a:t> no qual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 é </a:t>
            </a:r>
            <a:r>
              <a:rPr lang="en-US" dirty="0" err="1"/>
              <a:t>executada</a:t>
            </a:r>
            <a:r>
              <a:rPr lang="en-US" dirty="0"/>
              <a:t>. Em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, </a:t>
            </a:r>
            <a:r>
              <a:rPr lang="en-US" dirty="0" err="1"/>
              <a:t>usado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sinônimo</a:t>
            </a:r>
            <a:r>
              <a:rPr lang="en-US" dirty="0"/>
              <a:t> de OS.</a:t>
            </a:r>
          </a:p>
        </p:txBody>
      </p:sp>
    </p:spTree>
    <p:extLst>
      <p:ext uri="{BB962C8B-B14F-4D97-AF65-F5344CB8AC3E}">
        <p14:creationId xmlns:p14="http://schemas.microsoft.com/office/powerpoint/2010/main" val="184477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ADE7-1C4D-9074-5B81-F2516DDA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Conceitos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11A3-EE21-104D-AB00-0B37AA0F2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Cross-platform</a:t>
            </a:r>
          </a:p>
          <a:p>
            <a:pPr lvl="1"/>
            <a:r>
              <a:rPr lang="en-US" i="1"/>
              <a:t>Software</a:t>
            </a:r>
            <a:r>
              <a:rPr lang="en-US"/>
              <a:t> desenvolvido para ser executado em diferentes plataformas (tomada, nesse caso, como sinônimo de OS)</a:t>
            </a:r>
          </a:p>
        </p:txBody>
      </p:sp>
    </p:spTree>
    <p:extLst>
      <p:ext uri="{BB962C8B-B14F-4D97-AF65-F5344CB8AC3E}">
        <p14:creationId xmlns:p14="http://schemas.microsoft.com/office/powerpoint/2010/main" val="183907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340A-4799-629F-5BEF-93710E4E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E9098-66C2-B210-403B-1BE96EE7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Clr>
                <a:srgbClr val="CC9900"/>
              </a:buClr>
              <a:defRPr/>
            </a:pPr>
            <a:r>
              <a:rPr lang="en-US" sz="3200">
                <a:solidFill>
                  <a:srgbClr val="333333"/>
                </a:solidFill>
                <a:latin typeface="NotoSerif"/>
              </a:rPr>
              <a:t>“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Qt is a </a:t>
            </a: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free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 and </a:t>
            </a: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open-source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 </a:t>
            </a:r>
            <a:r>
              <a:rPr kumimoji="0" lang="en-US" sz="3200" b="0" i="1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-Italic"/>
                <a:ea typeface="+mn-ea"/>
                <a:cs typeface="+mn-cs"/>
              </a:rPr>
              <a:t>widget toolkit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for creating </a:t>
            </a: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cross-platform GUI applications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, allowing applications to target </a:t>
            </a: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multiple platforms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 from Windows, macOS, Linux and Android with a </a:t>
            </a: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single codebase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Serif"/>
                <a:ea typeface="+mn-ea"/>
                <a:cs typeface="+mn-cs"/>
              </a:rPr>
              <a:t>.” (Fonte: </a:t>
            </a:r>
            <a:r>
              <a:rPr lang="pt-BR" sz="2800" i="1"/>
              <a:t>Martin Fitzpatrick</a:t>
            </a:r>
            <a:r>
              <a:rPr lang="pt-BR" sz="2800"/>
              <a:t>)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Serif"/>
              <a:ea typeface="+mn-ea"/>
              <a:cs typeface="+mn-cs"/>
            </a:endParaRPr>
          </a:p>
          <a:p>
            <a:pPr lvl="1"/>
            <a:r>
              <a:rPr lang="pt-BR"/>
              <a:t>Repositório do Qt: </a:t>
            </a:r>
            <a:r>
              <a:rPr lang="pt-BR">
                <a:hlinkClick r:id="rId2"/>
              </a:rPr>
              <a:t>Link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60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PyQt6.QtWidgets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é o módulo que contém as classes do Qt responsáveis pela criação de </a:t>
            </a:r>
            <a:r>
              <a:rPr lang="en-US" i="1"/>
              <a:t>widgets</a:t>
            </a:r>
          </a:p>
          <a:p>
            <a:pPr lvl="1"/>
            <a:r>
              <a:rPr lang="en-US">
                <a:hlinkClick r:id="rId2"/>
              </a:rPr>
              <a:t>https://doc.qt.io/qt-6/qtwidgets-module.html</a:t>
            </a:r>
            <a:r>
              <a:rPr lang="en-US"/>
              <a:t> (C++)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753727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A484944-F4D5-5986-4AB8-63842D79A55F}"/>
              </a:ext>
            </a:extLst>
          </p:cNvPr>
          <p:cNvSpPr/>
          <p:nvPr/>
        </p:nvSpPr>
        <p:spPr>
          <a:xfrm>
            <a:off x="2404421" y="1148943"/>
            <a:ext cx="2783306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2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QApplication </a:t>
            </a:r>
          </a:p>
          <a:p>
            <a:pPr lvl="1"/>
            <a:r>
              <a:rPr lang="pt-BR"/>
              <a:t>Classe obrigatória em qualquer aplicação PyQt</a:t>
            </a:r>
          </a:p>
          <a:p>
            <a:pPr lvl="1"/>
            <a:r>
              <a:rPr lang="pt-BR"/>
              <a:t>Responsável pelo gerenciamento geral da aplicação, incluindo o loop principal</a:t>
            </a:r>
          </a:p>
          <a:p>
            <a:pPr lvl="1"/>
            <a:r>
              <a:rPr lang="pt-BR">
                <a:hlinkClick r:id="rId2"/>
              </a:rPr>
              <a:t>https://doc.qt.io/qt-6/qapplication.html</a:t>
            </a:r>
            <a:r>
              <a:rPr lang="pt-BR"/>
              <a:t> (C++)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750555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9BFAE53-B5C1-80BB-8B6E-6C5C90793556}"/>
              </a:ext>
            </a:extLst>
          </p:cNvPr>
          <p:cNvSpPr/>
          <p:nvPr/>
        </p:nvSpPr>
        <p:spPr>
          <a:xfrm>
            <a:off x="6222845" y="1139753"/>
            <a:ext cx="1680512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</a:p>
          <a:p>
            <a:pPr lvl="1"/>
            <a:r>
              <a:rPr lang="pt-BR"/>
              <a:t>Classe base de todos os </a:t>
            </a:r>
            <a:r>
              <a:rPr lang="pt-BR" i="1"/>
              <a:t>user objects interface</a:t>
            </a:r>
            <a:r>
              <a:rPr lang="pt-BR"/>
              <a:t> (</a:t>
            </a:r>
            <a:r>
              <a:rPr lang="pt-BR" i="1"/>
              <a:t>widgets</a:t>
            </a:r>
            <a:r>
              <a:rPr lang="pt-BR"/>
              <a:t>)</a:t>
            </a:r>
          </a:p>
          <a:p>
            <a:pPr lvl="1"/>
            <a:r>
              <a:rPr lang="pt-BR">
                <a:hlinkClick r:id="rId2"/>
              </a:rPr>
              <a:t>https://doc.qt.io/qt-6/qapplication.html</a:t>
            </a:r>
            <a:r>
              <a:rPr lang="pt-BR"/>
              <a:t> (C++)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94999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F831EFA-4761-5B19-5067-53054A68187F}"/>
              </a:ext>
            </a:extLst>
          </p:cNvPr>
          <p:cNvSpPr/>
          <p:nvPr/>
        </p:nvSpPr>
        <p:spPr>
          <a:xfrm>
            <a:off x="8115985" y="1112183"/>
            <a:ext cx="1037205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0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sys </a:t>
            </a:r>
          </a:p>
          <a:p>
            <a:pPr lvl="1"/>
            <a:r>
              <a:rPr lang="pt-BR"/>
              <a:t>Módulo do Python que dá acesso a variáveis usadas pelo interpretador</a:t>
            </a:r>
          </a:p>
          <a:p>
            <a:pPr lvl="1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52829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80E54D2-B171-A121-ADC3-6CCEF2B8B102}"/>
              </a:ext>
            </a:extLst>
          </p:cNvPr>
          <p:cNvSpPr/>
          <p:nvPr/>
        </p:nvSpPr>
        <p:spPr>
          <a:xfrm>
            <a:off x="2418982" y="1664346"/>
            <a:ext cx="1495937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QApplication() </a:t>
            </a:r>
          </a:p>
          <a:p>
            <a:pPr lvl="1"/>
            <a:r>
              <a:rPr lang="pt-BR"/>
              <a:t>Objeto obrigatório em toda aplicação. Deve existir um e apenas um.</a:t>
            </a:r>
          </a:p>
          <a:p>
            <a:pPr lvl="1"/>
            <a:r>
              <a:rPr lang="pt-BR"/>
              <a:t>Os argumentos da linha de comando são passados para o objeto por meio de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sys.argv. </a:t>
            </a:r>
            <a:r>
              <a:rPr lang="pt-BR"/>
              <a:t>Se não formos usar argumentos da linha de comando podemos substituir por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app = QApplication([])</a:t>
            </a:r>
            <a:r>
              <a:rPr lang="pt-BR"/>
              <a:t>.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151722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80E54D2-B171-A121-ADC3-6CCEF2B8B102}"/>
              </a:ext>
            </a:extLst>
          </p:cNvPr>
          <p:cNvSpPr/>
          <p:nvPr/>
        </p:nvSpPr>
        <p:spPr>
          <a:xfrm>
            <a:off x="2418982" y="2198173"/>
            <a:ext cx="3825589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7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QWidget()</a:t>
            </a:r>
          </a:p>
          <a:p>
            <a:pPr lvl="1"/>
            <a:r>
              <a:rPr lang="pt-BR"/>
              <a:t>Cria uma janela vazia (</a:t>
            </a:r>
            <a:r>
              <a:rPr lang="pt-BR" i="1"/>
              <a:t>Widget</a:t>
            </a:r>
            <a:r>
              <a:rPr lang="pt-BR"/>
              <a:t> genérico)</a:t>
            </a:r>
          </a:p>
          <a:p>
            <a:pPr lvl="2"/>
            <a:r>
              <a:rPr lang="pt-BR"/>
              <a:t>As classes específicas (relativas a botões, menus, etc) derivam da classe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pt-BR"/>
              <a:t> e se constroem em cima dessa janela vazia</a:t>
            </a:r>
          </a:p>
          <a:p>
            <a:pPr lvl="2"/>
            <a:r>
              <a:rPr lang="pt-BR"/>
              <a:t>Podemos pensar como um contâiner vazio no qual as classes específicas vão preencher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823238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80E54D2-B171-A121-ADC3-6CCEF2B8B102}"/>
              </a:ext>
            </a:extLst>
          </p:cNvPr>
          <p:cNvSpPr/>
          <p:nvPr/>
        </p:nvSpPr>
        <p:spPr>
          <a:xfrm>
            <a:off x="2405197" y="2758760"/>
            <a:ext cx="2525211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8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show()</a:t>
            </a:r>
          </a:p>
          <a:p>
            <a:pPr lvl="1"/>
            <a:r>
              <a:rPr lang="pt-BR"/>
              <a:t>Exibe a janela</a:t>
            </a:r>
          </a:p>
          <a:p>
            <a:pPr lvl="1"/>
            <a:r>
              <a:rPr lang="pt-BR" i="1"/>
              <a:t>Top-level widgets </a:t>
            </a:r>
            <a:r>
              <a:rPr lang="pt-BR"/>
              <a:t>são por padrão invisíveis </a:t>
            </a:r>
          </a:p>
          <a:p>
            <a:pPr lvl="2"/>
            <a:r>
              <a:rPr lang="pt-BR" i="1"/>
              <a:t>Top-level Widgets </a:t>
            </a:r>
            <a:r>
              <a:rPr lang="pt-BR"/>
              <a:t>são aqueles que não derivam de outro (= não estão contidos em outro). Não se refere à estrutura interna de classes do PyQt.</a:t>
            </a:r>
          </a:p>
          <a:p>
            <a:pPr lvl="2"/>
            <a:endParaRPr lang="pt-BR"/>
          </a:p>
          <a:p>
            <a:pPr lvl="2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93106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80E54D2-B171-A121-ADC3-6CCEF2B8B102}"/>
              </a:ext>
            </a:extLst>
          </p:cNvPr>
          <p:cNvSpPr/>
          <p:nvPr/>
        </p:nvSpPr>
        <p:spPr>
          <a:xfrm>
            <a:off x="2405197" y="3011485"/>
            <a:ext cx="1753255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0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B20F-1F78-07D1-877A-660AA07C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0E0F-ADCB-2E7B-57C9-882254FD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16014"/>
            <a:ext cx="10972800" cy="2963215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pt-BR"/>
              <a:t>Chama o laço de eventos (</a:t>
            </a:r>
            <a:r>
              <a:rPr lang="pt-BR" i="1">
                <a:cs typeface="Times New Roman" panose="02020603050405020304" pitchFamily="18" charset="0"/>
              </a:rPr>
              <a:t>event loop)</a:t>
            </a:r>
            <a:r>
              <a:rPr lang="pt-BR"/>
              <a:t>, que roda até que a aplicação seja encerrada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10EE2-CBFE-32FE-41C9-15A261A5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575507"/>
              </p:ext>
            </p:extLst>
          </p:nvPr>
        </p:nvGraphicFramePr>
        <p:xfrm>
          <a:off x="1916094" y="1116778"/>
          <a:ext cx="8528284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7056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80E54D2-B171-A121-ADC3-6CCEF2B8B102}"/>
              </a:ext>
            </a:extLst>
          </p:cNvPr>
          <p:cNvSpPr/>
          <p:nvPr/>
        </p:nvSpPr>
        <p:spPr>
          <a:xfrm>
            <a:off x="2414387" y="3556910"/>
            <a:ext cx="1404037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9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A740-7BA8-7ED6-05FD-5BBD5996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Organizando com QMainWindow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451C-5F13-2D9E-7E32-F4CB858A2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Exemplo 1 adicionamos um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US"/>
              <a:t>. Poderíamos continuar adicionando outros </a:t>
            </a:r>
            <a:r>
              <a:rPr lang="en-US" i="1">
                <a:cs typeface="Courier New" panose="02070309020205020404" pitchFamily="49" charset="0"/>
              </a:rPr>
              <a:t>widgets</a:t>
            </a:r>
            <a:r>
              <a:rPr lang="en-US"/>
              <a:t> para construir nossa interface.</a:t>
            </a:r>
          </a:p>
          <a:p>
            <a:r>
              <a:rPr lang="en-US"/>
              <a:t>Entretanto, para melhor organização, geralmente se constrói um objeto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QMainWindow </a:t>
            </a:r>
            <a:r>
              <a:rPr lang="en-US"/>
              <a:t>e os </a:t>
            </a:r>
            <a:r>
              <a:rPr lang="en-US" i="1"/>
              <a:t>widgets</a:t>
            </a:r>
            <a:r>
              <a:rPr lang="en-US"/>
              <a:t> são construídos e organizados dentro dela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QMainWindow </a:t>
            </a:r>
            <a:r>
              <a:rPr lang="en-US"/>
              <a:t>possui métodos </a:t>
            </a:r>
            <a:r>
              <a:rPr lang="en-US" i="1"/>
              <a:t>built-in</a:t>
            </a:r>
            <a:r>
              <a:rPr lang="en-US"/>
              <a:t> para construir barras de menu, barras de ferramentas, etc.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/>
              <a:t>Pense numa aplicação como o </a:t>
            </a:r>
            <a:r>
              <a:rPr lang="en-US" i="1"/>
              <a:t>Word</a:t>
            </a:r>
            <a:r>
              <a:rPr lang="en-US"/>
              <a:t>. Existe uma janela principal e dentro dela são organizados os menus, a barra de rolamento, etc.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66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3528-0430-7243-E9AE-39E817B2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Organizando com QMainWindow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654A-9E12-BF4C-8D01-13AD54DD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ilustrar isso com um exemplo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536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6954-7161-19A6-ED30-C6F5EC58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1C57B1-DBDF-3A7F-7E17-E08EA07D2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67415"/>
            <a:ext cx="10972800" cy="2040160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setWindowTitle()</a:t>
            </a:r>
          </a:p>
          <a:p>
            <a:pPr lvl="1"/>
            <a:r>
              <a:rPr lang="pt-BR"/>
              <a:t>Setamos o título da nossa janela principal</a:t>
            </a:r>
          </a:p>
          <a:p>
            <a:pPr lvl="2"/>
            <a:endParaRPr lang="pt-BR"/>
          </a:p>
          <a:p>
            <a:pPr lvl="2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8AA3E2-C3CA-E619-CD6F-8F1FDDF9D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20507"/>
              </p:ext>
            </p:extLst>
          </p:nvPr>
        </p:nvGraphicFramePr>
        <p:xfrm>
          <a:off x="248117" y="1124125"/>
          <a:ext cx="10049221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6869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58052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"My App"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B7051FF-E6EE-E041-BF4E-E556CCE69E5D}"/>
              </a:ext>
            </a:extLst>
          </p:cNvPr>
          <p:cNvSpPr/>
          <p:nvPr/>
        </p:nvSpPr>
        <p:spPr>
          <a:xfrm>
            <a:off x="6467156" y="1124040"/>
            <a:ext cx="1569456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3025-362E-81F6-F741-41A8719C6ACB}"/>
              </a:ext>
            </a:extLst>
          </p:cNvPr>
          <p:cNvSpPr/>
          <p:nvPr/>
        </p:nvSpPr>
        <p:spPr>
          <a:xfrm>
            <a:off x="732689" y="2499142"/>
            <a:ext cx="3081140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C1E13-5E6D-0D7E-8B40-1FEECDC39646}"/>
              </a:ext>
            </a:extLst>
          </p:cNvPr>
          <p:cNvSpPr/>
          <p:nvPr/>
        </p:nvSpPr>
        <p:spPr>
          <a:xfrm>
            <a:off x="747239" y="2793987"/>
            <a:ext cx="4353948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0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0" grpId="1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8A1C5C-9FA8-8D73-611C-41FB6D75B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18797"/>
              </p:ext>
            </p:extLst>
          </p:nvPr>
        </p:nvGraphicFramePr>
        <p:xfrm>
          <a:off x="248117" y="1124125"/>
          <a:ext cx="10049221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6869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58052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"My App"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DB86954-7161-19A6-ED30-C6F5EC58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1C57B1-DBDF-3A7F-7E17-E08EA07D2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67415"/>
            <a:ext cx="10972800" cy="2040160"/>
          </a:xfrm>
        </p:spPr>
        <p:txBody>
          <a:bodyPr/>
          <a:lstStyle/>
          <a:p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QPushButton()</a:t>
            </a:r>
          </a:p>
          <a:p>
            <a:pPr lvl="1"/>
            <a:r>
              <a:rPr lang="pt-BR"/>
              <a:t>Criamos um botão escrito no interior “</a:t>
            </a:r>
            <a:r>
              <a:rPr lang="pt-BR" i="1"/>
              <a:t>Press Me</a:t>
            </a:r>
            <a:r>
              <a:rPr lang="pt-BR"/>
              <a:t>”</a:t>
            </a:r>
          </a:p>
          <a:p>
            <a:pPr lvl="2"/>
            <a:endParaRPr lang="pt-BR"/>
          </a:p>
          <a:p>
            <a:pPr lvl="2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3025-362E-81F6-F741-41A8719C6ACB}"/>
              </a:ext>
            </a:extLst>
          </p:cNvPr>
          <p:cNvSpPr/>
          <p:nvPr/>
        </p:nvSpPr>
        <p:spPr>
          <a:xfrm>
            <a:off x="751069" y="3018175"/>
            <a:ext cx="4579102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3F502C-C811-D515-EFAF-D807CE02F66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330171" y="3169709"/>
            <a:ext cx="14703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092889-347A-370A-D232-EE416BB6A4F0}"/>
              </a:ext>
            </a:extLst>
          </p:cNvPr>
          <p:cNvSpPr txBox="1"/>
          <p:nvPr/>
        </p:nvSpPr>
        <p:spPr>
          <a:xfrm>
            <a:off x="6800563" y="2708044"/>
            <a:ext cx="4651438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Existem várias classes para modelagem de botões e elas herdam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QAbstractButton</a:t>
            </a:r>
          </a:p>
        </p:txBody>
      </p:sp>
    </p:spTree>
    <p:extLst>
      <p:ext uri="{BB962C8B-B14F-4D97-AF65-F5344CB8AC3E}">
        <p14:creationId xmlns:p14="http://schemas.microsoft.com/office/powerpoint/2010/main" val="47267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8A1C5C-9FA8-8D73-611C-41FB6D75B9CA}"/>
              </a:ext>
            </a:extLst>
          </p:cNvPr>
          <p:cNvGraphicFramePr>
            <a:graphicFrameLocks noGrp="1"/>
          </p:cNvGraphicFramePr>
          <p:nvPr/>
        </p:nvGraphicFramePr>
        <p:xfrm>
          <a:off x="248117" y="1124125"/>
          <a:ext cx="10049221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6869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58052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"My App"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DB86954-7161-19A6-ED30-C6F5EC58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1C57B1-DBDF-3A7F-7E17-E08EA07D2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67415"/>
            <a:ext cx="10972800" cy="2040160"/>
          </a:xfrm>
        </p:spPr>
        <p:txBody>
          <a:bodyPr/>
          <a:lstStyle/>
          <a:p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setCentralWidget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pt-BR" dirty="0"/>
              <a:t>Seta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pt-BR" dirty="0"/>
              <a:t> para ocupar a área central da janela (= não ocupada por outros componentes)</a:t>
            </a:r>
          </a:p>
          <a:p>
            <a:pPr lvl="1"/>
            <a:r>
              <a:rPr lang="pt-BR" dirty="0"/>
              <a:t>Pode existir apenas um </a:t>
            </a:r>
            <a:r>
              <a:rPr lang="pt-BR" i="1" dirty="0"/>
              <a:t>widget</a:t>
            </a:r>
            <a:r>
              <a:rPr lang="pt-BR" dirty="0"/>
              <a:t> central</a:t>
            </a:r>
          </a:p>
          <a:p>
            <a:pPr lvl="2"/>
            <a:endParaRPr lang="pt-B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3025-362E-81F6-F741-41A8719C6ACB}"/>
              </a:ext>
            </a:extLst>
          </p:cNvPr>
          <p:cNvSpPr/>
          <p:nvPr/>
        </p:nvSpPr>
        <p:spPr>
          <a:xfrm>
            <a:off x="751069" y="3284685"/>
            <a:ext cx="4289618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7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907C-DFD7-BFA8-4DBB-E0EA0982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CEC456-27EE-FB36-A66B-F81CEF09DE43}"/>
              </a:ext>
            </a:extLst>
          </p:cNvPr>
          <p:cNvGraphicFramePr>
            <a:graphicFrameLocks noGrp="1"/>
          </p:cNvGraphicFramePr>
          <p:nvPr/>
        </p:nvGraphicFramePr>
        <p:xfrm>
          <a:off x="248117" y="1124125"/>
          <a:ext cx="10049221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6869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58052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"My App"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C079CA-3F0E-3E52-0EAF-8351BD2CF016}"/>
              </a:ext>
            </a:extLst>
          </p:cNvPr>
          <p:cNvSpPr txBox="1">
            <a:spLocks/>
          </p:cNvSpPr>
          <p:nvPr/>
        </p:nvSpPr>
        <p:spPr bwMode="auto">
          <a:xfrm>
            <a:off x="609600" y="4567415"/>
            <a:ext cx="10972800" cy="20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ts val="42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kern="0" dirty="0"/>
              <a:t>Note</a:t>
            </a:r>
          </a:p>
          <a:p>
            <a:pPr lvl="1"/>
            <a:r>
              <a:rPr lang="pt-BR" kern="0" dirty="0"/>
              <a:t>Se criássemos mais </a:t>
            </a:r>
            <a:r>
              <a:rPr lang="pt-BR" i="1" kern="0" dirty="0"/>
              <a:t>widgets</a:t>
            </a:r>
            <a:r>
              <a:rPr lang="pt-BR" kern="0" dirty="0"/>
              <a:t> o código iria crescer sem qualquer organização em funções e classes, o que dificulta o entendimento</a:t>
            </a:r>
          </a:p>
          <a:p>
            <a:pPr lvl="1"/>
            <a:r>
              <a:rPr lang="pt-BR" kern="0" dirty="0"/>
              <a:t>Vamos reescrever o exemplo encapsulando o  nosso código</a:t>
            </a:r>
          </a:p>
          <a:p>
            <a:pPr lvl="2"/>
            <a:endParaRPr lang="pt-BR" kern="0" dirty="0"/>
          </a:p>
        </p:txBody>
      </p:sp>
    </p:spTree>
    <p:extLst>
      <p:ext uri="{BB962C8B-B14F-4D97-AF65-F5344CB8AC3E}">
        <p14:creationId xmlns:p14="http://schemas.microsoft.com/office/powerpoint/2010/main" val="385235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6954-7161-19A6-ED30-C6F5EC58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8AA3E2-C3CA-E619-CD6F-8F1FDDF9D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171825"/>
              </p:ext>
            </p:extLst>
          </p:nvPr>
        </p:nvGraphicFramePr>
        <p:xfrm>
          <a:off x="248117" y="1124125"/>
          <a:ext cx="11740172" cy="548640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QApplication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 dirty="0" err="1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My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 App"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QApplication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 err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1C37452-5AC4-FDE2-7522-5EE682D73F80}"/>
              </a:ext>
            </a:extLst>
          </p:cNvPr>
          <p:cNvSpPr/>
          <p:nvPr/>
        </p:nvSpPr>
        <p:spPr>
          <a:xfrm>
            <a:off x="737284" y="2214056"/>
            <a:ext cx="4289618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160481-1B7B-1F19-DDD2-4F41C63A9190}"/>
              </a:ext>
            </a:extLst>
          </p:cNvPr>
          <p:cNvCxnSpPr>
            <a:cxnSpLocks/>
          </p:cNvCxnSpPr>
          <p:nvPr/>
        </p:nvCxnSpPr>
        <p:spPr>
          <a:xfrm flipV="1">
            <a:off x="5026902" y="2365590"/>
            <a:ext cx="2190481" cy="45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AC2FC0-130F-E905-EA8B-9F195B7DC3EC}"/>
              </a:ext>
            </a:extLst>
          </p:cNvPr>
          <p:cNvSpPr txBox="1"/>
          <p:nvPr/>
        </p:nvSpPr>
        <p:spPr>
          <a:xfrm>
            <a:off x="7217383" y="2006950"/>
            <a:ext cx="373112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Criamos uma classe que herda da classe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A8237-1702-86E5-55D8-A2727829623C}"/>
              </a:ext>
            </a:extLst>
          </p:cNvPr>
          <p:cNvSpPr/>
          <p:nvPr/>
        </p:nvSpPr>
        <p:spPr>
          <a:xfrm>
            <a:off x="1243497" y="3303987"/>
            <a:ext cx="4091269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8C4571-C727-F382-8397-D85BCAE6246A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344721" y="3464513"/>
            <a:ext cx="18726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3FDF0F-BF2D-F597-E7E2-569026E814B3}"/>
              </a:ext>
            </a:extLst>
          </p:cNvPr>
          <p:cNvSpPr txBox="1"/>
          <p:nvPr/>
        </p:nvSpPr>
        <p:spPr>
          <a:xfrm>
            <a:off x="7217382" y="3110570"/>
            <a:ext cx="4605487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 método é da classe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Qwidget,</a:t>
            </a:r>
            <a:r>
              <a:rPr lang="en-US" sz="2000"/>
              <a:t> que é a classe base da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B6E5F1-11B6-5617-28DB-F7351B06BE1E}"/>
              </a:ext>
            </a:extLst>
          </p:cNvPr>
          <p:cNvCxnSpPr>
            <a:cxnSpLocks/>
          </p:cNvCxnSpPr>
          <p:nvPr/>
        </p:nvCxnSpPr>
        <p:spPr>
          <a:xfrm>
            <a:off x="5344721" y="4541566"/>
            <a:ext cx="187266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AF1CC-5CCD-74F1-E341-657FE5DED17E}"/>
              </a:ext>
            </a:extLst>
          </p:cNvPr>
          <p:cNvSpPr/>
          <p:nvPr/>
        </p:nvSpPr>
        <p:spPr>
          <a:xfrm>
            <a:off x="1253452" y="4389364"/>
            <a:ext cx="4091269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06A21-561B-00B2-3F39-515BBD633049}"/>
              </a:ext>
            </a:extLst>
          </p:cNvPr>
          <p:cNvSpPr txBox="1"/>
          <p:nvPr/>
        </p:nvSpPr>
        <p:spPr>
          <a:xfrm>
            <a:off x="7217383" y="4204939"/>
            <a:ext cx="373112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 método é da classe base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E6C246-5DB7-FC53-D4D8-626DA3CD19C3}"/>
              </a:ext>
            </a:extLst>
          </p:cNvPr>
          <p:cNvCxnSpPr>
            <a:cxnSpLocks/>
          </p:cNvCxnSpPr>
          <p:nvPr/>
        </p:nvCxnSpPr>
        <p:spPr>
          <a:xfrm flipV="1">
            <a:off x="3735715" y="2908253"/>
            <a:ext cx="1387682" cy="4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6E86DE-D4CD-36F5-FAAF-668E2FD0DCA9}"/>
              </a:ext>
            </a:extLst>
          </p:cNvPr>
          <p:cNvSpPr txBox="1"/>
          <p:nvPr/>
        </p:nvSpPr>
        <p:spPr>
          <a:xfrm>
            <a:off x="5123397" y="2689565"/>
            <a:ext cx="1946737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Obrigatório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A765AC-5149-432F-C066-B7092291963F}"/>
              </a:ext>
            </a:extLst>
          </p:cNvPr>
          <p:cNvSpPr/>
          <p:nvPr/>
        </p:nvSpPr>
        <p:spPr>
          <a:xfrm>
            <a:off x="1242175" y="2756719"/>
            <a:ext cx="2493540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  <p:bldP spid="14" grpId="0" animBg="1"/>
      <p:bldP spid="15" grpId="0" animBg="1"/>
      <p:bldP spid="18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07E0-8745-05A3-D331-1A53EA44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4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768F-6DC7-5756-B23B-A85B6DF0C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Note no Exemplo 3 que podemos redimensionar a janela. Vamos agora alterar o código para que a janela tenha um tamanho fixo.</a:t>
            </a:r>
          </a:p>
        </p:txBody>
      </p:sp>
    </p:spTree>
    <p:extLst>
      <p:ext uri="{BB962C8B-B14F-4D97-AF65-F5344CB8AC3E}">
        <p14:creationId xmlns:p14="http://schemas.microsoft.com/office/powerpoint/2010/main" val="4231881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85EB-B822-216B-6C43-D85E716A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4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C7AA3D-A487-5A51-B039-76B8F5F0F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03589"/>
              </p:ext>
            </p:extLst>
          </p:nvPr>
        </p:nvGraphicFramePr>
        <p:xfrm>
          <a:off x="248117" y="1046010"/>
          <a:ext cx="11740172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9936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QtCore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QSize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"My App"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"Press Me!"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QSize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5D92EEF-B45B-61A1-3FB7-3C34525F97AA}"/>
              </a:ext>
            </a:extLst>
          </p:cNvPr>
          <p:cNvSpPr/>
          <p:nvPr/>
        </p:nvSpPr>
        <p:spPr>
          <a:xfrm>
            <a:off x="755664" y="1046010"/>
            <a:ext cx="4183934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FC6CC-E9CC-7497-6D13-0F7EF6F0CF22}"/>
              </a:ext>
            </a:extLst>
          </p:cNvPr>
          <p:cNvSpPr/>
          <p:nvPr/>
        </p:nvSpPr>
        <p:spPr>
          <a:xfrm>
            <a:off x="1280256" y="4318397"/>
            <a:ext cx="4697805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17C29D-60E7-4DF3-5699-D2C706D11B8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78061" y="4469931"/>
            <a:ext cx="173230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AB0C4B-E905-02AC-1F36-DB53FFF06FD1}"/>
              </a:ext>
            </a:extLst>
          </p:cNvPr>
          <p:cNvSpPr txBox="1"/>
          <p:nvPr/>
        </p:nvSpPr>
        <p:spPr>
          <a:xfrm>
            <a:off x="7710368" y="3962099"/>
            <a:ext cx="3731120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 método é da classe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QWidget </a:t>
            </a:r>
            <a:r>
              <a:rPr lang="en-US" sz="2000"/>
              <a:t>e ele recebe um objeto do tipo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QSize</a:t>
            </a:r>
          </a:p>
        </p:txBody>
      </p:sp>
    </p:spTree>
    <p:extLst>
      <p:ext uri="{BB962C8B-B14F-4D97-AF65-F5344CB8AC3E}">
        <p14:creationId xmlns:p14="http://schemas.microsoft.com/office/powerpoint/2010/main" val="283009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58AB-8A28-DB69-CBA1-75D02052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Resumo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E66EB-FF48-8EB3-9221-597681ED9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resumir as classes e métodos que usamos</a:t>
            </a:r>
          </a:p>
          <a:p>
            <a:r>
              <a:rPr lang="en-US" i="1"/>
              <a:t>Bullets</a:t>
            </a:r>
            <a:r>
              <a:rPr lang="en-US"/>
              <a:t> Primários: classes</a:t>
            </a:r>
          </a:p>
          <a:p>
            <a:pPr lvl="1"/>
            <a:r>
              <a:rPr lang="en-US" i="1"/>
              <a:t>Bullets</a:t>
            </a:r>
            <a:r>
              <a:rPr lang="en-US"/>
              <a:t> Secundários</a:t>
            </a:r>
          </a:p>
          <a:p>
            <a:pPr lvl="2"/>
            <a:r>
              <a:rPr lang="en-US"/>
              <a:t>[V]: variável</a:t>
            </a:r>
          </a:p>
          <a:p>
            <a:pPr lvl="2"/>
            <a:r>
              <a:rPr lang="en-US"/>
              <a:t>[M]: método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24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0447-208F-6B2B-57A3-83AD50E3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Resumo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273A8-A633-1F58-5CBB-CEA83F4B5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QApplication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[M]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exec</a:t>
            </a:r>
          </a:p>
          <a:p>
            <a:r>
              <a:rPr kumimoji="0" lang="pt-BR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QWidget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>
                <a:cs typeface="Courier New" panose="02070309020205020404" pitchFamily="49" charset="0"/>
              </a:rPr>
              <a:t>[M]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</a:p>
          <a:p>
            <a:pPr lvl="2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00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0447-208F-6B2B-57A3-83AD50E3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Resumo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273A8-A633-1F58-5CBB-CEA83F4B5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QMainWindow(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[M] 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setWindowTitle(string)</a:t>
            </a:r>
          </a:p>
          <a:p>
            <a:pPr lvl="2"/>
            <a:r>
              <a:rPr lang="pt-BR">
                <a:solidFill>
                  <a:srgbClr val="000000"/>
                </a:solidFill>
              </a:rPr>
              <a:t>Método da classe 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endParaRPr lang="pt-BR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>
                <a:solidFill>
                  <a:srgbClr val="000000"/>
                </a:solidFill>
                <a:effectLst/>
              </a:rPr>
              <a:t>[M] </a:t>
            </a:r>
            <a:r>
              <a:rPr lang="en-US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setFixedSize(QSize)</a:t>
            </a:r>
          </a:p>
          <a:p>
            <a:pPr lvl="2"/>
            <a:r>
              <a:rPr lang="pt-BR">
                <a:solidFill>
                  <a:srgbClr val="000000"/>
                </a:solidFill>
              </a:rPr>
              <a:t>Método da classe 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endParaRPr lang="pt-BR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>
                <a:solidFill>
                  <a:srgbClr val="000000"/>
                </a:solidFill>
                <a:effectLst/>
              </a:rPr>
              <a:t>[M] </a:t>
            </a:r>
            <a:r>
              <a:rPr lang="pt-BR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setCentralWidget(QWidget)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QPushButton(QAbstractButton)</a:t>
            </a:r>
          </a:p>
          <a:p>
            <a:r>
              <a:rPr lang="en-US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QSize</a:t>
            </a:r>
            <a:endParaRPr lang="en-US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lvl="2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1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10204</TotalTime>
  <Words>1686</Words>
  <Application>Microsoft Office PowerPoint</Application>
  <PresentationFormat>Widescreen</PresentationFormat>
  <Paragraphs>457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Courier New</vt:lpstr>
      <vt:lpstr>Garamond</vt:lpstr>
      <vt:lpstr>NotoSerif</vt:lpstr>
      <vt:lpstr>NotoSerif-Italic</vt:lpstr>
      <vt:lpstr>Times New Roman</vt:lpstr>
      <vt:lpstr>Wingdings</vt:lpstr>
      <vt:lpstr>1_Tema Padrão</vt:lpstr>
      <vt:lpstr>240(01) – PyQt (Introdução)  </vt:lpstr>
      <vt:lpstr>Referências</vt:lpstr>
      <vt:lpstr>Vídeos</vt:lpstr>
      <vt:lpstr>Instalação</vt:lpstr>
      <vt:lpstr>Conceitos</vt:lpstr>
      <vt:lpstr>Conceitos</vt:lpstr>
      <vt:lpstr>Conceitos</vt:lpstr>
      <vt:lpstr>Definição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Exemplo 1</vt:lpstr>
      <vt:lpstr>Organizando com QMainWindow</vt:lpstr>
      <vt:lpstr>Organizando com QMainWindow</vt:lpstr>
      <vt:lpstr>Exemplo 2</vt:lpstr>
      <vt:lpstr>Exemplo 2</vt:lpstr>
      <vt:lpstr>Exemplo 2</vt:lpstr>
      <vt:lpstr>Exemplo 2</vt:lpstr>
      <vt:lpstr>Exemplo 3</vt:lpstr>
      <vt:lpstr>Exemplo 4</vt:lpstr>
      <vt:lpstr>Exemplo 4</vt:lpstr>
      <vt:lpstr>Resumo</vt:lpstr>
      <vt:lpstr>Resumo</vt:lpstr>
      <vt:lpstr>Resumo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618</cp:revision>
  <dcterms:created xsi:type="dcterms:W3CDTF">2017-06-20T21:36:17Z</dcterms:created>
  <dcterms:modified xsi:type="dcterms:W3CDTF">2024-10-09T17:29:39Z</dcterms:modified>
</cp:coreProperties>
</file>