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embeddedFontLst>
    <p:embeddedFont>
      <p:font typeface="Garamond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l+8cToJmEM6e2FLpldqgf6rjU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A957AF-83A6-4CC1-BAF5-387C0A804CF9}">
  <a:tblStyle styleId="{99A957AF-83A6-4CC1-BAF5-387C0A804CF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Garamond-bold.fntdata"/><Relationship Id="rId25" Type="http://schemas.openxmlformats.org/officeDocument/2006/relationships/font" Target="fonts/Garamond-regular.fntdata"/><Relationship Id="rId28" Type="http://schemas.openxmlformats.org/officeDocument/2006/relationships/font" Target="fonts/Garamond-boldItalic.fntdata"/><Relationship Id="rId27" Type="http://schemas.openxmlformats.org/officeDocument/2006/relationships/font" Target="fonts/Garamond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812800" y="1964432"/>
            <a:ext cx="10566400" cy="9144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317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20"/>
          <p:cNvCxnSpPr/>
          <p:nvPr/>
        </p:nvCxnSpPr>
        <p:spPr>
          <a:xfrm>
            <a:off x="2641601" y="3962400"/>
            <a:ext cx="8682567" cy="0"/>
          </a:xfrm>
          <a:prstGeom prst="straightConnector1">
            <a:avLst/>
          </a:prstGeom>
          <a:noFill/>
          <a:ln cap="flat" cmpd="sng" w="317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" name="Google Shape;16;p20"/>
          <p:cNvSpPr txBox="1"/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2641600" y="4196680"/>
            <a:ext cx="8737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just">
              <a:spcBef>
                <a:spcPts val="4200"/>
              </a:spcBef>
              <a:spcAft>
                <a:spcPts val="0"/>
              </a:spcAft>
              <a:buSzPts val="1820"/>
              <a:buFont typeface="Noto Sans Symbols"/>
              <a:buNone/>
              <a:defRPr sz="2800"/>
            </a:lvl1pPr>
            <a:lvl2pPr lvl="1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lvl="3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lvl="4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  <a:defRPr/>
            </a:lvl1pPr>
            <a:lvl2pPr indent="-327660" lvl="1" marL="91440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  <a:defRPr/>
            </a:lvl2pPr>
            <a:lvl3pPr indent="-396239" lvl="2" marL="1371600" algn="just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640"/>
              <a:buFont typeface="Arial"/>
              <a:buChar char="•"/>
              <a:defRPr/>
            </a:lvl3pPr>
            <a:lvl4pPr indent="-381000" lvl="3" marL="1828800" algn="just">
              <a:spcBef>
                <a:spcPts val="1000"/>
              </a:spcBef>
              <a:spcAft>
                <a:spcPts val="0"/>
              </a:spcAft>
              <a:buSzPts val="2400"/>
              <a:buChar char="-"/>
              <a:defRPr/>
            </a:lvl4pPr>
            <a:lvl5pPr indent="-323850" lvl="4" marL="22860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spcBef>
                <a:spcPts val="4200"/>
              </a:spcBef>
              <a:spcAft>
                <a:spcPts val="0"/>
              </a:spcAft>
              <a:buSzPts val="1300"/>
              <a:buNone/>
              <a:defRPr sz="2000"/>
            </a:lvl1pPr>
            <a:lvl2pPr indent="-228600" lvl="1" marL="914400" algn="just">
              <a:spcBef>
                <a:spcPts val="1800"/>
              </a:spcBef>
              <a:spcAft>
                <a:spcPts val="0"/>
              </a:spcAft>
              <a:buSzPts val="1080"/>
              <a:buNone/>
              <a:defRPr sz="1800"/>
            </a:lvl2pPr>
            <a:lvl3pPr indent="-228600" lvl="2" marL="1371600" algn="just">
              <a:spcBef>
                <a:spcPts val="1000"/>
              </a:spcBef>
              <a:spcAft>
                <a:spcPts val="0"/>
              </a:spcAft>
              <a:buSzPts val="1920"/>
              <a:buNone/>
              <a:defRPr sz="1600"/>
            </a:lvl3pPr>
            <a:lvl4pPr indent="-228600" lvl="3" marL="1828800" algn="just">
              <a:spcBef>
                <a:spcPts val="1000"/>
              </a:spcBef>
              <a:spcAft>
                <a:spcPts val="0"/>
              </a:spcAft>
              <a:buSzPts val="1680"/>
              <a:buNone/>
              <a:defRPr sz="1400"/>
            </a:lvl4pPr>
            <a:lvl5pPr indent="-228600" lvl="4" marL="2286000" algn="just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5pPr>
            <a:lvl6pPr indent="-228600" lvl="5" marL="2743200" algn="just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6pPr>
            <a:lvl7pPr indent="-228600" lvl="6" marL="3200400" algn="just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7pPr>
            <a:lvl8pPr indent="-228600" lvl="7" marL="3657600" algn="just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8pPr>
            <a:lvl9pPr indent="-228600" lvl="8" marL="4114800" algn="just"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just">
              <a:spcBef>
                <a:spcPts val="420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just">
              <a:spcBef>
                <a:spcPts val="180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81000" lvl="2" marL="137160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000"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 sz="1800"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  <p:sp>
        <p:nvSpPr>
          <p:cNvPr id="27" name="Google Shape;27;p23"/>
          <p:cNvSpPr txBox="1"/>
          <p:nvPr>
            <p:ph idx="2" type="body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4170" lvl="0" marL="457200" algn="just">
              <a:spcBef>
                <a:spcPts val="4200"/>
              </a:spcBef>
              <a:spcAft>
                <a:spcPts val="0"/>
              </a:spcAft>
              <a:buSzPts val="1820"/>
              <a:buChar char="■"/>
              <a:defRPr sz="2800"/>
            </a:lvl1pPr>
            <a:lvl2pPr indent="-320040" lvl="1" marL="914400" algn="just">
              <a:spcBef>
                <a:spcPts val="1800"/>
              </a:spcBef>
              <a:spcAft>
                <a:spcPts val="0"/>
              </a:spcAft>
              <a:buSzPts val="1440"/>
              <a:buChar char="❑"/>
              <a:defRPr sz="2400"/>
            </a:lvl2pPr>
            <a:lvl3pPr indent="-381000" lvl="2" marL="1371600" algn="just">
              <a:spcBef>
                <a:spcPts val="1000"/>
              </a:spcBef>
              <a:spcAft>
                <a:spcPts val="0"/>
              </a:spcAft>
              <a:buSzPts val="2400"/>
              <a:buChar char="•"/>
              <a:defRPr sz="2000"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 sz="1800"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spcBef>
                <a:spcPts val="420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just">
              <a:spcBef>
                <a:spcPts val="18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just">
              <a:spcBef>
                <a:spcPts val="10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just">
              <a:spcBef>
                <a:spcPts val="10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31" name="Google Shape;31;p24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just">
              <a:spcBef>
                <a:spcPts val="420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just">
              <a:spcBef>
                <a:spcPts val="18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 sz="1800"/>
            </a:lvl3pPr>
            <a:lvl4pPr indent="-350519" lvl="3" marL="1828800" algn="just">
              <a:spcBef>
                <a:spcPts val="1000"/>
              </a:spcBef>
              <a:spcAft>
                <a:spcPts val="0"/>
              </a:spcAft>
              <a:buSzPts val="1920"/>
              <a:buChar char="-"/>
              <a:defRPr sz="1600"/>
            </a:lvl4pPr>
            <a:lvl5pPr indent="-304800" lvl="4" marL="22860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  <p:sp>
        <p:nvSpPr>
          <p:cNvPr id="32" name="Google Shape;32;p24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just">
              <a:spcBef>
                <a:spcPts val="420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just">
              <a:spcBef>
                <a:spcPts val="18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just">
              <a:spcBef>
                <a:spcPts val="100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just">
              <a:spcBef>
                <a:spcPts val="100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6pPr>
            <a:lvl7pPr indent="-228600" lvl="6" marL="32004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7pPr>
            <a:lvl8pPr indent="-228600" lvl="7" marL="36576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8pPr>
            <a:lvl9pPr indent="-228600" lvl="8" marL="4114800" algn="just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9pPr>
          </a:lstStyle>
          <a:p/>
        </p:txBody>
      </p:sp>
      <p:sp>
        <p:nvSpPr>
          <p:cNvPr id="33" name="Google Shape;33;p24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7660" lvl="0" marL="457200" algn="just">
              <a:spcBef>
                <a:spcPts val="4200"/>
              </a:spcBef>
              <a:spcAft>
                <a:spcPts val="0"/>
              </a:spcAft>
              <a:buSzPts val="1560"/>
              <a:buChar char="■"/>
              <a:defRPr sz="2400"/>
            </a:lvl1pPr>
            <a:lvl2pPr indent="-304800" lvl="1" marL="914400" algn="just">
              <a:spcBef>
                <a:spcPts val="1800"/>
              </a:spcBef>
              <a:spcAft>
                <a:spcPts val="0"/>
              </a:spcAft>
              <a:buSzPts val="1200"/>
              <a:buChar char="❑"/>
              <a:defRPr sz="2000"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 sz="1800"/>
            </a:lvl3pPr>
            <a:lvl4pPr indent="-350519" lvl="3" marL="1828800" algn="just">
              <a:spcBef>
                <a:spcPts val="1000"/>
              </a:spcBef>
              <a:spcAft>
                <a:spcPts val="0"/>
              </a:spcAft>
              <a:buSzPts val="1920"/>
              <a:buChar char="-"/>
              <a:defRPr sz="1600"/>
            </a:lvl4pPr>
            <a:lvl5pPr indent="-304800" lvl="4" marL="22860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5pPr>
            <a:lvl6pPr indent="-304800" lvl="5" marL="27432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6pPr>
            <a:lvl7pPr indent="-304800" lvl="6" marL="32004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7pPr>
            <a:lvl8pPr indent="-304800" lvl="7" marL="36576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8pPr>
            <a:lvl9pPr indent="-304800" lvl="8" marL="4114800" algn="just">
              <a:spcBef>
                <a:spcPts val="320"/>
              </a:spcBef>
              <a:spcAft>
                <a:spcPts val="0"/>
              </a:spcAft>
              <a:buSzPts val="1200"/>
              <a:buChar char="▪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7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just">
              <a:spcBef>
                <a:spcPts val="420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35280" lvl="1" marL="914400" algn="just">
              <a:spcBef>
                <a:spcPts val="1800"/>
              </a:spcBef>
              <a:spcAft>
                <a:spcPts val="0"/>
              </a:spcAft>
              <a:buSzPts val="1680"/>
              <a:buChar char="❑"/>
              <a:defRPr sz="2800"/>
            </a:lvl2pPr>
            <a:lvl3pPr indent="-411480" lvl="2" marL="1371600" algn="just">
              <a:spcBef>
                <a:spcPts val="1000"/>
              </a:spcBef>
              <a:spcAft>
                <a:spcPts val="0"/>
              </a:spcAft>
              <a:buSzPts val="2880"/>
              <a:buChar char="•"/>
              <a:defRPr sz="2400"/>
            </a:lvl3pPr>
            <a:lvl4pPr indent="-381000" lvl="3" marL="1828800" algn="just">
              <a:spcBef>
                <a:spcPts val="1000"/>
              </a:spcBef>
              <a:spcAft>
                <a:spcPts val="0"/>
              </a:spcAft>
              <a:buSzPts val="2400"/>
              <a:buChar char="-"/>
              <a:defRPr sz="2000"/>
            </a:lvl4pPr>
            <a:lvl5pPr indent="-323850" lvl="4" marL="22860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indent="-323850" lvl="5" marL="27432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6pPr>
            <a:lvl7pPr indent="-323850" lvl="6" marL="32004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7pPr>
            <a:lvl8pPr indent="-323850" lvl="7" marL="36576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8pPr>
            <a:lvl9pPr indent="-323850" lvl="8" marL="4114800" algn="just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9pPr>
          </a:lstStyle>
          <a:p/>
        </p:txBody>
      </p:sp>
      <p:sp>
        <p:nvSpPr>
          <p:cNvPr id="40" name="Google Shape;40;p27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spcBef>
                <a:spcPts val="420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just">
              <a:spcBef>
                <a:spcPts val="180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just">
              <a:spcBef>
                <a:spcPts val="1000"/>
              </a:spcBef>
              <a:spcAft>
                <a:spcPts val="0"/>
              </a:spcAft>
              <a:buSzPts val="1200"/>
              <a:buNone/>
              <a:defRPr sz="1000"/>
            </a:lvl3pPr>
            <a:lvl4pPr indent="-228600" lvl="3" marL="1828800" algn="just">
              <a:spcBef>
                <a:spcPts val="1000"/>
              </a:spcBef>
              <a:spcAft>
                <a:spcPts val="0"/>
              </a:spcAft>
              <a:buSzPts val="1080"/>
              <a:buNone/>
              <a:defRPr sz="900"/>
            </a:lvl4pPr>
            <a:lvl5pPr indent="-228600" lvl="4" marL="22860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just">
              <a:spcBef>
                <a:spcPts val="4200"/>
              </a:spcBef>
              <a:spcAft>
                <a:spcPts val="0"/>
              </a:spcAft>
              <a:buSzPts val="910"/>
              <a:buNone/>
              <a:defRPr sz="1400"/>
            </a:lvl1pPr>
            <a:lvl2pPr indent="-228600" lvl="1" marL="914400" algn="just">
              <a:spcBef>
                <a:spcPts val="1800"/>
              </a:spcBef>
              <a:spcAft>
                <a:spcPts val="0"/>
              </a:spcAft>
              <a:buSzPts val="720"/>
              <a:buNone/>
              <a:defRPr sz="1200"/>
            </a:lvl2pPr>
            <a:lvl3pPr indent="-228600" lvl="2" marL="1371600" algn="just">
              <a:spcBef>
                <a:spcPts val="1000"/>
              </a:spcBef>
              <a:spcAft>
                <a:spcPts val="0"/>
              </a:spcAft>
              <a:buSzPts val="1200"/>
              <a:buNone/>
              <a:defRPr sz="1000"/>
            </a:lvl3pPr>
            <a:lvl4pPr indent="-228600" lvl="3" marL="1828800" algn="just">
              <a:spcBef>
                <a:spcPts val="1000"/>
              </a:spcBef>
              <a:spcAft>
                <a:spcPts val="0"/>
              </a:spcAft>
              <a:buSzPts val="1080"/>
              <a:buNone/>
              <a:defRPr sz="900"/>
            </a:lvl4pPr>
            <a:lvl5pPr indent="-228600" lvl="4" marL="22860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5pPr>
            <a:lvl6pPr indent="-228600" lvl="5" marL="27432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6pPr>
            <a:lvl7pPr indent="-228600" lvl="6" marL="32004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7pPr>
            <a:lvl8pPr indent="-228600" lvl="7" marL="36576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8pPr>
            <a:lvl9pPr indent="-228600" lvl="8" marL="4114800" algn="just"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" type="body"/>
          </p:nvPr>
        </p:nvSpPr>
        <p:spPr>
          <a:xfrm rot="5400000">
            <a:off x="3830638" y="-1620836"/>
            <a:ext cx="4530725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0"/>
          <p:cNvSpPr txBox="1"/>
          <p:nvPr>
            <p:ph type="title"/>
          </p:nvPr>
        </p:nvSpPr>
        <p:spPr>
          <a:xfrm rot="5400000">
            <a:off x="7284244" y="1832769"/>
            <a:ext cx="585311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" type="body"/>
          </p:nvPr>
        </p:nvSpPr>
        <p:spPr>
          <a:xfrm rot="5400000">
            <a:off x="1696244" y="-808831"/>
            <a:ext cx="5853112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abela" type="tbl">
  <p:cSld name="TAB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/>
          <p:nvPr>
            <p:ph idx="2" type="tbl"/>
          </p:nvPr>
        </p:nvSpPr>
        <p:spPr>
          <a:xfrm>
            <a:off x="609600" y="1600201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, texto e conteúdo" type="txAndObj">
  <p:cSld name="TEXT_AND_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6197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4 partes de conteúdo" type="fourObj">
  <p:cSld name="FOUR_OBJECTS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3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" type="body"/>
          </p:nvPr>
        </p:nvSpPr>
        <p:spPr>
          <a:xfrm>
            <a:off x="609600" y="1600201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idx="2" type="body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2" name="Google Shape;62;p33"/>
          <p:cNvSpPr txBox="1"/>
          <p:nvPr>
            <p:ph idx="3" type="body"/>
          </p:nvPr>
        </p:nvSpPr>
        <p:spPr>
          <a:xfrm>
            <a:off x="609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3" name="Google Shape;63;p33"/>
          <p:cNvSpPr txBox="1"/>
          <p:nvPr>
            <p:ph idx="4" type="body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e 2 partes de conteúdo" type="txAndTwoObj">
  <p:cSld name="TEXT_AND_TWO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4"/>
          <p:cNvSpPr txBox="1"/>
          <p:nvPr>
            <p:ph type="title"/>
          </p:nvPr>
        </p:nvSpPr>
        <p:spPr>
          <a:xfrm>
            <a:off x="609600" y="277814"/>
            <a:ext cx="109728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" type="body"/>
          </p:nvPr>
        </p:nvSpPr>
        <p:spPr>
          <a:xfrm>
            <a:off x="609600" y="1600201"/>
            <a:ext cx="5384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2" type="body"/>
          </p:nvPr>
        </p:nvSpPr>
        <p:spPr>
          <a:xfrm>
            <a:off x="6197600" y="1600201"/>
            <a:ext cx="5384800" cy="2189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  <p:sp>
        <p:nvSpPr>
          <p:cNvPr id="68" name="Google Shape;68;p34"/>
          <p:cNvSpPr txBox="1"/>
          <p:nvPr>
            <p:ph idx="3" type="body"/>
          </p:nvPr>
        </p:nvSpPr>
        <p:spPr>
          <a:xfrm>
            <a:off x="6197600" y="3941763"/>
            <a:ext cx="5384800" cy="218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just">
              <a:spcBef>
                <a:spcPts val="420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just">
              <a:spcBef>
                <a:spcPts val="1800"/>
              </a:spcBef>
              <a:spcAft>
                <a:spcPts val="0"/>
              </a:spcAft>
              <a:buSzPts val="1080"/>
              <a:buChar char="❑"/>
              <a:defRPr/>
            </a:lvl2pPr>
            <a:lvl3pPr indent="-365760" lvl="2" marL="1371600" algn="just">
              <a:spcBef>
                <a:spcPts val="1000"/>
              </a:spcBef>
              <a:spcAft>
                <a:spcPts val="0"/>
              </a:spcAft>
              <a:buSzPts val="2160"/>
              <a:buChar char="•"/>
              <a:defRPr/>
            </a:lvl3pPr>
            <a:lvl4pPr indent="-365760" lvl="3" marL="1828800" algn="just">
              <a:spcBef>
                <a:spcPts val="1000"/>
              </a:spcBef>
              <a:spcAft>
                <a:spcPts val="0"/>
              </a:spcAft>
              <a:buSzPts val="2160"/>
              <a:buChar char="-"/>
              <a:defRPr/>
            </a:lvl4pPr>
            <a:lvl5pPr indent="-314325" lvl="4" marL="22860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14325" lvl="5" marL="27432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indent="-314325" lvl="6" marL="32004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indent="-314325" lvl="7" marL="36576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indent="-314325" lvl="8" marL="4114800" algn="just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>
            <a:off x="508000" y="228600"/>
            <a:ext cx="10972800" cy="609600"/>
          </a:xfrm>
          <a:custGeom>
            <a:rect b="b" l="l" r="r" t="t"/>
            <a:pathLst>
              <a:path extrusionOk="0" h="1000" w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317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9"/>
          <p:cNvSpPr txBox="1"/>
          <p:nvPr>
            <p:ph type="title"/>
          </p:nvPr>
        </p:nvSpPr>
        <p:spPr>
          <a:xfrm>
            <a:off x="609600" y="277814"/>
            <a:ext cx="10972800" cy="745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sng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sng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sng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sng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" type="body"/>
          </p:nvPr>
        </p:nvSpPr>
        <p:spPr>
          <a:xfrm>
            <a:off x="609600" y="1067507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just">
              <a:spcBef>
                <a:spcPts val="42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just"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96239" lvl="2" marL="1371600" marR="0" rtl="0" algn="just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64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just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just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just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rtl="0" algn="just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rtl="0" algn="just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rtl="0" algn="just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/>
          <p:nvPr>
            <p:ph type="ctrTitle"/>
          </p:nvPr>
        </p:nvSpPr>
        <p:spPr>
          <a:xfrm>
            <a:off x="1214967" y="2326941"/>
            <a:ext cx="10164233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240(02) – PyQt (Sinais e Slots)</a:t>
            </a:r>
            <a:br>
              <a:rPr lang="pt-BR"/>
            </a:br>
            <a:br>
              <a:rPr lang="pt-BR"/>
            </a:br>
            <a:endParaRPr/>
          </a:p>
        </p:txBody>
      </p:sp>
      <p:sp>
        <p:nvSpPr>
          <p:cNvPr id="75" name="Google Shape;75;p1"/>
          <p:cNvSpPr txBox="1"/>
          <p:nvPr>
            <p:ph idx="1" type="subTitle"/>
          </p:nvPr>
        </p:nvSpPr>
        <p:spPr>
          <a:xfrm>
            <a:off x="4276435" y="5131487"/>
            <a:ext cx="3191164" cy="6001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SzPts val="2340"/>
              <a:buFont typeface="Noto Sans Symbols"/>
              <a:buNone/>
            </a:pPr>
            <a:r>
              <a:rPr lang="pt-BR" sz="3600"/>
              <a:t>Thiago Rocha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Sinais e </a:t>
            </a:r>
            <a:r>
              <a:rPr i="1" lang="pt-BR"/>
              <a:t>Slots</a:t>
            </a:r>
            <a:endParaRPr i="1"/>
          </a:p>
        </p:txBody>
      </p:sp>
      <p:sp>
        <p:nvSpPr>
          <p:cNvPr id="81" name="Google Shape;81;p2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Até aqui nos nossos exemplos o botão não comandava nenhuma ação</a:t>
            </a:r>
            <a:endParaRPr/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Vamos criar as ações usando sinais e </a:t>
            </a:r>
            <a:r>
              <a:rPr i="1" lang="pt-BR"/>
              <a:t>slots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Um sinal é emitido quando ocorre um determinado evento</a:t>
            </a:r>
            <a:endParaRPr/>
          </a:p>
          <a:p>
            <a:pPr indent="-350838" lvl="2" marL="1022350" rtl="0" algn="just">
              <a:spcBef>
                <a:spcPts val="1000"/>
              </a:spcBef>
              <a:spcAft>
                <a:spcPts val="0"/>
              </a:spcAft>
              <a:buSzPts val="2640"/>
              <a:buChar char="•"/>
            </a:pPr>
            <a:r>
              <a:rPr lang="pt-BR"/>
              <a:t>O evento pode ser o clique em um botão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O </a:t>
            </a:r>
            <a:r>
              <a:rPr i="1" lang="pt-BR"/>
              <a:t>slot</a:t>
            </a:r>
            <a:r>
              <a:rPr lang="pt-BR"/>
              <a:t>, que é uma função, é chamado quando um determinado sinal é emitido. Qualquer função pode ser usada como </a:t>
            </a:r>
            <a:r>
              <a:rPr i="1" lang="pt-BR"/>
              <a:t>slot</a:t>
            </a:r>
            <a:r>
              <a:rPr lang="pt-BR"/>
              <a:t>.</a:t>
            </a:r>
            <a:endParaRPr/>
          </a:p>
          <a:p>
            <a:pPr indent="-350838" lvl="2" marL="1022350" rtl="0" algn="just">
              <a:spcBef>
                <a:spcPts val="1000"/>
              </a:spcBef>
              <a:spcAft>
                <a:spcPts val="0"/>
              </a:spcAft>
              <a:buSzPts val="2640"/>
              <a:buChar char="•"/>
            </a:pPr>
            <a:r>
              <a:rPr lang="pt-BR"/>
              <a:t>Por exemplo, o clique no mouse (evento) emite um sinal (</a:t>
            </a:r>
            <a:r>
              <a:rPr i="1" lang="pt-BR"/>
              <a:t>signal</a:t>
            </a:r>
            <a:r>
              <a:rPr lang="pt-BR"/>
              <a:t>), que é capturado por um </a:t>
            </a:r>
            <a:r>
              <a:rPr i="1" lang="pt-BR"/>
              <a:t>slot</a:t>
            </a:r>
            <a:r>
              <a:rPr lang="pt-BR"/>
              <a:t>, e uma mensagem é exiba na tela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1</a:t>
            </a:r>
            <a:endParaRPr/>
          </a:p>
        </p:txBody>
      </p:sp>
      <p:graphicFrame>
        <p:nvGraphicFramePr>
          <p:cNvPr id="87" name="Google Shape;87;p3"/>
          <p:cNvGraphicFramePr/>
          <p:nvPr/>
        </p:nvGraphicFramePr>
        <p:xfrm>
          <a:off x="151623" y="10414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52564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 u="none" cap="none" strike="noStrik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 sz="1800" u="none" cap="none" strike="noStrike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 u="none" cap="none" strike="noStrike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PyQt6</a:t>
                      </a:r>
                      <a:r>
                        <a:rPr b="1" lang="pt-BR" sz="1800" u="none" cap="none" strike="noStrike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QtWidgets </a:t>
                      </a:r>
                      <a:r>
                        <a:rPr b="1" lang="pt-BR" sz="1800" u="none" cap="none" strike="noStrike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QApplication</a:t>
                      </a:r>
                      <a:r>
                        <a:rPr b="1" lang="pt-BR" sz="1800" u="none" cap="none" strike="noStrike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QMainWindow</a:t>
                      </a:r>
                      <a:r>
                        <a:rPr b="1" lang="pt-BR" sz="1800" u="none" cap="none" strike="noStrike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 u="none" cap="none" strike="noStrike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sys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setWindowTitle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 App"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"Press Me!"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setCentralWidget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"Clicked!"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QApplication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argv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window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sz="1800"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" name="Google Shape;88;p3"/>
          <p:cNvSpPr/>
          <p:nvPr/>
        </p:nvSpPr>
        <p:spPr>
          <a:xfrm>
            <a:off x="1159182" y="3779431"/>
            <a:ext cx="7052038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7170467" y="2146561"/>
            <a:ext cx="4827011" cy="147732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clicked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variável de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QAbstractButton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uma instância da classe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PyQt6.QtCore.pyqtBoundSignal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Portanto, com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button.clicked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estamos acessando esse objeto, que é um sinal. 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8041206" y="4294100"/>
            <a:ext cx="3999171" cy="1200329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sinal possui o método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faz a conexão do sinal com o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no caso é o método 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the_button_was_clicked</a:t>
            </a:r>
            <a:endParaRPr/>
          </a:p>
        </p:txBody>
      </p:sp>
      <p:cxnSp>
        <p:nvCxnSpPr>
          <p:cNvPr id="91" name="Google Shape;91;p3"/>
          <p:cNvCxnSpPr>
            <a:endCxn id="89" idx="1"/>
          </p:cNvCxnSpPr>
          <p:nvPr/>
        </p:nvCxnSpPr>
        <p:spPr>
          <a:xfrm rot="-5400000">
            <a:off x="6310817" y="2910875"/>
            <a:ext cx="885300" cy="834000"/>
          </a:xfrm>
          <a:prstGeom prst="bentConnector2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p3"/>
          <p:cNvCxnSpPr/>
          <p:nvPr/>
        </p:nvCxnSpPr>
        <p:spPr>
          <a:xfrm>
            <a:off x="9902937" y="3632725"/>
            <a:ext cx="0" cy="661375"/>
          </a:xfrm>
          <a:prstGeom prst="straightConnector1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3" name="Google Shape;93;p3"/>
          <p:cNvSpPr/>
          <p:nvPr/>
        </p:nvSpPr>
        <p:spPr>
          <a:xfrm>
            <a:off x="875059" y="4871883"/>
            <a:ext cx="4574581" cy="607194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3"/>
          <p:cNvCxnSpPr>
            <a:stCxn id="93" idx="3"/>
            <a:endCxn id="95" idx="1"/>
          </p:cNvCxnSpPr>
          <p:nvPr/>
        </p:nvCxnSpPr>
        <p:spPr>
          <a:xfrm>
            <a:off x="5449640" y="5175480"/>
            <a:ext cx="1268100" cy="1170300"/>
          </a:xfrm>
          <a:prstGeom prst="bentConnector3">
            <a:avLst>
              <a:gd fmla="val 50005" name="adj1"/>
            </a:avLst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" name="Google Shape;95;p3"/>
          <p:cNvSpPr txBox="1"/>
          <p:nvPr/>
        </p:nvSpPr>
        <p:spPr>
          <a:xfrm>
            <a:off x="6717860" y="6022494"/>
            <a:ext cx="3999171" cy="64633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Método que é chamado quando o botão é clicado.</a:t>
            </a:r>
            <a:endParaRPr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1</a:t>
            </a:r>
            <a:endParaRPr/>
          </a:p>
        </p:txBody>
      </p:sp>
      <p:sp>
        <p:nvSpPr>
          <p:cNvPr id="101" name="Google Shape;101;p4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Sequência de passos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Evento acontece: botão é clicado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Sinal é emitido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Método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the_button_was_clicked </a:t>
            </a:r>
            <a:r>
              <a:rPr lang="pt-BR"/>
              <a:t>é chamado</a:t>
            </a:r>
            <a:endParaRPr/>
          </a:p>
          <a:p>
            <a:pPr indent="-350838" lvl="2" marL="1022350" rtl="0" algn="just">
              <a:spcBef>
                <a:spcPts val="1000"/>
              </a:spcBef>
              <a:spcAft>
                <a:spcPts val="0"/>
              </a:spcAft>
              <a:buSzPts val="2640"/>
              <a:buChar char="•"/>
            </a:pPr>
            <a:r>
              <a:rPr lang="pt-BR"/>
              <a:t>“</a:t>
            </a:r>
            <a:r>
              <a:rPr i="1" lang="pt-BR"/>
              <a:t>Clicked!</a:t>
            </a:r>
            <a:r>
              <a:rPr lang="pt-BR"/>
              <a:t>” é escrito na tela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1</a:t>
            </a:r>
            <a:endParaRPr/>
          </a:p>
        </p:txBody>
      </p:sp>
      <p:sp>
        <p:nvSpPr>
          <p:cNvPr id="107" name="Google Shape;107;p5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Importante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Sempre que um evento acontece o sinal correspondente é emitido. Entretanto, se não houver um </a:t>
            </a:r>
            <a:r>
              <a:rPr i="1" lang="pt-BR"/>
              <a:t>slot</a:t>
            </a:r>
            <a:r>
              <a:rPr lang="pt-BR"/>
              <a:t> associado nada acontece.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No nosso caso, quando o botão é clicado, o sinal é emitido automaticamente pelo </a:t>
            </a:r>
            <a:r>
              <a:rPr i="1" lang="pt-BR"/>
              <a:t>widget</a:t>
            </a:r>
            <a:r>
              <a:rPr lang="pt-BR"/>
              <a:t>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QPushButton</a:t>
            </a:r>
            <a:r>
              <a:rPr lang="pt-BR"/>
              <a:t>. Isso aconteceria mesmo se não tivéssemos definido o método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the_button_was_clicked </a:t>
            </a:r>
            <a:r>
              <a:rPr lang="pt-BR"/>
              <a:t>e realizado a conexão na Linha 11.</a:t>
            </a:r>
            <a:endParaRPr/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Os Exemplos 2 e 3 a seguir  são construídos em cima do Exemplo 1, apenas acrescentando linhas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Observação</a:t>
            </a:r>
            <a:endParaRPr/>
          </a:p>
        </p:txBody>
      </p:sp>
      <p:sp>
        <p:nvSpPr>
          <p:cNvPr id="113" name="Google Shape;113;p6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Nos próximos exemplos para reduzir o número de linhas iremos mostrar apenas a classe:</a:t>
            </a:r>
            <a:endParaRPr/>
          </a:p>
        </p:txBody>
      </p:sp>
      <p:graphicFrame>
        <p:nvGraphicFramePr>
          <p:cNvPr id="114" name="Google Shape;114;p6"/>
          <p:cNvGraphicFramePr/>
          <p:nvPr/>
        </p:nvGraphicFramePr>
        <p:xfrm>
          <a:off x="280283" y="27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31262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8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Omitido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FF"/>
                        </a:buClr>
                        <a:buSzPts val="1800"/>
                        <a:buFont typeface="Courier New"/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sys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from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PyQt6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QtWidgets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import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QApplication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8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Classe</a:t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8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8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# Omitido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QApplication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sys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argv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window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show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app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sz="1800"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2</a:t>
            </a:r>
            <a:endParaRPr/>
          </a:p>
        </p:txBody>
      </p:sp>
      <p:graphicFrame>
        <p:nvGraphicFramePr>
          <p:cNvPr id="120" name="Google Shape;120;p7"/>
          <p:cNvGraphicFramePr/>
          <p:nvPr/>
        </p:nvGraphicFramePr>
        <p:xfrm>
          <a:off x="151623" y="1477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4196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setWindowTitle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 App"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"Press Me!"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setCheckable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setCentralWidget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"Clicked!"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7"/>
          <p:cNvSpPr/>
          <p:nvPr/>
        </p:nvSpPr>
        <p:spPr>
          <a:xfrm>
            <a:off x="1159182" y="3375071"/>
            <a:ext cx="3651756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4767280" y="3538621"/>
            <a:ext cx="2010308" cy="0"/>
          </a:xfrm>
          <a:prstGeom prst="straightConnector1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3" name="Google Shape;123;p7"/>
          <p:cNvSpPr txBox="1"/>
          <p:nvPr/>
        </p:nvSpPr>
        <p:spPr>
          <a:xfrm>
            <a:off x="6777588" y="2787941"/>
            <a:ext cx="4983041" cy="1477328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Acrescentamos essa linha ao Exemplo 1. Indica que o botão possui dois estados alternáveis (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checkable button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que alternam quando o botão é clicado. Teste o código para ver a diferença.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3: um sinal, múltiplos slots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No Exemplo anterior o sinal estava associado a uma única função (</a:t>
            </a:r>
            <a:r>
              <a:rPr i="1" lang="pt-BR"/>
              <a:t>slot</a:t>
            </a:r>
            <a:r>
              <a:rPr lang="pt-BR"/>
              <a:t>). Entretanto, um mesmo sinal pode estar associado a diversos </a:t>
            </a:r>
            <a:r>
              <a:rPr i="1" lang="pt-BR"/>
              <a:t>slots</a:t>
            </a:r>
            <a:r>
              <a:rPr lang="pt-BR"/>
              <a:t>.</a:t>
            </a:r>
            <a:endParaRPr/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No Exemplo seguinte o mesmo sinal é associado a dois </a:t>
            </a:r>
            <a:r>
              <a:rPr i="1" lang="pt-BR"/>
              <a:t>slots</a:t>
            </a:r>
            <a:r>
              <a:rPr lang="pt-BR"/>
              <a:t>. Apenas adicionamos as Linhas 13 e 20-21 em relação ao Exemplo 2.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3</a:t>
            </a:r>
            <a:endParaRPr/>
          </a:p>
        </p:txBody>
      </p:sp>
      <p:graphicFrame>
        <p:nvGraphicFramePr>
          <p:cNvPr id="136" name="Google Shape;136;p9"/>
          <p:cNvGraphicFramePr/>
          <p:nvPr/>
        </p:nvGraphicFramePr>
        <p:xfrm>
          <a:off x="163655" y="124819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511585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setWindowTitle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 App"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"Press Me!"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setCheckable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setCentralWidget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"Clicked!"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"Checked?"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" name="Google Shape;137;p9"/>
          <p:cNvSpPr/>
          <p:nvPr/>
        </p:nvSpPr>
        <p:spPr>
          <a:xfrm>
            <a:off x="1113857" y="3703663"/>
            <a:ext cx="7052038" cy="303068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9136329" y="2970696"/>
            <a:ext cx="2335790" cy="64633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Conectamos ao sinal mais um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slot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916414" y="5503309"/>
            <a:ext cx="6150657" cy="672333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" name="Google Shape;140;p9"/>
          <p:cNvCxnSpPr>
            <a:stCxn id="139" idx="3"/>
            <a:endCxn id="141" idx="1"/>
          </p:cNvCxnSpPr>
          <p:nvPr/>
        </p:nvCxnSpPr>
        <p:spPr>
          <a:xfrm>
            <a:off x="7067071" y="5839476"/>
            <a:ext cx="1020000" cy="5700"/>
          </a:xfrm>
          <a:prstGeom prst="straightConnector1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" name="Google Shape;142;p9"/>
          <p:cNvSpPr/>
          <p:nvPr/>
        </p:nvSpPr>
        <p:spPr>
          <a:xfrm>
            <a:off x="865869" y="4751561"/>
            <a:ext cx="4620531" cy="606175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9"/>
          <p:cNvSpPr txBox="1"/>
          <p:nvPr/>
        </p:nvSpPr>
        <p:spPr>
          <a:xfrm>
            <a:off x="6460535" y="4231051"/>
            <a:ext cx="5408286" cy="92333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método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envia um parâmetro adicional 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checked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é do tipo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cujo </a:t>
            </a:r>
            <a:r>
              <a:rPr i="1"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aqui não aparece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44" name="Google Shape;144;p9"/>
          <p:cNvCxnSpPr>
            <a:endCxn id="143" idx="1"/>
          </p:cNvCxnSpPr>
          <p:nvPr/>
        </p:nvCxnSpPr>
        <p:spPr>
          <a:xfrm flipH="1" rot="10800000">
            <a:off x="5486435" y="4692716"/>
            <a:ext cx="974100" cy="348600"/>
          </a:xfrm>
          <a:prstGeom prst="bentConnector3">
            <a:avLst>
              <a:gd fmla="val 49998" name="adj1"/>
            </a:avLst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5" name="Google Shape;145;p9"/>
          <p:cNvCxnSpPr>
            <a:endCxn id="138" idx="1"/>
          </p:cNvCxnSpPr>
          <p:nvPr/>
        </p:nvCxnSpPr>
        <p:spPr>
          <a:xfrm flipH="1" rot="10800000">
            <a:off x="8165829" y="3293862"/>
            <a:ext cx="970500" cy="569700"/>
          </a:xfrm>
          <a:prstGeom prst="bentConnector3">
            <a:avLst>
              <a:gd fmla="val 50003" name="adj1"/>
            </a:avLst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9"/>
          <p:cNvSpPr txBox="1"/>
          <p:nvPr/>
        </p:nvSpPr>
        <p:spPr>
          <a:xfrm>
            <a:off x="8087155" y="5521911"/>
            <a:ext cx="3767880" cy="64633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estado do botão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is_checked 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escrito no print.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4</a:t>
            </a:r>
            <a:endParaRPr/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No Exemplo anterior criamos um </a:t>
            </a:r>
            <a:r>
              <a:rPr i="1" lang="pt-BR"/>
              <a:t>checkble button</a:t>
            </a:r>
            <a:r>
              <a:rPr lang="pt-BR"/>
              <a:t>, porém usamos o estado inicial </a:t>
            </a:r>
            <a:r>
              <a:rPr i="1" lang="pt-BR"/>
              <a:t>default</a:t>
            </a:r>
            <a:r>
              <a:rPr lang="pt-BR"/>
              <a:t>, que é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pt-BR"/>
              <a:t>. Esse estado inicial pode ser setado explicitamente.</a:t>
            </a:r>
            <a:endParaRPr/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Vamos retomar o Exemplo anterior. Consideremos a situação em que queremos indicar se uma letra está em negrito e cujo estado </a:t>
            </a:r>
            <a:r>
              <a:rPr i="1" lang="pt-BR"/>
              <a:t>default</a:t>
            </a:r>
            <a:r>
              <a:rPr lang="pt-BR"/>
              <a:t> seja negrito. Nesse caso o botão deve começar pressionado.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4</a:t>
            </a:r>
            <a:endParaRPr/>
          </a:p>
        </p:txBody>
      </p:sp>
      <p:graphicFrame>
        <p:nvGraphicFramePr>
          <p:cNvPr id="157" name="Google Shape;157;p11"/>
          <p:cNvGraphicFramePr/>
          <p:nvPr/>
        </p:nvGraphicFramePr>
        <p:xfrm>
          <a:off x="151623" y="11746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55615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button_is_checked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setWindowTitle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 App"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"Bold"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setCheckable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button_is_checked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setCentralWidget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"Clicked!"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"In bold?"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,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1"/>
          <p:cNvSpPr/>
          <p:nvPr/>
        </p:nvSpPr>
        <p:spPr>
          <a:xfrm>
            <a:off x="1173733" y="2242704"/>
            <a:ext cx="4124273" cy="339668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11"/>
          <p:cNvCxnSpPr/>
          <p:nvPr/>
        </p:nvCxnSpPr>
        <p:spPr>
          <a:xfrm>
            <a:off x="5298006" y="2410789"/>
            <a:ext cx="1815015" cy="0"/>
          </a:xfrm>
          <a:prstGeom prst="straightConnector1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" name="Google Shape;160;p11"/>
          <p:cNvSpPr txBox="1"/>
          <p:nvPr/>
        </p:nvSpPr>
        <p:spPr>
          <a:xfrm>
            <a:off x="7113021" y="2087623"/>
            <a:ext cx="3947084" cy="64633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Criamos uma variável do tipo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</a:t>
            </a: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setamos como </a:t>
            </a:r>
            <a:r>
              <a:rPr lang="pt-BR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173733" y="4154395"/>
            <a:ext cx="5603855" cy="339668"/>
          </a:xfrm>
          <a:prstGeom prst="rect">
            <a:avLst/>
          </a:prstGeom>
          <a:solidFill>
            <a:srgbClr val="99CCFF">
              <a:alpha val="40000"/>
            </a:srgbClr>
          </a:solidFill>
          <a:ln cap="flat" cmpd="sng" w="25400">
            <a:solidFill>
              <a:srgbClr val="B4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6775018" y="4323064"/>
            <a:ext cx="1537292" cy="0"/>
          </a:xfrm>
          <a:prstGeom prst="straightConnector1">
            <a:avLst/>
          </a:prstGeom>
          <a:noFill/>
          <a:ln cap="flat" cmpd="sng" w="57150">
            <a:solidFill>
              <a:srgbClr val="317227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3" name="Google Shape;163;p11"/>
          <p:cNvSpPr txBox="1"/>
          <p:nvPr/>
        </p:nvSpPr>
        <p:spPr>
          <a:xfrm>
            <a:off x="8312310" y="3999898"/>
            <a:ext cx="3593270" cy="646331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Setamos o estado inicial do botão como pressionado</a:t>
            </a:r>
            <a:endParaRPr i="1" sz="1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4 Sinais de QAbstractButton</a:t>
            </a:r>
            <a:endParaRPr/>
          </a:p>
        </p:txBody>
      </p:sp>
      <p:sp>
        <p:nvSpPr>
          <p:cNvPr id="169" name="Google Shape;169;p12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clicked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Emitido quando o botão é pressionado e liberado (ou quando tecla de atalho é usada)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toggled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Emitido quando o estado do botão alterna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4 Sinais de QAbstractButton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pressed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Emitido quando o botão é pressionado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released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Emitido quando o botão é liberado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5: os 4 Sinais de QAbstractButton</a:t>
            </a:r>
            <a:endParaRPr/>
          </a:p>
        </p:txBody>
      </p:sp>
      <p:graphicFrame>
        <p:nvGraphicFramePr>
          <p:cNvPr id="181" name="Google Shape;181;p14"/>
          <p:cNvGraphicFramePr/>
          <p:nvPr/>
        </p:nvGraphicFramePr>
        <p:xfrm>
          <a:off x="151623" y="11746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478502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17</a:t>
                      </a:r>
                      <a:endParaRPr sz="18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class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QMainWindow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super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__init__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button_is_checked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endParaRPr b="1" sz="1800">
                        <a:solidFill>
                          <a:srgbClr val="880088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setWindowTitle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"My App"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8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 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=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QPushButton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"Press Me!"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setCheckable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True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released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the_button_was_released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pressed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the_button_was_pressed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connect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button_is_checked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setCentralWidget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.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button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5: os 4 Sinais de QAbstractButton</a:t>
            </a:r>
            <a:endParaRPr/>
          </a:p>
        </p:txBody>
      </p:sp>
      <p:graphicFrame>
        <p:nvGraphicFramePr>
          <p:cNvPr id="187" name="Google Shape;187;p15"/>
          <p:cNvGraphicFramePr/>
          <p:nvPr/>
        </p:nvGraphicFramePr>
        <p:xfrm>
          <a:off x="151623" y="11746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{99A957AF-83A6-4CC1-BAF5-387C0A804CF9}</a:tableStyleId>
              </a:tblPr>
              <a:tblGrid>
                <a:gridCol w="454925"/>
                <a:gridCol w="10908475"/>
              </a:tblGrid>
              <a:tr h="31584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18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19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20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21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22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23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24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26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27</a:t>
                      </a:r>
                      <a:endParaRPr/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8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28</a:t>
                      </a:r>
                      <a:endParaRPr/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the_button_was_clicked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"Clicked"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the_button_was_released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"Released"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the_button_was_pressed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"Pressed"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</a:t>
                      </a:r>
                      <a:r>
                        <a:rPr b="1" lang="pt-BR" sz="1800">
                          <a:solidFill>
                            <a:srgbClr val="00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def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lang="pt-BR" sz="1800">
                          <a:solidFill>
                            <a:srgbClr val="FF00FF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the_button_was_toggled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self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):</a:t>
                      </a:r>
                      <a:endParaRPr b="1"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800">
                          <a:solidFill>
                            <a:srgbClr val="00000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  </a:t>
                      </a:r>
                      <a:r>
                        <a:rPr b="1" lang="pt-BR" sz="1800">
                          <a:solidFill>
                            <a:srgbClr val="880088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print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(</a:t>
                      </a:r>
                      <a:r>
                        <a:rPr lang="pt-BR" sz="1800">
                          <a:solidFill>
                            <a:srgbClr val="808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"Toggled"</a:t>
                      </a:r>
                      <a:r>
                        <a:rPr b="1" lang="pt-BR" sz="1800">
                          <a:solidFill>
                            <a:srgbClr val="000080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)</a:t>
                      </a:r>
                      <a:endParaRPr sz="1800">
                        <a:solidFill>
                          <a:srgbClr val="000000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0" marB="0" marR="46425" marL="46425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4 Sinais de QAbstractButton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609600" y="128596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/>
              <a:t>Quando um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QPushButton</a:t>
            </a:r>
            <a:r>
              <a:rPr lang="pt-BR"/>
              <a:t> </a:t>
            </a:r>
            <a:r>
              <a:rPr i="1" lang="pt-BR"/>
              <a:t>checkable</a:t>
            </a:r>
            <a:r>
              <a:rPr lang="pt-BR"/>
              <a:t>  é clicado por padrão 2 sinais são emitidos: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clicked()</a:t>
            </a:r>
            <a:r>
              <a:rPr lang="pt-BR"/>
              <a:t> e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toggled()</a:t>
            </a:r>
            <a:r>
              <a:rPr lang="pt-BR"/>
              <a:t>.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Entretanto, esse comportamento pode ser alterado sobrescrevendo o método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nextCheckState</a:t>
            </a:r>
            <a:r>
              <a:rPr lang="pt-BR"/>
              <a:t> de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QAbstractButton</a:t>
            </a:r>
            <a:r>
              <a:rPr lang="pt-BR"/>
              <a:t>, que é responsável por alterar o estado do botão.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</a:t>
            </a:r>
            <a:endParaRPr/>
          </a:p>
        </p:txBody>
      </p:sp>
      <p:sp>
        <p:nvSpPr>
          <p:cNvPr id="200" name="Google Shape;200;p17"/>
          <p:cNvSpPr txBox="1"/>
          <p:nvPr>
            <p:ph idx="1" type="body"/>
          </p:nvPr>
        </p:nvSpPr>
        <p:spPr>
          <a:xfrm>
            <a:off x="609600" y="129515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QPushButton</a:t>
            </a:r>
            <a:r>
              <a:rPr lang="pt-BR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(QAbstractButton)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[M]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setCheckable 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[M]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setChecked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"/>
          <p:cNvSpPr txBox="1"/>
          <p:nvPr>
            <p:ph type="title"/>
          </p:nvPr>
        </p:nvSpPr>
        <p:spPr>
          <a:xfrm>
            <a:off x="787829" y="332656"/>
            <a:ext cx="10972800" cy="7914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</a:t>
            </a:r>
            <a:endParaRPr/>
          </a:p>
        </p:txBody>
      </p:sp>
      <p:sp>
        <p:nvSpPr>
          <p:cNvPr id="207" name="Google Shape;207;p18"/>
          <p:cNvSpPr txBox="1"/>
          <p:nvPr>
            <p:ph idx="1" type="body"/>
          </p:nvPr>
        </p:nvSpPr>
        <p:spPr>
          <a:xfrm>
            <a:off x="609600" y="1295159"/>
            <a:ext cx="109728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just">
              <a:spcBef>
                <a:spcPts val="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QPushButton</a:t>
            </a:r>
            <a:r>
              <a:rPr lang="pt-BR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(QAbstractButton)</a:t>
            </a:r>
            <a:endParaRPr/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[V]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clicked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[V]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pressed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[V]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released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/>
              <a:t>[V] </a:t>
            </a:r>
            <a:r>
              <a:rPr lang="pt-BR">
                <a:latin typeface="Courier New"/>
                <a:ea typeface="Courier New"/>
                <a:cs typeface="Courier New"/>
                <a:sym typeface="Courier New"/>
              </a:rPr>
              <a:t>toggled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rtl="0" algn="just">
              <a:spcBef>
                <a:spcPts val="4200"/>
              </a:spcBef>
              <a:spcAft>
                <a:spcPts val="0"/>
              </a:spcAft>
              <a:buSzPts val="1950"/>
              <a:buChar char="■"/>
            </a:pPr>
            <a:r>
              <a:rPr lang="pt-BR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pyqtBoundSignal</a:t>
            </a:r>
            <a:endParaRPr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2543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Char char="❑"/>
            </a:pPr>
            <a:r>
              <a:rPr lang="pt-BR">
                <a:solidFill>
                  <a:srgbClr val="000000"/>
                </a:solidFill>
              </a:rPr>
              <a:t>[M]</a:t>
            </a:r>
            <a:r>
              <a:rPr lang="pt-BR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connect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6378" lvl="1" marL="669925" rtl="0" algn="just">
              <a:spcBef>
                <a:spcPts val="180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 txBox="1"/>
          <p:nvPr/>
        </p:nvSpPr>
        <p:spPr>
          <a:xfrm>
            <a:off x="5621534" y="3070090"/>
            <a:ext cx="6332621" cy="461665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self</a:t>
            </a:r>
            <a:r>
              <a:rPr b="1" lang="pt-BR" sz="2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button</a:t>
            </a:r>
            <a:r>
              <a:rPr b="1" lang="pt-BR" sz="2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released</a:t>
            </a:r>
            <a:r>
              <a:rPr b="1" lang="pt-BR" sz="2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</a:t>
            </a:r>
            <a:r>
              <a:rPr b="1" lang="pt-BR" sz="2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b="1" lang="pt-BR" sz="2400">
                <a:solidFill>
                  <a:srgbClr val="000080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pt-BR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18"/>
          <p:cNvCxnSpPr/>
          <p:nvPr/>
        </p:nvCxnSpPr>
        <p:spPr>
          <a:xfrm>
            <a:off x="5739325" y="3491841"/>
            <a:ext cx="3676818" cy="0"/>
          </a:xfrm>
          <a:prstGeom prst="straightConnector1">
            <a:avLst/>
          </a:prstGeom>
          <a:noFill/>
          <a:ln cap="flat" cmpd="sng" w="76200">
            <a:solidFill>
              <a:srgbClr val="37802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8"/>
          <p:cNvCxnSpPr/>
          <p:nvPr/>
        </p:nvCxnSpPr>
        <p:spPr>
          <a:xfrm flipH="1" rot="10800000">
            <a:off x="4576336" y="3531690"/>
            <a:ext cx="3134400" cy="1507800"/>
          </a:xfrm>
          <a:prstGeom prst="bentConnector2">
            <a:avLst/>
          </a:prstGeom>
          <a:noFill/>
          <a:ln cap="flat" cmpd="sng" w="76200">
            <a:solidFill>
              <a:schemeClr val="accent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Padrão">
  <a:themeElements>
    <a:clrScheme name="Borda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2017-06-20T21:36:17Z</dcterms:created>
  <dc:creator>Usuario</dc:creator>
</cp:coreProperties>
</file>