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438" r:id="rId3"/>
    <p:sldId id="432" r:id="rId4"/>
    <p:sldId id="433" r:id="rId5"/>
    <p:sldId id="434" r:id="rId6"/>
    <p:sldId id="437" r:id="rId7"/>
    <p:sldId id="435" r:id="rId8"/>
    <p:sldId id="439" r:id="rId9"/>
    <p:sldId id="440" r:id="rId10"/>
    <p:sldId id="441" r:id="rId11"/>
    <p:sldId id="442" r:id="rId12"/>
    <p:sldId id="443" r:id="rId13"/>
    <p:sldId id="436" r:id="rId14"/>
    <p:sldId id="444" r:id="rId15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3852" autoAdjust="0"/>
  </p:normalViewPr>
  <p:slideViewPr>
    <p:cSldViewPr snapToGrid="0">
      <p:cViewPr varScale="1">
        <p:scale>
          <a:sx n="58" d="100"/>
          <a:sy n="58" d="100"/>
        </p:scale>
        <p:origin x="116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7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090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02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2856F-CD42-0C91-A28A-179A1BE23C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890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da informação: Interno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III – </a:t>
            </a:r>
            <a:r>
              <a:rPr lang="pt-BR" dirty="0" err="1"/>
              <a:t>PyQt</a:t>
            </a:r>
            <a:r>
              <a:rPr lang="pt-BR" dirty="0"/>
              <a:t> (Layouts)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9D71-9652-C448-9186-C669881E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Padrão para os Exemplos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506A-F6EC-0225-A2C6-8EDB2AA7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648515"/>
          </a:xfrm>
        </p:spPr>
        <p:txBody>
          <a:bodyPr/>
          <a:lstStyle/>
          <a:p>
            <a:r>
              <a:rPr lang="en-US"/>
              <a:t>Para os exemplos dessa aula usaremos o seguinte padrão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0204F9-4FA4-66B3-0099-7E5560731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179331"/>
              </p:ext>
            </p:extLst>
          </p:nvPr>
        </p:nvGraphicFramePr>
        <p:xfrm>
          <a:off x="397245" y="2162588"/>
          <a:ext cx="11363384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12622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QWidget,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QPushButton, QHBoxLayout, QVBoxLayout, QVBoxLayout, QGridLayout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5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FB50-D76E-0EF5-BA13-D7E41BF1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C45AA-D4B6-64CD-AE32-0C7E8A2DA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Layout</a:t>
            </a:r>
            <a:r>
              <a:rPr lang="en-US"/>
              <a:t> é o modo como os </a:t>
            </a:r>
            <a:r>
              <a:rPr lang="en-US" i="1"/>
              <a:t>widgets</a:t>
            </a:r>
            <a:r>
              <a:rPr lang="en-US"/>
              <a:t> são dispostos na interface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64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3D57-5D65-7F90-0D49-314E6FC9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9F332-7785-132F-BD3B-8FB18E9DC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5491619"/>
          </a:xfrm>
        </p:spPr>
        <p:txBody>
          <a:bodyPr/>
          <a:lstStyle/>
          <a:p>
            <a:r>
              <a:rPr lang="en-US"/>
              <a:t>Principais </a:t>
            </a:r>
            <a:r>
              <a:rPr lang="en-US" i="1"/>
              <a:t>layouts</a:t>
            </a:r>
            <a:r>
              <a:rPr lang="en-US"/>
              <a:t> disponível em PyQt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QVBoxLayout</a:t>
            </a:r>
          </a:p>
          <a:p>
            <a:pPr lvl="2"/>
            <a:r>
              <a:rPr lang="en-US" i="1"/>
              <a:t>Layout</a:t>
            </a:r>
            <a:r>
              <a:rPr lang="en-US"/>
              <a:t> vertical (1 dimensão)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QHBoxLayout</a:t>
            </a:r>
          </a:p>
          <a:p>
            <a:pPr lvl="2"/>
            <a:r>
              <a:rPr lang="en-US" i="1"/>
              <a:t>Layout</a:t>
            </a:r>
            <a:r>
              <a:rPr lang="en-US"/>
              <a:t> horizontal (1 dimensão)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QGridLayout</a:t>
            </a:r>
          </a:p>
          <a:p>
            <a:pPr lvl="2"/>
            <a:r>
              <a:rPr lang="en-US" i="1"/>
              <a:t>Layout</a:t>
            </a:r>
            <a:r>
              <a:rPr lang="en-US"/>
              <a:t> de 2 dimensões</a:t>
            </a:r>
            <a:endParaRPr lang="pt-BR"/>
          </a:p>
          <a:p>
            <a:r>
              <a:rPr lang="en-US"/>
              <a:t>Iremos nos referir aos </a:t>
            </a:r>
            <a:r>
              <a:rPr lang="en-US" i="1"/>
              <a:t>layouts</a:t>
            </a:r>
            <a:r>
              <a:rPr lang="en-US"/>
              <a:t> unidimensionais como box e ao bidimensional como grade (grid)</a:t>
            </a:r>
          </a:p>
        </p:txBody>
      </p:sp>
    </p:spTree>
    <p:extLst>
      <p:ext uri="{BB962C8B-B14F-4D97-AF65-F5344CB8AC3E}">
        <p14:creationId xmlns:p14="http://schemas.microsoft.com/office/powerpoint/2010/main" val="157379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8009-7E02-1903-3620-A82A0E76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QVBoxLayout – 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1BF578-372D-0271-7036-51FE6CA4D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152139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"QVBoxLayout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QVBoxLayout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"Negrito"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"Itálico"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button3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"Sublinhado"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89D2348-19E5-3BF5-FAD8-30C89AF126C8}"/>
              </a:ext>
            </a:extLst>
          </p:cNvPr>
          <p:cNvSpPr/>
          <p:nvPr/>
        </p:nvSpPr>
        <p:spPr>
          <a:xfrm>
            <a:off x="1117827" y="2901791"/>
            <a:ext cx="4805096" cy="63634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A345CC-E287-1225-532B-97DE8280294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922923" y="3219961"/>
            <a:ext cx="166797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C537B1-B6C2-037E-A46A-0510358CB64C}"/>
              </a:ext>
            </a:extLst>
          </p:cNvPr>
          <p:cNvSpPr txBox="1"/>
          <p:nvPr/>
        </p:nvSpPr>
        <p:spPr>
          <a:xfrm>
            <a:off x="7590898" y="2481297"/>
            <a:ext cx="4449479" cy="1477328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Não conseguimos construir nosso box diretamente sobre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US"/>
              <a:t>. Dessa forma, criamos um </a:t>
            </a:r>
            <a:r>
              <a:rPr lang="en-US" i="1"/>
              <a:t>widget</a:t>
            </a:r>
            <a:r>
              <a:rPr lang="en-US"/>
              <a:t> genérico, setamos como o </a:t>
            </a:r>
            <a:r>
              <a:rPr lang="en-US" i="1"/>
              <a:t>widget</a:t>
            </a:r>
            <a:r>
              <a:rPr lang="en-US"/>
              <a:t> central da janela e construímos o box sobre ele.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0DB9B7-B152-CBCC-3B4E-F836135B36E2}"/>
              </a:ext>
            </a:extLst>
          </p:cNvPr>
          <p:cNvSpPr/>
          <p:nvPr/>
        </p:nvSpPr>
        <p:spPr>
          <a:xfrm>
            <a:off x="1117827" y="6525343"/>
            <a:ext cx="4092875" cy="27679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74C4A-7B1B-B51A-15E3-CA83BEDAD692}"/>
              </a:ext>
            </a:extLst>
          </p:cNvPr>
          <p:cNvSpPr txBox="1"/>
          <p:nvPr/>
        </p:nvSpPr>
        <p:spPr>
          <a:xfrm>
            <a:off x="7590897" y="6479072"/>
            <a:ext cx="4449479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Adicionamos o box ao </a:t>
            </a:r>
            <a:r>
              <a:rPr lang="en-US" i="1"/>
              <a:t>widget</a:t>
            </a:r>
            <a:r>
              <a:rPr lang="en-US"/>
              <a:t> central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92FDF8-5A27-FA8B-DE70-A6D92EDEA4D3}"/>
              </a:ext>
            </a:extLst>
          </p:cNvPr>
          <p:cNvSpPr/>
          <p:nvPr/>
        </p:nvSpPr>
        <p:spPr>
          <a:xfrm>
            <a:off x="1178328" y="5354849"/>
            <a:ext cx="3586661" cy="99072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0868FC-9BF5-F094-39BA-EA6034CA203D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 flipV="1">
            <a:off x="5210702" y="6663738"/>
            <a:ext cx="2380195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9723E5-B769-33E1-C512-5EFB22B059EB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 flipV="1">
            <a:off x="4764989" y="5847694"/>
            <a:ext cx="2825909" cy="25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A75D142-668E-7CC7-58B0-7AB57A1F5404}"/>
              </a:ext>
            </a:extLst>
          </p:cNvPr>
          <p:cNvSpPr txBox="1"/>
          <p:nvPr/>
        </p:nvSpPr>
        <p:spPr>
          <a:xfrm>
            <a:off x="7590898" y="5386029"/>
            <a:ext cx="4449479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Adicionamos os </a:t>
            </a:r>
            <a:r>
              <a:rPr lang="en-US" i="1"/>
              <a:t>widgets</a:t>
            </a:r>
            <a:r>
              <a:rPr lang="en-US"/>
              <a:t> ao nosso box. Eles entram na ordem em que são adicionados, de cima para baixo.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CB01C-40CE-1197-A49C-F0A9C82822F1}"/>
              </a:ext>
            </a:extLst>
          </p:cNvPr>
          <p:cNvSpPr/>
          <p:nvPr/>
        </p:nvSpPr>
        <p:spPr>
          <a:xfrm>
            <a:off x="1178328" y="3739660"/>
            <a:ext cx="3058239" cy="37167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6771AF8-0467-C5AC-512E-22072E7EB495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4236567" y="3925499"/>
            <a:ext cx="3354331" cy="494867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559FD47-10E0-A687-EFD8-A8354A0D505C}"/>
              </a:ext>
            </a:extLst>
          </p:cNvPr>
          <p:cNvSpPr txBox="1"/>
          <p:nvPr/>
        </p:nvSpPr>
        <p:spPr>
          <a:xfrm>
            <a:off x="7590898" y="4235700"/>
            <a:ext cx="2292893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um box vertical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30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5" grpId="0" animBg="1"/>
      <p:bldP spid="18" grpId="0" animBg="1"/>
      <p:bldP spid="27" grpId="0" animBg="1"/>
      <p:bldP spid="3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77A6-2F91-2914-F5CA-26AB95BAA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QVBoxLayout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03840-CA5E-3C24-F2C5-05D9F4BA6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Como poderíamos melhorar a aparência do nosso exemplo anterior?</a:t>
            </a: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23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8840-4E28-9B14-32DD-134C9F52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QHBoxLayout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26D89-C46C-6D9A-451A-11033D4EA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Construímos de modo bastante semelhante ao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QVBoxLayout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7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8840-4E28-9B14-32DD-134C9F52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QHBoxLayout – Exemplo 2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D43E9A-1F07-7DB6-184E-64BBEFA99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433272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"QHBoxLayout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QHBoxLayout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"Negrito"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"Itálico"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button3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"Sublinhado"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BB66658-D755-3326-F0B5-DB9EEF4A5D2D}"/>
              </a:ext>
            </a:extLst>
          </p:cNvPr>
          <p:cNvSpPr/>
          <p:nvPr/>
        </p:nvSpPr>
        <p:spPr>
          <a:xfrm>
            <a:off x="1168372" y="3715101"/>
            <a:ext cx="3114145" cy="41578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C6E7B3-4822-1064-F042-EF710C56B19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282517" y="3921775"/>
            <a:ext cx="2663282" cy="12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C98B5D-75F3-11CE-28B0-208BF1598ABB}"/>
              </a:ext>
            </a:extLst>
          </p:cNvPr>
          <p:cNvSpPr txBox="1"/>
          <p:nvPr/>
        </p:nvSpPr>
        <p:spPr>
          <a:xfrm>
            <a:off x="6945799" y="3598609"/>
            <a:ext cx="4449479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Única alteração funcional. As outras foram estéticas.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F39DE1-EDBA-7CDF-9246-8BE5742E88B7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4755033" y="5825873"/>
            <a:ext cx="219076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180B755-BE8F-74CC-F3B4-18938B360C53}"/>
              </a:ext>
            </a:extLst>
          </p:cNvPr>
          <p:cNvSpPr txBox="1"/>
          <p:nvPr/>
        </p:nvSpPr>
        <p:spPr>
          <a:xfrm>
            <a:off x="6945799" y="5364208"/>
            <a:ext cx="4449479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caso da disposição horizontal, os </a:t>
            </a:r>
            <a:r>
              <a:rPr lang="en-US" i="1"/>
              <a:t>widgets</a:t>
            </a:r>
            <a:r>
              <a:rPr lang="en-US"/>
              <a:t> entram da esquerda para a direita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672412-CDD8-530B-8E25-BC8BD7D0B6CF}"/>
              </a:ext>
            </a:extLst>
          </p:cNvPr>
          <p:cNvSpPr/>
          <p:nvPr/>
        </p:nvSpPr>
        <p:spPr>
          <a:xfrm>
            <a:off x="1168372" y="5330513"/>
            <a:ext cx="3586661" cy="99072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3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09D45-D9CB-E5F6-7907-293D835A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Nested Layouts</a:t>
            </a:r>
            <a:endParaRPr lang="pt-BR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85485-FCE3-68B7-A2F7-418797E4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Podemos usar um </a:t>
            </a:r>
            <a:r>
              <a:rPr lang="en-US" i="1"/>
              <a:t>layout</a:t>
            </a:r>
            <a:r>
              <a:rPr lang="en-US"/>
              <a:t> dentro do outro para criar grades (2 dimensões)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80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A152-77F8-4F5C-FE50-C66124DC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Nested Layouts</a:t>
            </a:r>
            <a:r>
              <a:rPr lang="en-US"/>
              <a:t> – 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68C3BB-82D8-C33D-57D7-0AEB05E86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593057"/>
              </p:ext>
            </p:extLst>
          </p:nvPr>
        </p:nvGraphicFramePr>
        <p:xfrm>
          <a:off x="151623" y="1041414"/>
          <a:ext cx="11363384" cy="5763743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76374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"Nested - Exemplo"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7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base_layout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QVBoxLayout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formatting_layout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QHBoxLayout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7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formatting_layout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"B"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formatting_layout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"I"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formatting_layout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"U"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base_layout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formatting_layout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color_button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"Color"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base_layout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color_button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base_layout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9E9B00-189C-FC50-7B73-C4A0929BE176}"/>
              </a:ext>
            </a:extLst>
          </p:cNvPr>
          <p:cNvSpPr/>
          <p:nvPr/>
        </p:nvSpPr>
        <p:spPr>
          <a:xfrm>
            <a:off x="1117828" y="3013219"/>
            <a:ext cx="3688516" cy="41578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D4A22-079D-E5E5-47C7-9DE795EDE22E}"/>
              </a:ext>
            </a:extLst>
          </p:cNvPr>
          <p:cNvSpPr txBox="1"/>
          <p:nvPr/>
        </p:nvSpPr>
        <p:spPr>
          <a:xfrm>
            <a:off x="6978518" y="2127984"/>
            <a:ext cx="4008622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o </a:t>
            </a:r>
            <a:r>
              <a:rPr lang="en-US" i="1"/>
              <a:t>layout</a:t>
            </a:r>
            <a:r>
              <a:rPr lang="en-US"/>
              <a:t> base, que será vertical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00CB7F-DF7F-522D-858E-BB4C3D6822CA}"/>
              </a:ext>
            </a:extLst>
          </p:cNvPr>
          <p:cNvSpPr/>
          <p:nvPr/>
        </p:nvSpPr>
        <p:spPr>
          <a:xfrm>
            <a:off x="1117828" y="3548859"/>
            <a:ext cx="4396142" cy="41578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E86001-6A99-0776-0163-94C557F61BF2}"/>
              </a:ext>
            </a:extLst>
          </p:cNvPr>
          <p:cNvSpPr txBox="1"/>
          <p:nvPr/>
        </p:nvSpPr>
        <p:spPr>
          <a:xfrm>
            <a:off x="7456753" y="2810607"/>
            <a:ext cx="4583623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o </a:t>
            </a:r>
            <a:r>
              <a:rPr lang="en-US" i="1"/>
              <a:t>layout</a:t>
            </a:r>
            <a:r>
              <a:rPr lang="en-US"/>
              <a:t> dos estilos, que será horizontal. Por enquanto, esse layout está isolado sem fazer parte do </a:t>
            </a:r>
            <a:r>
              <a:rPr lang="en-US" i="1"/>
              <a:t>layout</a:t>
            </a:r>
            <a:r>
              <a:rPr lang="en-US"/>
              <a:t> base.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7941FEF-2F4A-38A2-4612-7A4A7A3A021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806344" y="2312650"/>
            <a:ext cx="2172174" cy="908460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802538B-209D-59FD-F268-79B11DB0232E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5513970" y="3272272"/>
            <a:ext cx="1942783" cy="48447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708908A-DB28-DD8B-315F-076F83938EDC}"/>
              </a:ext>
            </a:extLst>
          </p:cNvPr>
          <p:cNvSpPr/>
          <p:nvPr/>
        </p:nvSpPr>
        <p:spPr>
          <a:xfrm>
            <a:off x="1117828" y="4121642"/>
            <a:ext cx="5903294" cy="87309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EDF212-B3A5-824F-EF6B-D4946E84864E}"/>
              </a:ext>
            </a:extLst>
          </p:cNvPr>
          <p:cNvSpPr txBox="1"/>
          <p:nvPr/>
        </p:nvSpPr>
        <p:spPr>
          <a:xfrm>
            <a:off x="7912421" y="3860632"/>
            <a:ext cx="4215260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 ao </a:t>
            </a:r>
            <a:r>
              <a:rPr lang="en-US" i="1"/>
              <a:t>layout</a:t>
            </a:r>
            <a:r>
              <a:rPr lang="en-US"/>
              <a:t> dos estilos, entrando da esquerda para a direita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84A921-044D-C8B2-7063-02B340A10D36}"/>
              </a:ext>
            </a:extLst>
          </p:cNvPr>
          <p:cNvSpPr/>
          <p:nvPr/>
        </p:nvSpPr>
        <p:spPr>
          <a:xfrm>
            <a:off x="1117827" y="5151740"/>
            <a:ext cx="5287567" cy="41578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965B8F-4CDC-5014-3045-3071BE15DC11}"/>
              </a:ext>
            </a:extLst>
          </p:cNvPr>
          <p:cNvSpPr txBox="1"/>
          <p:nvPr/>
        </p:nvSpPr>
        <p:spPr>
          <a:xfrm>
            <a:off x="7987327" y="4713299"/>
            <a:ext cx="4140354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 o </a:t>
            </a:r>
            <a:r>
              <a:rPr lang="en-US" i="1"/>
              <a:t>layout</a:t>
            </a:r>
            <a:r>
              <a:rPr lang="en-US"/>
              <a:t> dos estilos ao </a:t>
            </a:r>
            <a:r>
              <a:rPr lang="en-US" i="1"/>
              <a:t>layout</a:t>
            </a:r>
            <a:r>
              <a:rPr lang="en-US"/>
              <a:t> base, ocupando a posição mais acima.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9B7C0610-C515-0714-C005-C5284AC0A26A}"/>
              </a:ext>
            </a:extLst>
          </p:cNvPr>
          <p:cNvCxnSpPr>
            <a:cxnSpLocks/>
            <a:stCxn id="24" idx="3"/>
            <a:endCxn id="28" idx="1"/>
          </p:cNvCxnSpPr>
          <p:nvPr/>
        </p:nvCxnSpPr>
        <p:spPr>
          <a:xfrm flipV="1">
            <a:off x="7021122" y="4183798"/>
            <a:ext cx="891299" cy="374392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8D14BF2-74F8-2E8C-3E38-1A2141312B86}"/>
              </a:ext>
            </a:extLst>
          </p:cNvPr>
          <p:cNvCxnSpPr>
            <a:cxnSpLocks/>
            <a:stCxn id="34" idx="3"/>
            <a:endCxn id="38" idx="1"/>
          </p:cNvCxnSpPr>
          <p:nvPr/>
        </p:nvCxnSpPr>
        <p:spPr>
          <a:xfrm flipV="1">
            <a:off x="6405394" y="5036465"/>
            <a:ext cx="1581933" cy="323166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13E4B3CA-2DB0-890A-C234-5F8F5DA0AE00}"/>
              </a:ext>
            </a:extLst>
          </p:cNvPr>
          <p:cNvSpPr/>
          <p:nvPr/>
        </p:nvSpPr>
        <p:spPr>
          <a:xfrm>
            <a:off x="1117826" y="5724523"/>
            <a:ext cx="4625893" cy="58437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58B00B-8C6D-EBEC-0337-C3E7376BB8F1}"/>
              </a:ext>
            </a:extLst>
          </p:cNvPr>
          <p:cNvSpPr txBox="1"/>
          <p:nvPr/>
        </p:nvSpPr>
        <p:spPr>
          <a:xfrm>
            <a:off x="7678387" y="5556776"/>
            <a:ext cx="4140354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e adiciona o botão</a:t>
            </a:r>
            <a:r>
              <a:rPr lang="en-US" i="1"/>
              <a:t> de cores ao layout</a:t>
            </a:r>
            <a:r>
              <a:rPr lang="en-US"/>
              <a:t> base, ocupando a posição logo abaixo ao </a:t>
            </a:r>
            <a:r>
              <a:rPr lang="en-US" i="1"/>
              <a:t>layout</a:t>
            </a:r>
            <a:r>
              <a:rPr lang="en-US"/>
              <a:t> dos estilos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29FEB7D-12E3-0360-5225-194A8360F177}"/>
              </a:ext>
            </a:extLst>
          </p:cNvPr>
          <p:cNvCxnSpPr>
            <a:cxnSpLocks/>
            <a:stCxn id="49" idx="3"/>
            <a:endCxn id="52" idx="1"/>
          </p:cNvCxnSpPr>
          <p:nvPr/>
        </p:nvCxnSpPr>
        <p:spPr>
          <a:xfrm>
            <a:off x="5743719" y="6016712"/>
            <a:ext cx="1934668" cy="17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92FF9D5-14C8-E177-46E4-30D46A4A82FE}"/>
              </a:ext>
            </a:extLst>
          </p:cNvPr>
          <p:cNvSpPr/>
          <p:nvPr/>
        </p:nvSpPr>
        <p:spPr>
          <a:xfrm>
            <a:off x="1117826" y="6465902"/>
            <a:ext cx="4625893" cy="30031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4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5" grpId="0" animBg="1"/>
      <p:bldP spid="24" grpId="0" animBg="1"/>
      <p:bldP spid="28" grpId="0" animBg="1"/>
      <p:bldP spid="34" grpId="0" animBg="1"/>
      <p:bldP spid="38" grpId="0" animBg="1"/>
      <p:bldP spid="49" grpId="0" animBg="1"/>
      <p:bldP spid="52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885C-A3D2-6D6B-618D-D84987FA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Nested Layouts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612C-C22A-53A0-9C15-60D76706F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Podemos alterar as margens e espaçamentos usando os métodos: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setSpacing(spacing)</a:t>
            </a:r>
          </a:p>
          <a:p>
            <a:pPr lvl="2"/>
            <a:r>
              <a:rPr lang="en-US">
                <a:cs typeface="Courier New" panose="02070309020205020404" pitchFamily="49" charset="0"/>
              </a:rPr>
              <a:t>Seta o espaço entre </a:t>
            </a:r>
            <a:r>
              <a:rPr lang="en-US" i="1">
                <a:cs typeface="Courier New" panose="02070309020205020404" pitchFamily="49" charset="0"/>
              </a:rPr>
              <a:t>widgets</a:t>
            </a:r>
            <a:r>
              <a:rPr lang="en-US">
                <a:cs typeface="Courier New" panose="02070309020205020404" pitchFamily="49" charset="0"/>
              </a:rPr>
              <a:t> do mesmo </a:t>
            </a:r>
            <a:r>
              <a:rPr lang="en-US" i="1">
                <a:cs typeface="Courier New" panose="02070309020205020404" pitchFamily="49" charset="0"/>
              </a:rPr>
              <a:t>layout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setContentsMargins(left, top, right, bottom)</a:t>
            </a:r>
          </a:p>
          <a:p>
            <a:pPr lvl="2"/>
            <a:r>
              <a:rPr lang="en-US">
                <a:cs typeface="Courier New" panose="02070309020205020404" pitchFamily="49" charset="0"/>
              </a:rPr>
              <a:t>Seta as margens ao redor do </a:t>
            </a:r>
            <a:r>
              <a:rPr lang="en-US" i="1">
                <a:cs typeface="Courier New" panose="02070309020205020404" pitchFamily="49" charset="0"/>
              </a:rPr>
              <a:t>layout </a:t>
            </a:r>
          </a:p>
          <a:p>
            <a:pPr lvl="2"/>
            <a:endParaRPr lang="pt-BR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4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A152-77F8-4F5C-FE50-C66124DC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Nested Layouts</a:t>
            </a:r>
            <a:r>
              <a:rPr lang="en-US"/>
              <a:t> – Exemplo 4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68C3BB-82D8-C33D-57D7-0AEB05E86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17760"/>
              </p:ext>
            </p:extLst>
          </p:nvPr>
        </p:nvGraphicFramePr>
        <p:xfrm>
          <a:off x="151623" y="1041414"/>
          <a:ext cx="11363384" cy="5299651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29965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"Nested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base_layout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QVBoxLayout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setContentsMargins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setSpacing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formatting_layout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QHBoxLayout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formatting_layout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setContentsMargins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formatting_layout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setSpacing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5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Continua igual ao exemplo anterior</a:t>
                      </a:r>
                      <a:endParaRPr lang="pt-BR" sz="16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735A302-5F53-ED54-CBE6-4C4011F216C5}"/>
              </a:ext>
            </a:extLst>
          </p:cNvPr>
          <p:cNvSpPr/>
          <p:nvPr/>
        </p:nvSpPr>
        <p:spPr>
          <a:xfrm>
            <a:off x="1163777" y="4058901"/>
            <a:ext cx="6353601" cy="6095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AB50D-7782-B36E-2954-8F8F0A9D057D}"/>
              </a:ext>
            </a:extLst>
          </p:cNvPr>
          <p:cNvSpPr/>
          <p:nvPr/>
        </p:nvSpPr>
        <p:spPr>
          <a:xfrm>
            <a:off x="1215088" y="5144081"/>
            <a:ext cx="6633129" cy="6095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13D5-6CDF-5619-46B9-41273576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QGridLayout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5E2D-E7F6-2F69-6317-778CEA57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 criar uma grade (2 dimensões) temos outra forma, que é usando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QGridLayout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QGridLayout</a:t>
            </a:r>
            <a:r>
              <a:rPr lang="en-US"/>
              <a:t> é usado quando se deseja uma grade fixa no estilo de uma tabela do Excel:</a:t>
            </a:r>
          </a:p>
          <a:p>
            <a:pPr lvl="2"/>
            <a:r>
              <a:rPr lang="en-US"/>
              <a:t>células na mesma linha alinhadas e células na mesma coluna alinhadas</a:t>
            </a:r>
          </a:p>
          <a:p>
            <a:pPr lvl="2"/>
            <a:r>
              <a:rPr lang="en-US"/>
              <a:t>espaçamento e margens se aplicam à tabela toda</a:t>
            </a:r>
          </a:p>
          <a:p>
            <a:pPr lvl="1"/>
            <a:r>
              <a:rPr lang="en-US" i="1"/>
              <a:t>Nested layouts</a:t>
            </a:r>
            <a:r>
              <a:rPr lang="en-US"/>
              <a:t> dão maior flexibilidade e controle</a:t>
            </a:r>
          </a:p>
          <a:p>
            <a:pPr lvl="2"/>
            <a:r>
              <a:rPr lang="en-US"/>
              <a:t>Células podem ter diferentes tamanhos e serem não alinhadas</a:t>
            </a:r>
          </a:p>
          <a:p>
            <a:pPr lvl="2"/>
            <a:r>
              <a:rPr lang="en-US"/>
              <a:t>Espaçamento e margens podem ser aplicadas a cada </a:t>
            </a:r>
            <a:r>
              <a:rPr lang="en-US" i="1"/>
              <a:t>layout</a:t>
            </a:r>
            <a:r>
              <a:rPr lang="en-US"/>
              <a:t> individualmente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06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3828A-DDD0-1C5E-AAE6-25AA783F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QGridLayout – Exemplo 5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8F0C8E-8519-15A4-30F1-BB05BAF37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63568"/>
              </p:ext>
            </p:extLst>
          </p:nvPr>
        </p:nvGraphicFramePr>
        <p:xfrm>
          <a:off x="151623" y="1041414"/>
          <a:ext cx="11363384" cy="548640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29046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"QGridLayout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    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grid_layout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QGridLayout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button_names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'Botão 1'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'Botão 2'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'Botão 3'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'Botão 4'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positions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row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col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  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position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zip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positions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button_names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position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position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grid_layout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base_widget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grid_layout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9D1A692-EB0D-328A-4DB2-1E689BB2F357}"/>
              </a:ext>
            </a:extLst>
          </p:cNvPr>
          <p:cNvSpPr/>
          <p:nvPr/>
        </p:nvSpPr>
        <p:spPr>
          <a:xfrm>
            <a:off x="1237296" y="4842019"/>
            <a:ext cx="5480557" cy="92467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2D7E76-E064-EA94-FDD9-368826E3B818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6717853" y="5303684"/>
            <a:ext cx="1085673" cy="6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333AE2-F5AA-B0CA-5E99-E764CB7E924A}"/>
              </a:ext>
            </a:extLst>
          </p:cNvPr>
          <p:cNvSpPr txBox="1"/>
          <p:nvPr/>
        </p:nvSpPr>
        <p:spPr>
          <a:xfrm>
            <a:off x="7803526" y="4842019"/>
            <a:ext cx="4341969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Poderíamos substituir essas 3 linhas por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grid_layout.addWidget(button, *position)</a:t>
            </a:r>
          </a:p>
        </p:txBody>
      </p:sp>
    </p:spTree>
    <p:extLst>
      <p:ext uri="{BB962C8B-B14F-4D97-AF65-F5344CB8AC3E}">
        <p14:creationId xmlns:p14="http://schemas.microsoft.com/office/powerpoint/2010/main" val="174962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10101</TotalTime>
  <Words>1240</Words>
  <Application>Microsoft Office PowerPoint</Application>
  <PresentationFormat>Widescreen</PresentationFormat>
  <Paragraphs>287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Garamond</vt:lpstr>
      <vt:lpstr>Wingdings</vt:lpstr>
      <vt:lpstr>Tema Padrão</vt:lpstr>
      <vt:lpstr>III – PyQt (Layouts)  </vt:lpstr>
      <vt:lpstr>Padrão para os Exemplos</vt:lpstr>
      <vt:lpstr>Definição</vt:lpstr>
      <vt:lpstr>Tipos</vt:lpstr>
      <vt:lpstr>QVBoxLayout – Exemplo 1</vt:lpstr>
      <vt:lpstr>QVBoxLayout</vt:lpstr>
      <vt:lpstr>QHBoxLayout</vt:lpstr>
      <vt:lpstr>QHBoxLayout – Exemplo 2</vt:lpstr>
      <vt:lpstr>Nested Layouts</vt:lpstr>
      <vt:lpstr>Nested Layouts – Exemplo 3</vt:lpstr>
      <vt:lpstr>Nested Layouts</vt:lpstr>
      <vt:lpstr>Nested Layouts – Exemplo 4</vt:lpstr>
      <vt:lpstr>QGridLayout</vt:lpstr>
      <vt:lpstr>QGridLayout – Exemplo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 José Barbosa da Rocha</cp:lastModifiedBy>
  <cp:revision>619</cp:revision>
  <dcterms:created xsi:type="dcterms:W3CDTF">2017-06-20T21:36:17Z</dcterms:created>
  <dcterms:modified xsi:type="dcterms:W3CDTF">2024-10-16T21:02:22Z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c0edb5-d8bf-4cc6-9afc-2081a723b718_Enabled">
    <vt:lpwstr>true</vt:lpwstr>
  </property>
  <property fmtid="{D5CDD505-2E9C-101B-9397-08002B2CF9AE}" pid="3" name="MSIP_Label_d8c0edb5-d8bf-4cc6-9afc-2081a723b718_SetDate">
    <vt:lpwstr>2024-10-16T21:02:22Z</vt:lpwstr>
  </property>
  <property fmtid="{D5CDD505-2E9C-101B-9397-08002B2CF9AE}" pid="4" name="MSIP_Label_d8c0edb5-d8bf-4cc6-9afc-2081a723b718_Method">
    <vt:lpwstr>Standard</vt:lpwstr>
  </property>
  <property fmtid="{D5CDD505-2E9C-101B-9397-08002B2CF9AE}" pid="5" name="MSIP_Label_d8c0edb5-d8bf-4cc6-9afc-2081a723b718_Name">
    <vt:lpwstr>Interno</vt:lpwstr>
  </property>
  <property fmtid="{D5CDD505-2E9C-101B-9397-08002B2CF9AE}" pid="6" name="MSIP_Label_d8c0edb5-d8bf-4cc6-9afc-2081a723b718_SiteId">
    <vt:lpwstr>9cfc026b-d98b-4248-8ee2-09e38f7309c7</vt:lpwstr>
  </property>
  <property fmtid="{D5CDD505-2E9C-101B-9397-08002B2CF9AE}" pid="7" name="MSIP_Label_d8c0edb5-d8bf-4cc6-9afc-2081a723b718_ActionId">
    <vt:lpwstr>0f3c8d67-2816-4d78-a0ca-3fb624e795ec</vt:lpwstr>
  </property>
  <property fmtid="{D5CDD505-2E9C-101B-9397-08002B2CF9AE}" pid="8" name="MSIP_Label_d8c0edb5-d8bf-4cc6-9afc-2081a723b718_ContentBits">
    <vt:lpwstr>2</vt:lpwstr>
  </property>
  <property fmtid="{D5CDD505-2E9C-101B-9397-08002B2CF9AE}" pid="9" name="ClassificationContentMarkingFooterLocations">
    <vt:lpwstr>Tema Padrão:5</vt:lpwstr>
  </property>
  <property fmtid="{D5CDD505-2E9C-101B-9397-08002B2CF9AE}" pid="10" name="ClassificationContentMarkingFooterText">
    <vt:lpwstr>Classificação da informação: Interno</vt:lpwstr>
  </property>
</Properties>
</file>