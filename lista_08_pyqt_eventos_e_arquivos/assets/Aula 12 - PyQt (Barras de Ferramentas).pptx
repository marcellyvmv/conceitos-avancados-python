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438" r:id="rId3"/>
    <p:sldId id="437" r:id="rId4"/>
    <p:sldId id="439" r:id="rId5"/>
    <p:sldId id="440" r:id="rId6"/>
    <p:sldId id="441" r:id="rId7"/>
    <p:sldId id="442" r:id="rId8"/>
    <p:sldId id="443" r:id="rId9"/>
    <p:sldId id="444" r:id="rId10"/>
    <p:sldId id="445" r:id="rId11"/>
    <p:sldId id="446" r:id="rId12"/>
    <p:sldId id="447" r:id="rId13"/>
    <p:sldId id="449" r:id="rId14"/>
    <p:sldId id="448" r:id="rId15"/>
  </p:sldIdLst>
  <p:sldSz cx="12192000" cy="6858000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uario" initials="U" lastIdx="3" clrIdx="0">
    <p:extLst>
      <p:ext uri="{19B8F6BF-5375-455C-9EA6-DF929625EA0E}">
        <p15:presenceInfo xmlns:p15="http://schemas.microsoft.com/office/powerpoint/2012/main" userId="Usuari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0AAB"/>
    <a:srgbClr val="F20CD1"/>
    <a:srgbClr val="B4CCFF"/>
    <a:srgbClr val="99CCFF"/>
    <a:srgbClr val="E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11" autoAdjust="0"/>
    <p:restoredTop sz="83852" autoAdjust="0"/>
  </p:normalViewPr>
  <p:slideViewPr>
    <p:cSldViewPr snapToGrid="0">
      <p:cViewPr varScale="1">
        <p:scale>
          <a:sx n="58" d="100"/>
          <a:sy n="58" d="100"/>
        </p:scale>
        <p:origin x="116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1D8E3-36AB-4247-954E-CA64B1535725}" type="datetimeFigureOut">
              <a:rPr lang="pt-BR" smtClean="0"/>
              <a:t>16/10/2024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E881F-58A7-46F2-AC34-A982B63F0CA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22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4835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4572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4907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2238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964432"/>
            <a:ext cx="105664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317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4967" y="2326941"/>
            <a:ext cx="10164233" cy="1752600"/>
          </a:xfrm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rPr lang="pt-BR" altLang="en-US"/>
              <a:t>Clique para editar o título mestre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4196680"/>
            <a:ext cx="8737600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pt-BR" altLang="en-US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03629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1285969"/>
            <a:ext cx="10972800" cy="4530725"/>
          </a:xfrm>
          <a:prstGeom prst="rect">
            <a:avLst/>
          </a:prstGeom>
        </p:spPr>
        <p:txBody>
          <a:bodyPr/>
          <a:lstStyle>
            <a:lvl1pPr>
              <a:spcBef>
                <a:spcPts val="4200"/>
              </a:spcBef>
              <a:defRPr/>
            </a:lvl1pPr>
            <a:lvl2pPr>
              <a:spcBef>
                <a:spcPts val="1800"/>
              </a:spcBef>
              <a:defRPr/>
            </a:lvl2pPr>
            <a:lvl3pPr marL="1022350" indent="-350838">
              <a:spcBef>
                <a:spcPts val="1000"/>
              </a:spcBef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097932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7186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08950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832008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1359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60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37176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01034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07139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322192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noProof="0"/>
              <a:t>Clique no ícone para adicionar tabela</a:t>
            </a:r>
          </a:p>
        </p:txBody>
      </p:sp>
    </p:spTree>
    <p:extLst>
      <p:ext uri="{BB962C8B-B14F-4D97-AF65-F5344CB8AC3E}">
        <p14:creationId xmlns:p14="http://schemas.microsoft.com/office/powerpoint/2010/main" val="2372978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218509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ítulo e 4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sz="quarter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09600" y="1600201"/>
            <a:ext cx="5384800" cy="2189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09600" y="3941763"/>
            <a:ext cx="5384800" cy="2189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7600" y="3941763"/>
            <a:ext cx="5384800" cy="2189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344632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197600" y="3941763"/>
            <a:ext cx="5384800" cy="2189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74052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14EA250-FE77-3FA7-5F90-6D11537899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74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C339F5D-1391-29FE-2F73-D279896B33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67507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dirty="0"/>
              <a:t>Clique para editar os estilos do texto mestre</a:t>
            </a:r>
          </a:p>
          <a:p>
            <a:pPr lvl="1"/>
            <a:r>
              <a:rPr lang="pt-BR" altLang="en-US" dirty="0"/>
              <a:t>Segundo nível</a:t>
            </a:r>
          </a:p>
          <a:p>
            <a:pPr lvl="2"/>
            <a:r>
              <a:rPr lang="pt-BR" altLang="en-US" dirty="0"/>
              <a:t>Terceiro nível</a:t>
            </a:r>
          </a:p>
          <a:p>
            <a:pPr lvl="3"/>
            <a:r>
              <a:rPr lang="pt-BR" altLang="en-US" dirty="0"/>
              <a:t>Quarto nível</a:t>
            </a:r>
          </a:p>
          <a:p>
            <a:pPr lvl="4"/>
            <a:r>
              <a:rPr lang="pt-BR" altLang="en-US" dirty="0"/>
              <a:t>Quinto nível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14B3B-5821-44A4-A56E-22CDD3FFB75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8907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Classificação da informação: Interno</a:t>
            </a:r>
          </a:p>
        </p:txBody>
      </p:sp>
    </p:spTree>
    <p:extLst>
      <p:ext uri="{BB962C8B-B14F-4D97-AF65-F5344CB8AC3E}">
        <p14:creationId xmlns:p14="http://schemas.microsoft.com/office/powerpoint/2010/main" val="147093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just" rtl="0" eaLnBrk="1" fontAlgn="base" hangingPunct="1">
        <a:spcBef>
          <a:spcPts val="42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just" rtl="0" eaLnBrk="1" fontAlgn="base" hangingPunct="1">
        <a:spcBef>
          <a:spcPts val="18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•"/>
        <a:defRPr sz="2200">
          <a:solidFill>
            <a:schemeClr val="tx1"/>
          </a:solidFill>
          <a:latin typeface="+mn-lt"/>
        </a:defRPr>
      </a:lvl3pPr>
      <a:lvl4pPr marL="1339850" indent="-315913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-"/>
        <a:defRPr sz="2000">
          <a:solidFill>
            <a:schemeClr val="tx1"/>
          </a:solidFill>
          <a:latin typeface="+mn-lt"/>
        </a:defRPr>
      </a:lvl4pPr>
      <a:lvl5pPr marL="16811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p.yusukekamiyamane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D37FA-D22C-449F-A66B-FA568AD31E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/>
              <a:t>09(IV) – Barras de Ferramentas</a:t>
            </a:r>
            <a:br>
              <a:rPr lang="pt-BR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465CA0-DCD8-4A81-AE6A-E7898D94A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6435" y="5131487"/>
            <a:ext cx="3191164" cy="600135"/>
          </a:xfrm>
        </p:spPr>
        <p:txBody>
          <a:bodyPr/>
          <a:lstStyle/>
          <a:p>
            <a:r>
              <a:rPr lang="pt-BR" sz="3600" dirty="0"/>
              <a:t>Thiago Rocha</a:t>
            </a:r>
          </a:p>
        </p:txBody>
      </p:sp>
    </p:spTree>
    <p:extLst>
      <p:ext uri="{BB962C8B-B14F-4D97-AF65-F5344CB8AC3E}">
        <p14:creationId xmlns:p14="http://schemas.microsoft.com/office/powerpoint/2010/main" val="3853356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D9D71-9652-C448-9186-C669881E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Padrão – Exemplos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5506A-F6EC-0225-A2C6-8EDB2AA7C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10972800" cy="648515"/>
          </a:xfrm>
        </p:spPr>
        <p:txBody>
          <a:bodyPr/>
          <a:lstStyle/>
          <a:p>
            <a:r>
              <a:rPr lang="en-US"/>
              <a:t>Para os exemplos dessa aula usaremos o seguinte padrão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0204F9-4FA4-66B3-0099-7E5560731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48788"/>
              </p:ext>
            </p:extLst>
          </p:nvPr>
        </p:nvGraphicFramePr>
        <p:xfrm>
          <a:off x="397245" y="2162588"/>
          <a:ext cx="11363384" cy="3566160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126227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80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  <a:endParaRPr lang="en-US" sz="180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dirty="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Omitido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1" dirty="0" err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sys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1" dirty="0" err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PyQt6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QtGui </a:t>
                      </a:r>
                      <a:r>
                        <a:rPr lang="pt-BR" sz="1800" b="1" dirty="0" err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QAction</a:t>
                      </a:r>
                      <a:endParaRPr lang="pt-BR" sz="180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 err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PyQt6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QtWidgets </a:t>
                      </a:r>
                      <a:r>
                        <a:rPr lang="pt-BR" sz="1800" b="1" dirty="0" err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QApplication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QMainWindow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QPushButton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,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QToolBar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,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QStyle</a:t>
                      </a:r>
                      <a:endParaRPr lang="pt-BR" sz="180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dirty="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Classe</a:t>
                      </a:r>
                      <a:endParaRPr lang="pt-BR" sz="180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dirty="0">
                        <a:solidFill>
                          <a:srgbClr val="008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dirty="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Omitido</a:t>
                      </a: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 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QApplication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sys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argv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MainWindow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 dirty="0" err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exec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dirty="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859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CC4D8-3A95-9090-40A3-7A589C2C1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Introdução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80F38-6532-08E9-E3C2-DED05F647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Definição</a:t>
            </a:r>
          </a:p>
          <a:p>
            <a:pPr lvl="1"/>
            <a:r>
              <a:rPr lang="en-US"/>
              <a:t>Barra de ferramentas (</a:t>
            </a:r>
            <a:r>
              <a:rPr lang="en-US" i="1"/>
              <a:t>toolbar</a:t>
            </a:r>
            <a:r>
              <a:rPr lang="en-US"/>
              <a:t>) é um elemento de interface que permite acesso rápido a funções da aplicação e pode ser constituída por ícones ou por itens com texto.</a:t>
            </a:r>
            <a:endParaRPr lang="pt-B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7362A2-94CD-A091-94B3-D963E6419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06" y="3718362"/>
            <a:ext cx="11660227" cy="104789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2BB4C5A-A55D-5E8D-41DA-B7FE90D5B3EF}"/>
              </a:ext>
            </a:extLst>
          </p:cNvPr>
          <p:cNvSpPr/>
          <p:nvPr/>
        </p:nvSpPr>
        <p:spPr>
          <a:xfrm>
            <a:off x="339406" y="4401986"/>
            <a:ext cx="11270564" cy="36427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D57B8C1-54A1-C2E7-65D8-2C289FCFAC0E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5974688" y="4766258"/>
            <a:ext cx="0" cy="108480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017CFC5-E60C-3D43-9345-F8363E0A2F8B}"/>
              </a:ext>
            </a:extLst>
          </p:cNvPr>
          <p:cNvSpPr txBox="1"/>
          <p:nvPr/>
        </p:nvSpPr>
        <p:spPr>
          <a:xfrm>
            <a:off x="4429632" y="5851067"/>
            <a:ext cx="3090112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Barra de Ferramentas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1631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04E1D-0684-E08F-9B92-30C2DD97F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6EE23-B486-F130-87A0-F9A9AB6C4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Nesse</a:t>
            </a:r>
            <a:r>
              <a:rPr lang="en-US" dirty="0"/>
              <a:t> </a:t>
            </a:r>
            <a:r>
              <a:rPr lang="en-US" dirty="0" err="1"/>
              <a:t>primeiro</a:t>
            </a:r>
            <a:r>
              <a:rPr lang="en-US" dirty="0"/>
              <a:t> </a:t>
            </a:r>
            <a:r>
              <a:rPr lang="en-US" dirty="0" err="1"/>
              <a:t>exemplo</a:t>
            </a:r>
            <a:r>
              <a:rPr lang="en-US" dirty="0"/>
              <a:t> </a:t>
            </a:r>
            <a:r>
              <a:rPr lang="en-US" dirty="0" err="1"/>
              <a:t>vamos</a:t>
            </a:r>
            <a:r>
              <a:rPr lang="en-US" dirty="0"/>
              <a:t> </a:t>
            </a:r>
            <a:r>
              <a:rPr lang="en-US" dirty="0" err="1"/>
              <a:t>ver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barra de ferramentas </a:t>
            </a:r>
            <a:r>
              <a:rPr lang="en-US" dirty="0" err="1"/>
              <a:t>constituída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itens</a:t>
            </a:r>
            <a:r>
              <a:rPr lang="en-US" dirty="0"/>
              <a:t> com </a:t>
            </a:r>
            <a:r>
              <a:rPr lang="en-US" dirty="0" err="1"/>
              <a:t>texto</a:t>
            </a:r>
            <a:r>
              <a:rPr lang="en-US" dirty="0"/>
              <a:t>, o que é </a:t>
            </a:r>
            <a:r>
              <a:rPr lang="en-US" dirty="0" err="1"/>
              <a:t>menos</a:t>
            </a:r>
            <a:r>
              <a:rPr lang="en-US" dirty="0"/>
              <a:t> </a:t>
            </a:r>
            <a:r>
              <a:rPr lang="en-US" dirty="0" err="1"/>
              <a:t>comum</a:t>
            </a:r>
            <a:r>
              <a:rPr lang="en-US" dirty="0"/>
              <a:t>, </a:t>
            </a:r>
            <a:r>
              <a:rPr lang="en-US" dirty="0" err="1"/>
              <a:t>porém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simples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PyQt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0105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26C4D-55F0-FC39-A67D-7451B0DDF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</a:t>
            </a:r>
            <a:endParaRPr lang="pt-B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A2AB0D-2432-2012-02A3-3807994A0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873828"/>
              </p:ext>
            </p:extLst>
          </p:nvPr>
        </p:nvGraphicFramePr>
        <p:xfrm>
          <a:off x="151623" y="1041415"/>
          <a:ext cx="11363384" cy="5760720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332994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 dirty="0" err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MainWindow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QMainWindow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 dirty="0" err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800" dirty="0" err="1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init</a:t>
                      </a:r>
                      <a:r>
                        <a:rPr lang="pt-BR" sz="1800" dirty="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 dirty="0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init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"Barra de Ferramentas - Exemplo"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setFixedSize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300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 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QToolBar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"Barra de Ferramentas"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setMovable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 dirty="0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False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toggleViewAction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setEnabled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 dirty="0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False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addToolBar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open_action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QAction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"Abrir"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open_action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setShortcut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</a:t>
                      </a:r>
                      <a:r>
                        <a:rPr lang="pt-BR" sz="1800" dirty="0" err="1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Ctrl+O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open_action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triggered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connect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open_file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 dirty="0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save_action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QAction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"Salvar"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save_action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setShortcut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</a:t>
                      </a:r>
                      <a:r>
                        <a:rPr lang="pt-BR" sz="1800" dirty="0" err="1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Ctrl+S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save_action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triggered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connect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save_file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</a:p>
                    <a:p>
                      <a:endParaRPr lang="pt-BR" sz="180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addAction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open_action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addAction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save_action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dirty="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541D8AA-7F5F-BB6C-B0AC-36C7A57E94B0}"/>
              </a:ext>
            </a:extLst>
          </p:cNvPr>
          <p:cNvSpPr/>
          <p:nvPr/>
        </p:nvSpPr>
        <p:spPr>
          <a:xfrm>
            <a:off x="1134337" y="2931593"/>
            <a:ext cx="3557132" cy="322917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563664A9-D9BE-7410-0A7F-8F96B07E601D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4691469" y="2047456"/>
            <a:ext cx="2751808" cy="1045596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94A487C-9140-9CB8-74BF-D63BA3BCAAB1}"/>
              </a:ext>
            </a:extLst>
          </p:cNvPr>
          <p:cNvSpPr txBox="1"/>
          <p:nvPr/>
        </p:nvSpPr>
        <p:spPr>
          <a:xfrm>
            <a:off x="7443277" y="1724290"/>
            <a:ext cx="4451860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Impede que seja possível mover a barra (teste setando para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/>
              <a:t>)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F47D70-6A63-8B76-D964-081E3FBAC036}"/>
              </a:ext>
            </a:extLst>
          </p:cNvPr>
          <p:cNvSpPr/>
          <p:nvPr/>
        </p:nvSpPr>
        <p:spPr>
          <a:xfrm>
            <a:off x="1134337" y="3254510"/>
            <a:ext cx="6088964" cy="27443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07D5E9-57CC-0352-DB34-4CF771D84170}"/>
              </a:ext>
            </a:extLst>
          </p:cNvPr>
          <p:cNvSpPr txBox="1"/>
          <p:nvPr/>
        </p:nvSpPr>
        <p:spPr>
          <a:xfrm>
            <a:off x="8384980" y="2791560"/>
            <a:ext cx="3655397" cy="1200329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Impede que seja possível remover a barra (teste setando para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/>
              <a:t> e clicando com o botão direito do mouse na barra)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348AE41-03D3-6022-FDA6-F67B2365699D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 flipV="1">
            <a:off x="7223301" y="3391725"/>
            <a:ext cx="1161679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066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5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26C4D-55F0-FC39-A67D-7451B0DDF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</a:t>
            </a:r>
            <a:endParaRPr lang="pt-B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A2AB0D-2432-2012-02A3-3807994A0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976403"/>
              </p:ext>
            </p:extLst>
          </p:nvPr>
        </p:nvGraphicFramePr>
        <p:xfrm>
          <a:off x="151623" y="1041415"/>
          <a:ext cx="11363384" cy="5760720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332994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"Barra de Ferramentas - Exemplo"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setFixedSize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QToolBar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"Barra de Ferramentas"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setMovable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False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toggleViewAction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setEnabled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False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addToolBar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open_action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"Abrir"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setShortcut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"Ctrl+O"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open_action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triggered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connect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save_action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"Salvar"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setShortcut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"Ctrl+S"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save_action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triggered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connect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toolbar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25" name="Rectangle 24">
            <a:extLst>
              <a:ext uri="{FF2B5EF4-FFF2-40B4-BE49-F238E27FC236}">
                <a16:creationId xmlns:a16="http://schemas.microsoft.com/office/drawing/2014/main" id="{8BFE2DBF-866C-5701-A0DE-C4E845BC2A7C}"/>
              </a:ext>
            </a:extLst>
          </p:cNvPr>
          <p:cNvSpPr/>
          <p:nvPr/>
        </p:nvSpPr>
        <p:spPr>
          <a:xfrm>
            <a:off x="1185647" y="4076205"/>
            <a:ext cx="4910353" cy="27443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8ED059-02E0-2FE5-C6F3-28375058B2A3}"/>
              </a:ext>
            </a:extLst>
          </p:cNvPr>
          <p:cNvSpPr txBox="1"/>
          <p:nvPr/>
        </p:nvSpPr>
        <p:spPr>
          <a:xfrm>
            <a:off x="7348313" y="1316418"/>
            <a:ext cx="4412315" cy="92333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QAction</a:t>
            </a:r>
            <a:r>
              <a:rPr lang="en-US"/>
              <a:t> permite que várias interfaces que realizam a mesma ação sejam associadas ao seu objeto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07193767-C9B5-D66D-3BA7-E1ECDC09C452}"/>
              </a:ext>
            </a:extLst>
          </p:cNvPr>
          <p:cNvCxnSpPr>
            <a:cxnSpLocks/>
            <a:stCxn id="25" idx="3"/>
            <a:endCxn id="29" idx="1"/>
          </p:cNvCxnSpPr>
          <p:nvPr/>
        </p:nvCxnSpPr>
        <p:spPr>
          <a:xfrm flipV="1">
            <a:off x="6096000" y="1778083"/>
            <a:ext cx="1252313" cy="2435338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35F7686-B795-E5BB-046D-C3B203170909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6710182" y="2893706"/>
            <a:ext cx="638131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851E626-9E42-2BB1-0568-091308D03670}"/>
              </a:ext>
            </a:extLst>
          </p:cNvPr>
          <p:cNvSpPr txBox="1"/>
          <p:nvPr/>
        </p:nvSpPr>
        <p:spPr>
          <a:xfrm>
            <a:off x="7348313" y="2709040"/>
            <a:ext cx="4446987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Note que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-US"/>
              <a:t> é o segundo parâmetro 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4B0A89-FE9C-3B40-0512-BA0F2C9E852F}"/>
              </a:ext>
            </a:extLst>
          </p:cNvPr>
          <p:cNvSpPr/>
          <p:nvPr/>
        </p:nvSpPr>
        <p:spPr>
          <a:xfrm>
            <a:off x="1179300" y="4350636"/>
            <a:ext cx="4829175" cy="27443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BFE497-4C29-8377-BAE8-2F479DBD3C14}"/>
              </a:ext>
            </a:extLst>
          </p:cNvPr>
          <p:cNvSpPr txBox="1"/>
          <p:nvPr/>
        </p:nvSpPr>
        <p:spPr>
          <a:xfrm>
            <a:off x="8291047" y="3409132"/>
            <a:ext cx="3469579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Associa um atalho à ação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75E426B-BD1C-9C56-35BF-A9403C6DDDB0}"/>
              </a:ext>
            </a:extLst>
          </p:cNvPr>
          <p:cNvSpPr/>
          <p:nvPr/>
        </p:nvSpPr>
        <p:spPr>
          <a:xfrm>
            <a:off x="1179300" y="4633964"/>
            <a:ext cx="6175360" cy="27443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BCA44D-7430-953A-6966-82374DDEC703}"/>
              </a:ext>
            </a:extLst>
          </p:cNvPr>
          <p:cNvSpPr txBox="1"/>
          <p:nvPr/>
        </p:nvSpPr>
        <p:spPr>
          <a:xfrm>
            <a:off x="8305979" y="4167393"/>
            <a:ext cx="3439713" cy="1200329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Conecta o sinal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triggered</a:t>
            </a:r>
            <a:r>
              <a:rPr lang="en-US"/>
              <a:t> da ação ao método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open_file.</a:t>
            </a:r>
            <a:r>
              <a:rPr lang="en-US"/>
              <a:t> O sinal é disparado quando a ação é executada.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1D1D830-15BD-E22F-6118-32A23E3AD33B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 flipV="1">
            <a:off x="6008475" y="3593798"/>
            <a:ext cx="2282572" cy="894054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59F5E49-1E01-A313-F27D-8ED769559EA5}"/>
              </a:ext>
            </a:extLst>
          </p:cNvPr>
          <p:cNvSpPr/>
          <p:nvPr/>
        </p:nvSpPr>
        <p:spPr>
          <a:xfrm>
            <a:off x="1179300" y="6250913"/>
            <a:ext cx="4164656" cy="27443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D2A473-1FEE-0A9D-EBBD-7280A0E2A50B}"/>
              </a:ext>
            </a:extLst>
          </p:cNvPr>
          <p:cNvSpPr txBox="1"/>
          <p:nvPr/>
        </p:nvSpPr>
        <p:spPr>
          <a:xfrm>
            <a:off x="8320914" y="6067814"/>
            <a:ext cx="3439713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Apenda a ação à lista de ações do </a:t>
            </a:r>
            <a:r>
              <a:rPr lang="en-US" i="1"/>
              <a:t>Widget</a:t>
            </a:r>
            <a:r>
              <a:rPr lang="en-US"/>
              <a:t> (no caso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toolbar</a:t>
            </a:r>
            <a:r>
              <a:rPr lang="en-US"/>
              <a:t>)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781E38E-7A21-6CB5-369B-66B27D05BEB6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>
            <a:off x="5343956" y="6388129"/>
            <a:ext cx="2976958" cy="285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87FCBD5-493E-4911-5A86-73B8BCE696E0}"/>
              </a:ext>
            </a:extLst>
          </p:cNvPr>
          <p:cNvCxnSpPr>
            <a:cxnSpLocks/>
            <a:stCxn id="35" idx="3"/>
            <a:endCxn id="8" idx="1"/>
          </p:cNvCxnSpPr>
          <p:nvPr/>
        </p:nvCxnSpPr>
        <p:spPr>
          <a:xfrm flipV="1">
            <a:off x="7354660" y="4767558"/>
            <a:ext cx="951319" cy="362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00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9" grpId="0" animBg="1"/>
      <p:bldP spid="13" grpId="0" animBg="1"/>
      <p:bldP spid="18" grpId="0" animBg="1"/>
      <p:bldP spid="22" grpId="0" animBg="1"/>
      <p:bldP spid="35" grpId="0" animBg="1"/>
      <p:bldP spid="8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F22A2-E6C9-5678-DE58-37317CA65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600667-2DBC-5005-1AF8-6BBDC145D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89349"/>
              </p:ext>
            </p:extLst>
          </p:nvPr>
        </p:nvGraphicFramePr>
        <p:xfrm>
          <a:off x="151623" y="1041415"/>
          <a:ext cx="11363384" cy="1481226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48122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23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26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 dirty="0" err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open_file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 dirty="0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"Ação de abrir"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 dirty="0" err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save_file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 dirty="0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"Ação de salvar"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958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2D7E9-4EBD-BC9E-9C80-1CCDFA8EA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3A8D4-267A-D5FB-F4AE-7A8F7C2E7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Vamos </a:t>
            </a:r>
            <a:r>
              <a:rPr lang="en-US" dirty="0" err="1"/>
              <a:t>reescrever</a:t>
            </a:r>
            <a:r>
              <a:rPr lang="en-US" dirty="0"/>
              <a:t> o </a:t>
            </a:r>
            <a:r>
              <a:rPr lang="en-US" dirty="0" err="1"/>
              <a:t>Exemplo</a:t>
            </a:r>
            <a:r>
              <a:rPr lang="en-US" dirty="0"/>
              <a:t> 1, </a:t>
            </a:r>
            <a:r>
              <a:rPr lang="en-US" dirty="0" err="1"/>
              <a:t>porém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QPushButton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/>
              <a:t>Omitimos</a:t>
            </a:r>
            <a:r>
              <a:rPr lang="en-US" dirty="0"/>
              <a:t> do </a:t>
            </a:r>
            <a:r>
              <a:rPr lang="en-US" dirty="0" err="1"/>
              <a:t>código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métodos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open_file</a:t>
            </a:r>
            <a:r>
              <a:rPr lang="en-US" dirty="0"/>
              <a:t> 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save_file</a:t>
            </a:r>
            <a:r>
              <a:rPr lang="en-US" dirty="0"/>
              <a:t>, que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iguais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do </a:t>
            </a:r>
            <a:r>
              <a:rPr lang="en-US" dirty="0" err="1"/>
              <a:t>exemplo</a:t>
            </a:r>
            <a:r>
              <a:rPr lang="en-US" dirty="0"/>
              <a:t> anterior</a:t>
            </a:r>
          </a:p>
          <a:p>
            <a:pPr lvl="1"/>
            <a:r>
              <a:rPr lang="en-US" dirty="0"/>
              <a:t>Note que com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QPushButton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vamos</a:t>
            </a:r>
            <a:r>
              <a:rPr lang="en-US" dirty="0"/>
              <a:t> </a:t>
            </a:r>
            <a:r>
              <a:rPr lang="en-US" dirty="0" err="1"/>
              <a:t>conseguir</a:t>
            </a:r>
            <a:r>
              <a:rPr lang="en-US" dirty="0"/>
              <a:t> </a:t>
            </a:r>
            <a:r>
              <a:rPr lang="en-US" dirty="0" err="1"/>
              <a:t>criar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atalhos</a:t>
            </a: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39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831B6-D15D-FE27-399A-D966209D6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DBF9E1-85B8-C3D5-02EC-2AE915D1C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050532"/>
              </p:ext>
            </p:extLst>
          </p:nvPr>
        </p:nvGraphicFramePr>
        <p:xfrm>
          <a:off x="151623" y="1041415"/>
          <a:ext cx="11363384" cy="5332994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332994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 dirty="0" err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MainWindow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QMainWindow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 dirty="0" err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800" dirty="0" err="1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init</a:t>
                      </a:r>
                      <a:r>
                        <a:rPr lang="pt-BR" sz="1800" dirty="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 dirty="0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init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"Barra de Ferramentas - Exemplo"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setFixedSize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300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 dirty="0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 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QToolBar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"Barra de Ferramentas"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setMovable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 dirty="0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False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toggleViewAction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setEnabled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 dirty="0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False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addToolBar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open_button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QPushButton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"Abrir"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open_button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clicked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connect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open_file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save_button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QPushButton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"Salvar"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save_button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clicked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connect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save_file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 dirty="0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addWidget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open_button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addWidget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save_button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dirty="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A78CDB3-AFD7-AFFC-6F50-E5BE6C60FAEB}"/>
              </a:ext>
            </a:extLst>
          </p:cNvPr>
          <p:cNvSpPr/>
          <p:nvPr/>
        </p:nvSpPr>
        <p:spPr>
          <a:xfrm>
            <a:off x="1143315" y="5728626"/>
            <a:ext cx="4242770" cy="27443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699BD65-DADD-B0DF-BD24-8AEB941A7A84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5386085" y="5865842"/>
            <a:ext cx="259939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80F9723-1427-ED19-42F5-43B3B75AAE49}"/>
              </a:ext>
            </a:extLst>
          </p:cNvPr>
          <p:cNvSpPr txBox="1"/>
          <p:nvPr/>
        </p:nvSpPr>
        <p:spPr>
          <a:xfrm>
            <a:off x="7985481" y="5542676"/>
            <a:ext cx="3439713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Usamos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addWidget</a:t>
            </a:r>
            <a:r>
              <a:rPr lang="en-US"/>
              <a:t> ao invés de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addAction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E6040-439F-D975-AD25-74FB00434258}"/>
              </a:ext>
            </a:extLst>
          </p:cNvPr>
          <p:cNvSpPr txBox="1"/>
          <p:nvPr/>
        </p:nvSpPr>
        <p:spPr>
          <a:xfrm>
            <a:off x="8198105" y="3917073"/>
            <a:ext cx="3439713" cy="92333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Criamos</a:t>
            </a:r>
            <a:r>
              <a:rPr lang="en-US" dirty="0"/>
              <a:t> o </a:t>
            </a:r>
            <a:r>
              <a:rPr lang="en-US" dirty="0" err="1"/>
              <a:t>botão</a:t>
            </a:r>
            <a:r>
              <a:rPr lang="en-US" dirty="0"/>
              <a:t> e </a:t>
            </a:r>
            <a:r>
              <a:rPr lang="en-US" dirty="0" err="1"/>
              <a:t>conectamos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sinal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clicked</a:t>
            </a:r>
            <a:r>
              <a:rPr lang="en-US" dirty="0"/>
              <a:t> o </a:t>
            </a:r>
            <a:r>
              <a:rPr lang="en-US" dirty="0" err="1"/>
              <a:t>método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open_file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B5D914-14D3-7DD4-2F94-0B1D6B154144}"/>
              </a:ext>
            </a:extLst>
          </p:cNvPr>
          <p:cNvSpPr/>
          <p:nvPr/>
        </p:nvSpPr>
        <p:spPr>
          <a:xfrm>
            <a:off x="1162147" y="4084392"/>
            <a:ext cx="5928676" cy="58869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6DDABD-462B-6027-44C5-50C9C292298F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 flipV="1">
            <a:off x="7090823" y="4378738"/>
            <a:ext cx="1107282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431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2D7E9-4EBD-BC9E-9C80-1CCDFA8EA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3A8D4-267A-D5FB-F4AE-7A8F7C2E7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Conclusão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Em barras de ferramentas </a:t>
            </a:r>
            <a:r>
              <a:rPr lang="en-US" dirty="0" err="1"/>
              <a:t>recomenda</a:t>
            </a:r>
            <a:r>
              <a:rPr lang="en-US" dirty="0"/>
              <a:t>-se usar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QAction</a:t>
            </a: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582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FCC89-7B9F-5AB0-7065-05025F39B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Barras de Ferramentas com ícones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813F4-A0D2-7CC8-5644-3B1C5441E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</a:t>
            </a:r>
            <a:r>
              <a:rPr lang="en-US" dirty="0" err="1"/>
              <a:t>Exemplo</a:t>
            </a:r>
            <a:r>
              <a:rPr lang="en-US" dirty="0"/>
              <a:t> 1 a barra de ferramenta era </a:t>
            </a:r>
            <a:r>
              <a:rPr lang="en-US" dirty="0" err="1"/>
              <a:t>composta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itens</a:t>
            </a:r>
            <a:r>
              <a:rPr lang="en-US" dirty="0"/>
              <a:t> com </a:t>
            </a:r>
            <a:r>
              <a:rPr lang="en-US" dirty="0" err="1"/>
              <a:t>texto</a:t>
            </a:r>
            <a:endParaRPr lang="en-US" dirty="0"/>
          </a:p>
          <a:p>
            <a:r>
              <a:rPr lang="en-US" dirty="0" err="1"/>
              <a:t>Entretanto</a:t>
            </a:r>
            <a:r>
              <a:rPr lang="en-US" dirty="0"/>
              <a:t>, o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comum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barras de ferramentas com </a:t>
            </a:r>
            <a:r>
              <a:rPr lang="en-US" dirty="0" err="1"/>
              <a:t>ícones</a:t>
            </a:r>
            <a:r>
              <a:rPr lang="en-US" dirty="0"/>
              <a:t>. </a:t>
            </a:r>
            <a:r>
              <a:rPr lang="en-US" dirty="0" err="1"/>
              <a:t>Temos</a:t>
            </a:r>
            <a:r>
              <a:rPr lang="en-US" dirty="0"/>
              <a:t> duas </a:t>
            </a:r>
            <a:r>
              <a:rPr lang="en-US" dirty="0" err="1"/>
              <a:t>opções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Usar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ícones</a:t>
            </a:r>
            <a:r>
              <a:rPr lang="en-US" dirty="0"/>
              <a:t> </a:t>
            </a:r>
            <a:r>
              <a:rPr lang="en-US" i="1" dirty="0"/>
              <a:t>built-in</a:t>
            </a:r>
            <a:r>
              <a:rPr lang="en-US" dirty="0"/>
              <a:t> do Qt </a:t>
            </a:r>
          </a:p>
          <a:p>
            <a:pPr lvl="2"/>
            <a:r>
              <a:rPr lang="en-US" dirty="0" err="1"/>
              <a:t>Vantagem</a:t>
            </a:r>
            <a:r>
              <a:rPr lang="en-US" dirty="0"/>
              <a:t>: </a:t>
            </a:r>
            <a:r>
              <a:rPr lang="en-US" dirty="0" err="1"/>
              <a:t>estão</a:t>
            </a:r>
            <a:r>
              <a:rPr lang="en-US" dirty="0"/>
              <a:t> </a:t>
            </a:r>
            <a:r>
              <a:rPr lang="en-US" dirty="0" err="1"/>
              <a:t>disponíveis</a:t>
            </a:r>
            <a:r>
              <a:rPr lang="en-US" dirty="0"/>
              <a:t> de </a:t>
            </a:r>
            <a:r>
              <a:rPr lang="en-US" dirty="0" err="1"/>
              <a:t>imediato</a:t>
            </a:r>
            <a:endParaRPr lang="en-US" dirty="0"/>
          </a:p>
          <a:p>
            <a:pPr lvl="2"/>
            <a:r>
              <a:rPr lang="en-US" dirty="0" err="1"/>
              <a:t>Desvantagem</a:t>
            </a:r>
            <a:r>
              <a:rPr lang="en-US" dirty="0"/>
              <a:t>: </a:t>
            </a:r>
            <a:r>
              <a:rPr lang="en-US" dirty="0" err="1"/>
              <a:t>existem</a:t>
            </a:r>
            <a:r>
              <a:rPr lang="en-US" dirty="0"/>
              <a:t> </a:t>
            </a:r>
            <a:r>
              <a:rPr lang="en-US" dirty="0" err="1"/>
              <a:t>apenas</a:t>
            </a:r>
            <a:r>
              <a:rPr lang="en-US" dirty="0"/>
              <a:t> </a:t>
            </a:r>
            <a:r>
              <a:rPr lang="en-US" dirty="0" err="1"/>
              <a:t>algumas</a:t>
            </a:r>
            <a:r>
              <a:rPr lang="en-US" dirty="0"/>
              <a:t> </a:t>
            </a:r>
            <a:r>
              <a:rPr lang="en-US" dirty="0" err="1"/>
              <a:t>dezenas</a:t>
            </a:r>
            <a:r>
              <a:rPr lang="en-US" dirty="0"/>
              <a:t> de </a:t>
            </a:r>
            <a:r>
              <a:rPr lang="en-US" dirty="0" err="1"/>
              <a:t>ícones</a:t>
            </a:r>
            <a:endParaRPr lang="en-US" dirty="0"/>
          </a:p>
          <a:p>
            <a:pPr lvl="1"/>
            <a:r>
              <a:rPr lang="en-US" dirty="0"/>
              <a:t>Usar </a:t>
            </a:r>
            <a:r>
              <a:rPr lang="en-US" dirty="0" err="1"/>
              <a:t>ícones</a:t>
            </a:r>
            <a:r>
              <a:rPr lang="en-US" dirty="0"/>
              <a:t> </a:t>
            </a:r>
            <a:r>
              <a:rPr lang="en-US" dirty="0" err="1"/>
              <a:t>customizados</a:t>
            </a:r>
            <a:endParaRPr lang="en-US" dirty="0"/>
          </a:p>
          <a:p>
            <a:pPr lvl="2"/>
            <a:r>
              <a:rPr lang="en-US" dirty="0"/>
              <a:t>Uma </a:t>
            </a:r>
            <a:r>
              <a:rPr lang="en-US" dirty="0" err="1"/>
              <a:t>sugestão</a:t>
            </a:r>
            <a:r>
              <a:rPr lang="en-US" dirty="0"/>
              <a:t> é o site </a:t>
            </a:r>
            <a:r>
              <a:rPr lang="en-US" dirty="0">
                <a:hlinkClick r:id="rId2"/>
              </a:rPr>
              <a:t>https://p.yusukekamiyamane.com/</a:t>
            </a:r>
            <a:r>
              <a:rPr lang="en-US" dirty="0"/>
              <a:t> </a:t>
            </a:r>
            <a:endParaRPr lang="pt-B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D283C4-658E-BD26-0B1C-7C8304D98881}"/>
              </a:ext>
            </a:extLst>
          </p:cNvPr>
          <p:cNvSpPr/>
          <p:nvPr/>
        </p:nvSpPr>
        <p:spPr>
          <a:xfrm>
            <a:off x="913242" y="3854643"/>
            <a:ext cx="4766147" cy="58869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163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E6F20-61B7-6675-0543-F8B02AAEC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3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A8B865-7234-736F-3794-99BE58AFF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582889"/>
              </p:ext>
            </p:extLst>
          </p:nvPr>
        </p:nvGraphicFramePr>
        <p:xfrm>
          <a:off x="151623" y="1041415"/>
          <a:ext cx="11363384" cy="5760720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332994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dirty="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21</a:t>
                      </a:r>
                      <a:endParaRPr lang="en-US" sz="180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 dirty="0" err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MainWindow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QMainWindow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 dirty="0" err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800" dirty="0" err="1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init</a:t>
                      </a:r>
                      <a:r>
                        <a:rPr lang="pt-BR" sz="1800" dirty="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 dirty="0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init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"Barra de Ferramentas com Ícones - Exemplo"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setFixedSize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300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 dirty="0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 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QToolBar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"Barra de Ferramentas"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setMovable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 dirty="0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False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toggleViewAction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setEnabled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 dirty="0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False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addToolBar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style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style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open_icon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style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standardIcon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QStyle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StandardPixmap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SP_DialogOpenButton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open_action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QAction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open_icon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"Abrir"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open_action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triggered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connect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open_file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addAction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open_action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save_icon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style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standardIcon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QStyle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StandardPixmap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SP_DialogSaveButton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save_action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QAction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save_icon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"Salvar"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save_action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triggered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connect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save_file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addAction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save_action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dirty="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2342E65-A5BD-67B8-E21C-B44887C1265E}"/>
              </a:ext>
            </a:extLst>
          </p:cNvPr>
          <p:cNvSpPr/>
          <p:nvPr/>
        </p:nvSpPr>
        <p:spPr>
          <a:xfrm>
            <a:off x="1170110" y="4083626"/>
            <a:ext cx="2781568" cy="27443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CFDED376-ED3B-28B8-E366-23681DAE0B65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3951678" y="1533193"/>
            <a:ext cx="2890909" cy="2687649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027192A-DE9B-EE44-0FE1-CC3D4CD8A575}"/>
              </a:ext>
            </a:extLst>
          </p:cNvPr>
          <p:cNvSpPr txBox="1"/>
          <p:nvPr/>
        </p:nvSpPr>
        <p:spPr>
          <a:xfrm>
            <a:off x="6842587" y="1210027"/>
            <a:ext cx="3973983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Recuperamos o objeto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QStyle</a:t>
            </a:r>
            <a:r>
              <a:rPr lang="en-US"/>
              <a:t>, que é uma variável de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QWidget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D34E36-79AD-9B2C-CD8C-427657D79E98}"/>
              </a:ext>
            </a:extLst>
          </p:cNvPr>
          <p:cNvSpPr/>
          <p:nvPr/>
        </p:nvSpPr>
        <p:spPr>
          <a:xfrm>
            <a:off x="1170110" y="4358057"/>
            <a:ext cx="10018654" cy="27443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6F02F4-30ED-F60D-B0D4-7DACF1F65322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8408263" y="3338682"/>
            <a:ext cx="0" cy="101937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AFA185B-7A1E-96F0-4E89-2F44C77EDEE5}"/>
              </a:ext>
            </a:extLst>
          </p:cNvPr>
          <p:cNvSpPr txBox="1"/>
          <p:nvPr/>
        </p:nvSpPr>
        <p:spPr>
          <a:xfrm>
            <a:off x="5831396" y="2415352"/>
            <a:ext cx="5153734" cy="92333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Usamos o método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standardIcon</a:t>
            </a:r>
            <a:r>
              <a:rPr lang="en-US"/>
              <a:t> de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QStyle</a:t>
            </a:r>
            <a:r>
              <a:rPr lang="en-US"/>
              <a:t> para criar um ícone 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QIcon</a:t>
            </a:r>
            <a:r>
              <a:rPr lang="en-US"/>
              <a:t>). O estilo do item é determinado pelo argumento.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C95956A-0E39-60E2-113C-7B9037CE4EAD}"/>
              </a:ext>
            </a:extLst>
          </p:cNvPr>
          <p:cNvCxnSpPr>
            <a:cxnSpLocks/>
            <a:stCxn id="14" idx="2"/>
            <a:endCxn id="30" idx="0"/>
          </p:cNvCxnSpPr>
          <p:nvPr/>
        </p:nvCxnSpPr>
        <p:spPr>
          <a:xfrm>
            <a:off x="6179437" y="4632488"/>
            <a:ext cx="0" cy="87884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0132E29-8C99-C08E-2AE7-A59E40D2730F}"/>
              </a:ext>
            </a:extLst>
          </p:cNvPr>
          <p:cNvSpPr txBox="1"/>
          <p:nvPr/>
        </p:nvSpPr>
        <p:spPr>
          <a:xfrm>
            <a:off x="1734723" y="5511329"/>
            <a:ext cx="8889428" cy="1200329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Note que </a:t>
            </a:r>
            <a:r>
              <a:rPr lang="en-US" dirty="0" err="1"/>
              <a:t>usamos</a:t>
            </a:r>
            <a:r>
              <a:rPr lang="en-US" dirty="0"/>
              <a:t> o </a:t>
            </a:r>
            <a:r>
              <a:rPr lang="en-US" dirty="0" err="1"/>
              <a:t>objeto</a:t>
            </a:r>
            <a:r>
              <a:rPr lang="en-US" dirty="0"/>
              <a:t> style </a:t>
            </a:r>
            <a:r>
              <a:rPr lang="en-US" dirty="0" err="1"/>
              <a:t>apenas</a:t>
            </a:r>
            <a:r>
              <a:rPr lang="en-US" dirty="0"/>
              <a:t> para </a:t>
            </a:r>
            <a:r>
              <a:rPr lang="en-US" dirty="0" err="1"/>
              <a:t>conseguir</a:t>
            </a:r>
            <a:r>
              <a:rPr lang="en-US" dirty="0"/>
              <a:t> </a:t>
            </a:r>
            <a:r>
              <a:rPr lang="en-US" dirty="0" err="1"/>
              <a:t>acesso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método</a:t>
            </a:r>
            <a:r>
              <a:rPr lang="en-US" dirty="0"/>
              <a:t> </a:t>
            </a:r>
            <a:r>
              <a:rPr lang="en-US" dirty="0" err="1"/>
              <a:t>standardIcon</a:t>
            </a:r>
            <a:r>
              <a:rPr lang="en-US" dirty="0"/>
              <a:t> para </a:t>
            </a:r>
            <a:r>
              <a:rPr lang="en-US" dirty="0" err="1"/>
              <a:t>criar</a:t>
            </a:r>
            <a:r>
              <a:rPr lang="en-US" dirty="0"/>
              <a:t> </a:t>
            </a:r>
            <a:r>
              <a:rPr lang="en-US" dirty="0" err="1"/>
              <a:t>nosso</a:t>
            </a:r>
            <a:r>
              <a:rPr lang="en-US" dirty="0"/>
              <a:t> </a:t>
            </a:r>
            <a:r>
              <a:rPr lang="en-US" dirty="0" err="1"/>
              <a:t>ícone</a:t>
            </a:r>
            <a:r>
              <a:rPr lang="en-US" dirty="0"/>
              <a:t>. </a:t>
            </a:r>
            <a:r>
              <a:rPr lang="en-US" dirty="0" err="1"/>
              <a:t>Portanto</a:t>
            </a:r>
            <a:r>
              <a:rPr lang="en-US" dirty="0"/>
              <a:t>, </a:t>
            </a:r>
            <a:r>
              <a:rPr lang="en-US" dirty="0" err="1"/>
              <a:t>alternativamente</a:t>
            </a:r>
            <a:r>
              <a:rPr lang="en-US" dirty="0"/>
              <a:t>, 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poderíamos</a:t>
            </a:r>
            <a:r>
              <a:rPr lang="en-US" dirty="0"/>
              <a:t> </a:t>
            </a:r>
            <a:r>
              <a:rPr lang="en-US" dirty="0" err="1"/>
              <a:t>ter</a:t>
            </a:r>
            <a:r>
              <a:rPr lang="en-US" dirty="0"/>
              <a:t> </a:t>
            </a:r>
            <a:r>
              <a:rPr lang="en-US" dirty="0" err="1"/>
              <a:t>instanciado</a:t>
            </a:r>
            <a:r>
              <a:rPr lang="en-US" dirty="0"/>
              <a:t> um novo </a:t>
            </a:r>
            <a:r>
              <a:rPr lang="en-US" dirty="0" err="1"/>
              <a:t>objeto</a:t>
            </a:r>
            <a:r>
              <a:rPr lang="en-US" dirty="0"/>
              <a:t> </a:t>
            </a:r>
            <a:r>
              <a:rPr lang="en-US" dirty="0" err="1"/>
              <a:t>QStyle</a:t>
            </a:r>
            <a:r>
              <a:rPr lang="en-US" dirty="0"/>
              <a:t>, </a:t>
            </a:r>
            <a:r>
              <a:rPr lang="en-US" dirty="0" err="1"/>
              <a:t>substituindo</a:t>
            </a:r>
            <a:r>
              <a:rPr lang="en-US" dirty="0"/>
              <a:t> as </a:t>
            </a:r>
            <a:r>
              <a:rPr lang="en-US" dirty="0" err="1"/>
              <a:t>Linhas</a:t>
            </a:r>
            <a:r>
              <a:rPr lang="en-US" dirty="0"/>
              <a:t> 12 e 13 </a:t>
            </a:r>
            <a:r>
              <a:rPr lang="en-US" dirty="0" err="1"/>
              <a:t>por</a:t>
            </a:r>
            <a:r>
              <a:rPr lang="en-US" dirty="0"/>
              <a:t>:</a:t>
            </a:r>
          </a:p>
          <a:p>
            <a:pPr algn="ctr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open_icon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QStyle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standardIcon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(...)</a:t>
            </a:r>
          </a:p>
        </p:txBody>
      </p:sp>
    </p:spTree>
    <p:extLst>
      <p:ext uri="{BB962C8B-B14F-4D97-AF65-F5344CB8AC3E}">
        <p14:creationId xmlns:p14="http://schemas.microsoft.com/office/powerpoint/2010/main" val="1988269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4" grpId="0" animBg="1"/>
      <p:bldP spid="18" grpId="0" animBg="1"/>
      <p:bldP spid="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E6F20-61B7-6675-0543-F8B02AAEC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3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A8B865-7234-736F-3794-99BE58AFF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30786"/>
              </p:ext>
            </p:extLst>
          </p:nvPr>
        </p:nvGraphicFramePr>
        <p:xfrm>
          <a:off x="151623" y="1041415"/>
          <a:ext cx="11363384" cy="5760720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332994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 dirty="0" err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MainWindow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QMainWindow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 dirty="0" err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800" dirty="0" err="1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init</a:t>
                      </a:r>
                      <a:r>
                        <a:rPr lang="pt-BR" sz="1800" dirty="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 dirty="0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init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"Barra de Ferramentas com Ícones - Exemplo"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setFixedSize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300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 dirty="0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 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QToolBar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"Barra de Ferramentas"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setMovable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 dirty="0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False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toggleViewAction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setEnabled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 dirty="0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False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addToolBar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style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style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open_icon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style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standardIcon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QStyle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StandardPixmap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SP_DialogOpenButton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open_action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QAction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open_icon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"Abrir"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open_action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triggered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connect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open_file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addAction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open_action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save_icon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style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standardIcon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QStyle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StandardPixmap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SP_DialogSaveButton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save_action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QAction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save_icon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"Salvar"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save_action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triggered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connect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save_file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 dirty="0" err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addAction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save_action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dirty="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3B4F715-BFFA-356D-D3F1-2844551DB854}"/>
              </a:ext>
            </a:extLst>
          </p:cNvPr>
          <p:cNvSpPr/>
          <p:nvPr/>
        </p:nvSpPr>
        <p:spPr>
          <a:xfrm>
            <a:off x="1170110" y="4606186"/>
            <a:ext cx="6480523" cy="301247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62426FC1-68B2-D99E-9A6B-DDFED562797D}"/>
              </a:ext>
            </a:extLst>
          </p:cNvPr>
          <p:cNvCxnSpPr>
            <a:cxnSpLocks/>
            <a:stCxn id="3" idx="0"/>
            <a:endCxn id="10" idx="1"/>
          </p:cNvCxnSpPr>
          <p:nvPr/>
        </p:nvCxnSpPr>
        <p:spPr>
          <a:xfrm rot="5400000" flipH="1" flipV="1">
            <a:off x="5432993" y="2819805"/>
            <a:ext cx="763761" cy="2809003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E202ACF-5060-C945-6C1C-2EFCC84208EA}"/>
              </a:ext>
            </a:extLst>
          </p:cNvPr>
          <p:cNvSpPr txBox="1"/>
          <p:nvPr/>
        </p:nvSpPr>
        <p:spPr>
          <a:xfrm>
            <a:off x="7219375" y="3380760"/>
            <a:ext cx="4212923" cy="92333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Usamos o construtor de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QAction</a:t>
            </a:r>
            <a:r>
              <a:rPr lang="en-US"/>
              <a:t> que aceita um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QIcon</a:t>
            </a:r>
            <a:r>
              <a:rPr lang="en-US"/>
              <a:t> e um texto como parâmetro. Compare com o Exemplo 1.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30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F22A2-E6C9-5678-DE58-37317CA65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3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600667-2DBC-5005-1AF8-6BBDC145DB97}"/>
              </a:ext>
            </a:extLst>
          </p:cNvPr>
          <p:cNvGraphicFramePr>
            <a:graphicFrameLocks noGrp="1"/>
          </p:cNvGraphicFramePr>
          <p:nvPr/>
        </p:nvGraphicFramePr>
        <p:xfrm>
          <a:off x="151623" y="1041415"/>
          <a:ext cx="11363384" cy="1481226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48122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23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26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 dirty="0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 dirty="0" err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open_file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 dirty="0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"Ação de abrir"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 dirty="0" err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dirty="0" err="1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save_file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 dirty="0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"Ação de salvar"</a:t>
                      </a:r>
                      <a:r>
                        <a:rPr lang="pt-BR" sz="1800" b="1" dirty="0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23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Padrão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a Padrão" id="{5B42EFA3-33EE-47DD-A488-DB78A38E859A}" vid="{2CFE1DDC-F190-4E49-9E1E-3C869FC37C8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Padrão</Template>
  <TotalTime>9852</TotalTime>
  <Words>1524</Words>
  <Application>Microsoft Office PowerPoint</Application>
  <PresentationFormat>Widescreen</PresentationFormat>
  <Paragraphs>301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Garamond</vt:lpstr>
      <vt:lpstr>Wingdings</vt:lpstr>
      <vt:lpstr>Tema Padrão</vt:lpstr>
      <vt:lpstr>09(IV) – Barras de Ferramentas </vt:lpstr>
      <vt:lpstr>Padrão – Exemplos</vt:lpstr>
      <vt:lpstr>Introdução</vt:lpstr>
      <vt:lpstr>Exemplo 1</vt:lpstr>
      <vt:lpstr>Exemplo 1</vt:lpstr>
      <vt:lpstr>Exemplo 1</vt:lpstr>
      <vt:lpstr>Exemplo 1</vt:lpstr>
      <vt:lpstr>Exemplo 2</vt:lpstr>
      <vt:lpstr>Exemplo 2</vt:lpstr>
      <vt:lpstr>Exemplo 2</vt:lpstr>
      <vt:lpstr>Barras de Ferramentas com ícones</vt:lpstr>
      <vt:lpstr>Exemplo 3</vt:lpstr>
      <vt:lpstr>Exemplo 3</vt:lpstr>
      <vt:lpstr>Exemplo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Aprendizagem por Reforço</dc:title>
  <dc:creator>Usuario</dc:creator>
  <cp:lastModifiedBy>Thiago José Barbosa da Rocha</cp:lastModifiedBy>
  <cp:revision>628</cp:revision>
  <dcterms:created xsi:type="dcterms:W3CDTF">2017-06-20T21:36:17Z</dcterms:created>
  <dcterms:modified xsi:type="dcterms:W3CDTF">2024-10-16T21:03:19Z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8c0edb5-d8bf-4cc6-9afc-2081a723b718_Enabled">
    <vt:lpwstr>true</vt:lpwstr>
  </property>
  <property fmtid="{D5CDD505-2E9C-101B-9397-08002B2CF9AE}" pid="3" name="MSIP_Label_d8c0edb5-d8bf-4cc6-9afc-2081a723b718_SetDate">
    <vt:lpwstr>2024-10-16T17:34:16Z</vt:lpwstr>
  </property>
  <property fmtid="{D5CDD505-2E9C-101B-9397-08002B2CF9AE}" pid="4" name="MSIP_Label_d8c0edb5-d8bf-4cc6-9afc-2081a723b718_Method">
    <vt:lpwstr>Standard</vt:lpwstr>
  </property>
  <property fmtid="{D5CDD505-2E9C-101B-9397-08002B2CF9AE}" pid="5" name="MSIP_Label_d8c0edb5-d8bf-4cc6-9afc-2081a723b718_Name">
    <vt:lpwstr>Interno</vt:lpwstr>
  </property>
  <property fmtid="{D5CDD505-2E9C-101B-9397-08002B2CF9AE}" pid="6" name="MSIP_Label_d8c0edb5-d8bf-4cc6-9afc-2081a723b718_SiteId">
    <vt:lpwstr>9cfc026b-d98b-4248-8ee2-09e38f7309c7</vt:lpwstr>
  </property>
  <property fmtid="{D5CDD505-2E9C-101B-9397-08002B2CF9AE}" pid="7" name="MSIP_Label_d8c0edb5-d8bf-4cc6-9afc-2081a723b718_ActionId">
    <vt:lpwstr>79e8add9-bf4d-43ff-ad58-9a678ce04fa9</vt:lpwstr>
  </property>
  <property fmtid="{D5CDD505-2E9C-101B-9397-08002B2CF9AE}" pid="8" name="MSIP_Label_d8c0edb5-d8bf-4cc6-9afc-2081a723b718_ContentBits">
    <vt:lpwstr>2</vt:lpwstr>
  </property>
  <property fmtid="{D5CDD505-2E9C-101B-9397-08002B2CF9AE}" pid="9" name="ClassificationContentMarkingFooterLocations">
    <vt:lpwstr>Tema Padrão:5</vt:lpwstr>
  </property>
  <property fmtid="{D5CDD505-2E9C-101B-9397-08002B2CF9AE}" pid="10" name="ClassificationContentMarkingFooterText">
    <vt:lpwstr>Classificação da informação: Interno</vt:lpwstr>
  </property>
</Properties>
</file>