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326" r:id="rId3"/>
    <p:sldId id="327" r:id="rId4"/>
    <p:sldId id="329" r:id="rId5"/>
    <p:sldId id="328" r:id="rId6"/>
    <p:sldId id="330" r:id="rId7"/>
    <p:sldId id="333" r:id="rId8"/>
    <p:sldId id="332" r:id="rId9"/>
    <p:sldId id="331" r:id="rId10"/>
    <p:sldId id="335" r:id="rId11"/>
    <p:sldId id="334" r:id="rId12"/>
    <p:sldId id="336" r:id="rId13"/>
    <p:sldId id="337" r:id="rId14"/>
    <p:sldId id="338" r:id="rId15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0CD1"/>
    <a:srgbClr val="EE0000"/>
    <a:srgbClr val="C60AAB"/>
    <a:srgbClr val="B4C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1" autoAdjust="0"/>
    <p:restoredTop sz="77361" autoAdjust="0"/>
  </p:normalViewPr>
  <p:slideViewPr>
    <p:cSldViewPr snapToGrid="0">
      <p:cViewPr varScale="1">
        <p:scale>
          <a:sx n="54" d="100"/>
          <a:sy n="54" d="100"/>
        </p:scale>
        <p:origin x="1320" y="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988D68-4F99-9897-2557-7FAECD4DA1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ADEEC-0B42-A9F3-3777-C0EA477BF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5FA2A-DBCD-493C-9076-F445FB125593}" type="datetimeFigureOut">
              <a:rPr lang="pt-BR" smtClean="0"/>
              <a:t>06/11/2024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AC39A-6257-8199-1F59-3BEB2B790F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/>
              <a:t>https://docs.python.org/3/library/math.html#math.fmod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E1CD6-5B5B-8C1F-E3BC-E3CD777457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7B1E4-7D48-4B42-B482-E0FA798597D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4681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06/11/2024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/>
              <a:t>https://docs.python.org/3/library/math.html#math.fmod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 módulo polynomial possui 6 módulos, incluindo polynomial e chebyshev. Esses módulos possuem suas classes respectivas e funções livres equivalentes (polyfit/chebfit), porém com diferentes nomes, de modo a evitar colisões de nomes se fossem importados para o mesmo namespace. As classes transformam essas funções em métodos estáticos e, ao serem encapsuladas dentro de uma classe, não há risco de colisão e seus nomes passam a serem iguais: fit. Com isso, temos uma interface comum.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Obs.: as funções livres são anteriores às classes. Talvez por isso as classes criam seus métodos estáticos a partir das funções.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  <a:endParaRPr lang="pt-BR"/>
          </a:p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663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530725"/>
          </a:xfr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718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89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2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135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6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17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1034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7139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219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r>
              <a:rPr lang="pt-BR" noProof="0"/>
              <a:t>Clique no ícone para adicionar tabela</a:t>
            </a:r>
          </a:p>
        </p:txBody>
      </p:sp>
    </p:spTree>
    <p:extLst>
      <p:ext uri="{BB962C8B-B14F-4D97-AF65-F5344CB8AC3E}">
        <p14:creationId xmlns:p14="http://schemas.microsoft.com/office/powerpoint/2010/main" val="237297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1850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4632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7405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  <p:sp>
        <p:nvSpPr>
          <p:cNvPr id="1028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31 – Numpy, SciPy e Matplotlib</a:t>
            </a:r>
            <a:br>
              <a:rPr lang="pt-BR"/>
            </a:br>
            <a:r>
              <a:rPr lang="pt-BR"/>
              <a:t>(IV – Interpolação)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1501" y="5165043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C704-EF21-3FA5-C2AB-CE5936E5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CA178-898B-F2C8-1268-5BDC0397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Definição</a:t>
            </a:r>
          </a:p>
          <a:p>
            <a:pPr lvl="1"/>
            <a:r>
              <a:rPr lang="en-US"/>
              <a:t>Interpolação consiste em estimar valores desconhecidos a partir de um conjunto discreto de valores conhecidos</a:t>
            </a:r>
          </a:p>
          <a:p>
            <a:r>
              <a:rPr lang="en-US"/>
              <a:t>Estratégia</a:t>
            </a:r>
          </a:p>
          <a:p>
            <a:pPr lvl="1"/>
            <a:r>
              <a:rPr lang="en-US"/>
              <a:t>Na prática, para interpolar, construímos uma função que passe pelos pontos conhecidos para inferir os valores desconhecidos</a:t>
            </a:r>
          </a:p>
          <a:p>
            <a:pPr lvl="1"/>
            <a:endParaRPr lang="pt-BR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0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678E-43E2-F651-40BC-632659476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E92AF-68A0-2ACF-BABD-D2CF08BA4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Tipos de Interpolação</a:t>
            </a:r>
          </a:p>
          <a:p>
            <a:pPr lvl="1"/>
            <a:r>
              <a:rPr lang="en-US"/>
              <a:t>Polinomial</a:t>
            </a:r>
          </a:p>
          <a:p>
            <a:pPr lvl="2"/>
            <a:r>
              <a:rPr lang="en-US"/>
              <a:t>2 pontos: linear</a:t>
            </a:r>
          </a:p>
          <a:p>
            <a:pPr lvl="2"/>
            <a:r>
              <a:rPr lang="en-US"/>
              <a:t>3 pontos: cúbica</a:t>
            </a:r>
          </a:p>
          <a:p>
            <a:pPr lvl="2"/>
            <a:r>
              <a:rPr lang="en-US"/>
              <a:t>...</a:t>
            </a:r>
          </a:p>
          <a:p>
            <a:pPr lvl="1"/>
            <a:r>
              <a:rPr lang="en-US"/>
              <a:t>Spline</a:t>
            </a:r>
          </a:p>
          <a:p>
            <a:pPr lvl="2"/>
            <a:endParaRPr lang="en-US"/>
          </a:p>
          <a:p>
            <a:pPr lvl="1"/>
            <a:endParaRPr lang="en-US"/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03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CCB6-6C9B-E222-28AB-34A8170ED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E40A1-9B7F-1F12-A00F-9625244AC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Extrapolação</a:t>
            </a:r>
          </a:p>
          <a:p>
            <a:pPr lvl="1"/>
            <a:r>
              <a:rPr lang="en-US"/>
              <a:t>Enquanto na interpolação estimamos pontos no intervalo dos pontos conhecidos, na extrapolação estimamos pontos fora desse intervalo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78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479AD-F288-4C2B-706D-7921D6F8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100"/>
              <a:t>Interpolação X Método dos Mínimos Quadrados</a:t>
            </a:r>
            <a:endParaRPr lang="pt-BR" sz="4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D061D-C10D-0EBE-BD82-D16857F16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Interpolação</a:t>
            </a:r>
          </a:p>
          <a:p>
            <a:pPr lvl="1"/>
            <a:r>
              <a:rPr lang="en-US"/>
              <a:t>A função passa por todos os pontos conhecidos</a:t>
            </a:r>
          </a:p>
          <a:p>
            <a:pPr lvl="1"/>
            <a:r>
              <a:rPr lang="en-US"/>
              <a:t>Mais adequada para um conjunto reduzido de pontos</a:t>
            </a:r>
            <a:endParaRPr lang="pt-BR"/>
          </a:p>
          <a:p>
            <a:r>
              <a:rPr lang="en-US"/>
              <a:t>Método dos Mínimos Quadrados</a:t>
            </a:r>
          </a:p>
          <a:p>
            <a:pPr lvl="1"/>
            <a:r>
              <a:rPr lang="en-US"/>
              <a:t>A função é aquela que cuja a soma do quadrado dos erros é a menor possível</a:t>
            </a:r>
          </a:p>
          <a:p>
            <a:pPr lvl="1"/>
            <a:r>
              <a:rPr lang="en-US"/>
              <a:t>Mais adequada para um conjunto grande de pontos</a:t>
            </a:r>
          </a:p>
        </p:txBody>
      </p:sp>
    </p:spTree>
    <p:extLst>
      <p:ext uri="{BB962C8B-B14F-4D97-AF65-F5344CB8AC3E}">
        <p14:creationId xmlns:p14="http://schemas.microsoft.com/office/powerpoint/2010/main" val="354522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2FD50-09A0-3AD5-0382-DB283FC9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Função Polinomial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259D0-A65F-E383-4CD5-5B65EA035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Em NumPy, usamos o módulo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numpy.polynomial</a:t>
            </a:r>
          </a:p>
          <a:p>
            <a:pPr lvl="1"/>
            <a:r>
              <a:rPr lang="en-US"/>
              <a:t>O módulo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numpy.poly1d</a:t>
            </a:r>
            <a:r>
              <a:rPr lang="en-US"/>
              <a:t> também  lida com polinômios, porém é mais antigo e a recomendação oficial é que não seja usado em novos códigos.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75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BFD6568F-5453-B2D1-15FF-A5640127D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2" y="1041187"/>
            <a:ext cx="12004540" cy="5896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B5B6BF-2168-A190-B075-C4B60069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Estrutura do Módulo polynomial</a:t>
            </a:r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CF5AE-ADCF-4BD7-BE80-64286BC7A07A}"/>
              </a:ext>
            </a:extLst>
          </p:cNvPr>
          <p:cNvSpPr txBox="1"/>
          <p:nvPr/>
        </p:nvSpPr>
        <p:spPr>
          <a:xfrm>
            <a:off x="9661645" y="435710"/>
            <a:ext cx="2139970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Vejam as anotações do slide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B602AF-00D4-DAA2-2D9B-C2F82A41E0FE}"/>
              </a:ext>
            </a:extLst>
          </p:cNvPr>
          <p:cNvSpPr/>
          <p:nvPr/>
        </p:nvSpPr>
        <p:spPr>
          <a:xfrm>
            <a:off x="1996157" y="3599043"/>
            <a:ext cx="1274062" cy="88406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118367-A0CB-82CA-BE59-D7E00BA405DE}"/>
                  </a:ext>
                </a:extLst>
              </p:cNvPr>
              <p:cNvSpPr txBox="1"/>
              <p:nvPr/>
            </p:nvSpPr>
            <p:spPr>
              <a:xfrm>
                <a:off x="318660" y="1618244"/>
                <a:ext cx="4629056" cy="1005019"/>
              </a:xfrm>
              <a:prstGeom prst="rect">
                <a:avLst/>
              </a:prstGeom>
              <a:solidFill>
                <a:srgbClr val="99CCFF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0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118367-A0CB-82CA-BE59-D7E00BA40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60" y="1618244"/>
                <a:ext cx="4629056" cy="10050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F3C08D-A68C-171F-3216-D8E8B8383093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flipV="1">
            <a:off x="2633188" y="2623263"/>
            <a:ext cx="0" cy="9757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535FBB-8372-B90C-1748-70D3C2550C13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4947716" y="2120753"/>
            <a:ext cx="257018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7670A27-FC4E-B359-0402-872AD1A36220}"/>
              </a:ext>
            </a:extLst>
          </p:cNvPr>
          <p:cNvSpPr txBox="1"/>
          <p:nvPr/>
        </p:nvSpPr>
        <p:spPr>
          <a:xfrm>
            <a:off x="7517900" y="1797587"/>
            <a:ext cx="2634342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Vamos nos concentrar apenas nesse tipo</a:t>
            </a:r>
          </a:p>
        </p:txBody>
      </p:sp>
    </p:spTree>
    <p:extLst>
      <p:ext uri="{BB962C8B-B14F-4D97-AF65-F5344CB8AC3E}">
        <p14:creationId xmlns:p14="http://schemas.microsoft.com/office/powerpoint/2010/main" val="213903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50C9-71D3-E996-8749-1F2CD9A1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Função Polinomial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56F2E-5F5D-10B8-D205-035C25AA9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Podemos criar um polinômio de diferentes formas: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A8056A-01F5-7842-EC8D-18186290D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018613"/>
              </p:ext>
            </p:extLst>
          </p:nvPr>
        </p:nvGraphicFramePr>
        <p:xfrm>
          <a:off x="248117" y="2053983"/>
          <a:ext cx="11740172" cy="3614081"/>
        </p:xfrm>
        <a:graphic>
          <a:graphicData uri="http://schemas.openxmlformats.org/drawingml/2006/table">
            <a:tbl>
              <a:tblPr firstRow="1" firstCol="1" bandRow="1"/>
              <a:tblGrid>
                <a:gridCol w="45950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28066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61408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numpy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numpy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polynomial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Polynomial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p1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Polynomial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"Consteutor:"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p2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Polynomial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fromroots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"Raizes:"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4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9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p3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Polynomial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"Fit:"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A055965-38CB-FA57-1694-FA84D28F50AF}"/>
              </a:ext>
            </a:extLst>
          </p:cNvPr>
          <p:cNvSpPr/>
          <p:nvPr/>
        </p:nvSpPr>
        <p:spPr>
          <a:xfrm>
            <a:off x="727046" y="2875197"/>
            <a:ext cx="3622117" cy="29831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201A7A8-ACE7-64D7-5647-9B643E3381A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4349163" y="3024352"/>
            <a:ext cx="2961168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A753C3-3C72-8B18-858E-30ABDEB25810}"/>
              </a:ext>
            </a:extLst>
          </p:cNvPr>
          <p:cNvSpPr txBox="1"/>
          <p:nvPr/>
        </p:nvSpPr>
        <p:spPr>
          <a:xfrm>
            <a:off x="7310331" y="2701186"/>
            <a:ext cx="3622118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Usamos o construtor da classe passandos os coeficientes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E9DA97-C2A0-AA1F-9987-69A18FD4D40A}"/>
              </a:ext>
            </a:extLst>
          </p:cNvPr>
          <p:cNvSpPr/>
          <p:nvPr/>
        </p:nvSpPr>
        <p:spPr>
          <a:xfrm>
            <a:off x="727046" y="3711867"/>
            <a:ext cx="4686356" cy="29831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F78021-02C1-DEB5-69D4-D9BD99D95AB9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 flipV="1">
            <a:off x="5413402" y="3861022"/>
            <a:ext cx="1896929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2851A27-D724-BD62-3A50-81B9B9FFC8A9}"/>
              </a:ext>
            </a:extLst>
          </p:cNvPr>
          <p:cNvSpPr txBox="1"/>
          <p:nvPr/>
        </p:nvSpPr>
        <p:spPr>
          <a:xfrm>
            <a:off x="7310331" y="3537856"/>
            <a:ext cx="3622118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Usamos o método estático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fromroots</a:t>
            </a:r>
            <a:r>
              <a:rPr lang="en-US"/>
              <a:t> passando as raízes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89B074-BAE6-E96A-256B-F86C706F8367}"/>
              </a:ext>
            </a:extLst>
          </p:cNvPr>
          <p:cNvSpPr/>
          <p:nvPr/>
        </p:nvSpPr>
        <p:spPr>
          <a:xfrm>
            <a:off x="727046" y="5085850"/>
            <a:ext cx="3929478" cy="29831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AE6984-A23A-4F62-614F-FAE3D38EA340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4656524" y="5235005"/>
            <a:ext cx="2653807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1557CDA-9053-4F13-F2AF-FB1D2159C5E9}"/>
              </a:ext>
            </a:extLst>
          </p:cNvPr>
          <p:cNvSpPr txBox="1"/>
          <p:nvPr/>
        </p:nvSpPr>
        <p:spPr>
          <a:xfrm>
            <a:off x="7310331" y="4911839"/>
            <a:ext cx="3622118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Usamos o método estático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fit</a:t>
            </a:r>
            <a:r>
              <a:rPr lang="en-US"/>
              <a:t>  passando os pontos do polinômio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30F2913-BA6A-D583-B4C4-ADA75397CA6A}"/>
              </a:ext>
            </a:extLst>
          </p:cNvPr>
          <p:cNvCxnSpPr>
            <a:cxnSpLocks/>
            <a:stCxn id="26" idx="2"/>
            <a:endCxn id="35" idx="3"/>
          </p:cNvCxnSpPr>
          <p:nvPr/>
        </p:nvCxnSpPr>
        <p:spPr>
          <a:xfrm rot="5400000">
            <a:off x="8273627" y="5431121"/>
            <a:ext cx="720714" cy="974812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90F49A1-37F0-77B0-941D-CDB51326DD19}"/>
              </a:ext>
            </a:extLst>
          </p:cNvPr>
          <p:cNvSpPr txBox="1"/>
          <p:nvPr/>
        </p:nvSpPr>
        <p:spPr>
          <a:xfrm>
            <a:off x="3735942" y="5817219"/>
            <a:ext cx="4410636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/>
              <a:t> for o grau do polinômio e houver mais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 + 1</a:t>
            </a:r>
            <a:r>
              <a:rPr lang="en-US"/>
              <a:t> pontos, é usado mínimos quadrados para gerar o polinômio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E0525E-4C22-41CD-C88C-C34704AF1353}"/>
                  </a:ext>
                </a:extLst>
              </p:cNvPr>
              <p:cNvSpPr txBox="1"/>
              <p:nvPr/>
            </p:nvSpPr>
            <p:spPr>
              <a:xfrm>
                <a:off x="7025520" y="338984"/>
                <a:ext cx="4191740" cy="923330"/>
              </a:xfrm>
              <a:prstGeom prst="rect">
                <a:avLst/>
              </a:prstGeom>
              <a:solidFill>
                <a:srgbClr val="99CCFF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/>
                  <a:t>Atenção</a:t>
                </a:r>
                <a:r>
                  <a:rPr lang="en-US"/>
                  <a:t> para a ordem dos coeficientes. O polinômio resultante é: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E0525E-4C22-41CD-C88C-C34704AF1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520" y="338984"/>
                <a:ext cx="4191740" cy="923330"/>
              </a:xfrm>
              <a:prstGeom prst="rect">
                <a:avLst/>
              </a:prstGeom>
              <a:blipFill>
                <a:blip r:embed="rId2"/>
                <a:stretch>
                  <a:fillRect t="-39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49DD7F1-A38B-314F-05CB-A563B3808B0A}"/>
              </a:ext>
            </a:extLst>
          </p:cNvPr>
          <p:cNvCxnSpPr>
            <a:cxnSpLocks/>
            <a:stCxn id="11" idx="0"/>
            <a:endCxn id="7" idx="2"/>
          </p:cNvCxnSpPr>
          <p:nvPr/>
        </p:nvCxnSpPr>
        <p:spPr>
          <a:xfrm flipV="1">
            <a:off x="9121390" y="1262314"/>
            <a:ext cx="0" cy="14388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67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4" grpId="0" animBg="1"/>
      <p:bldP spid="18" grpId="0" animBg="1"/>
      <p:bldP spid="22" grpId="0" animBg="1"/>
      <p:bldP spid="26" grpId="0" animBg="1"/>
      <p:bldP spid="3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4D1F9-A809-6286-44DB-363A1ADD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5841-361A-1C96-D2ED-9FF1DE02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Função Polinomial – Exemplo 1</a:t>
            </a:r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84E9AE-DC5F-5497-857B-B91FB140F4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295402"/>
                <a:ext cx="10972800" cy="2362198"/>
              </a:xfrm>
            </p:spPr>
            <p:txBody>
              <a:bodyPr/>
              <a:lstStyle/>
              <a:p>
                <a:r>
                  <a:rPr lang="en-US"/>
                  <a:t>Vamos considerar o lançamento de um projétil com velocidade inicial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 e ângulo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/>
                  <a:t>. Crie um gráfico com a trajetória do projétil.</a:t>
                </a:r>
              </a:p>
              <a:p>
                <a:pPr lvl="1"/>
                <a:r>
                  <a:rPr lang="en-US"/>
                  <a:t>A equação de trajetória do projétil é dada por:</a:t>
                </a:r>
              </a:p>
              <a:p>
                <a:pPr lvl="1"/>
                <a:endParaRPr lang="en-US"/>
              </a:p>
              <a:p>
                <a:pPr lvl="1"/>
                <a:endParaRPr lang="en-US"/>
              </a:p>
              <a:p>
                <a:pPr lvl="1"/>
                <a:r>
                  <a:rPr lang="en-US"/>
                  <a:t>Vamos considerar que a altura de lançamento seja sempre zero.</a:t>
                </a:r>
              </a:p>
              <a:p>
                <a:pPr lvl="1"/>
                <a:r>
                  <a:rPr lang="en-US"/>
                  <a:t>Para esse exemplo vamos adotar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=30°</m:t>
                    </m:r>
                  </m:oMath>
                </a14:m>
                <a:r>
                  <a:rPr lang="en-US"/>
                  <a:t>. Embora estejamos adotando valores específicos, nosso código deve permitir que no futuro a entrada de dados possa ser feita pelo usuário.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84E9AE-DC5F-5497-857B-B91FB140F4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295402"/>
                <a:ext cx="10972800" cy="2362198"/>
              </a:xfrm>
              <a:blipFill>
                <a:blip r:embed="rId2"/>
                <a:stretch>
                  <a:fillRect l="-444" t="-3359" r="-1278" b="-1343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035F1B-22D0-8C55-CE31-749F7EF7C73E}"/>
                  </a:ext>
                </a:extLst>
              </p:cNvPr>
              <p:cNvSpPr txBox="1"/>
              <p:nvPr/>
            </p:nvSpPr>
            <p:spPr>
              <a:xfrm>
                <a:off x="3586178" y="3783724"/>
                <a:ext cx="5019644" cy="723531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𝑡𝑎𝑛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035F1B-22D0-8C55-CE31-749F7EF7C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178" y="3783724"/>
                <a:ext cx="5019644" cy="7235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086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111E9-F28A-1AA1-9057-D02E5F1E3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Função Polinomial – 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6BA6A-9350-F9FE-5FF7-F0DD153CD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Continuação...</a:t>
            </a:r>
          </a:p>
          <a:p>
            <a:pPr lvl="1"/>
            <a:r>
              <a:rPr lang="en-US"/>
              <a:t>Para determinar o intervalo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/>
              <a:t> do gráfico, considere que o alcance do projétil é dado por :</a:t>
            </a:r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F7EBE2-1923-B53A-E02D-CE8E33F60811}"/>
                  </a:ext>
                </a:extLst>
              </p:cNvPr>
              <p:cNvSpPr txBox="1"/>
              <p:nvPr/>
            </p:nvSpPr>
            <p:spPr>
              <a:xfrm>
                <a:off x="4324905" y="3154914"/>
                <a:ext cx="2785634" cy="811697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𝑠𝑒𝑛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pt-BR" sz="24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F7EBE2-1923-B53A-E02D-CE8E33F60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905" y="3154914"/>
                <a:ext cx="2785634" cy="8116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1791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F17EB-B6FB-5602-8A8D-A8813899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BF1-3D0C-7525-4237-DE43A530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Função Polinomial – Exemplo 1</a:t>
            </a:r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E01BF5-E725-22DA-BB5B-7C22A8D54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80326"/>
              </p:ext>
            </p:extLst>
          </p:nvPr>
        </p:nvGraphicFramePr>
        <p:xfrm>
          <a:off x="151623" y="1041415"/>
          <a:ext cx="11363384" cy="576072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25645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6BE734-23D1-1EED-6F20-5C21A61D374B}"/>
                  </a:ext>
                </a:extLst>
              </p:cNvPr>
              <p:cNvSpPr txBox="1"/>
              <p:nvPr/>
            </p:nvSpPr>
            <p:spPr>
              <a:xfrm>
                <a:off x="6858035" y="3693283"/>
                <a:ext cx="5019644" cy="723531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𝑡𝑎𝑛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6BE734-23D1-1EED-6F20-5C21A61D3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35" y="3693283"/>
                <a:ext cx="5019644" cy="7235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B45434D-C016-E70F-0063-3DFFB092E9C8}"/>
              </a:ext>
            </a:extLst>
          </p:cNvPr>
          <p:cNvSpPr/>
          <p:nvPr/>
        </p:nvSpPr>
        <p:spPr>
          <a:xfrm>
            <a:off x="610184" y="2130007"/>
            <a:ext cx="5463547" cy="29831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19C545-ACFC-A889-BDE3-966881397998}"/>
              </a:ext>
            </a:extLst>
          </p:cNvPr>
          <p:cNvSpPr/>
          <p:nvPr/>
        </p:nvSpPr>
        <p:spPr>
          <a:xfrm>
            <a:off x="7448550" y="3693283"/>
            <a:ext cx="1899788" cy="74938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FDCA4AC-23AB-40A3-14B3-AFEEFE8A19A9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6073731" y="2279163"/>
            <a:ext cx="2324713" cy="1414120"/>
          </a:xfrm>
          <a:prstGeom prst="bentConnector2">
            <a:avLst/>
          </a:prstGeom>
          <a:ln w="5715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37F9CBE-6B07-2274-5A8D-E008D77CA1A1}"/>
              </a:ext>
            </a:extLst>
          </p:cNvPr>
          <p:cNvSpPr/>
          <p:nvPr/>
        </p:nvSpPr>
        <p:spPr>
          <a:xfrm>
            <a:off x="610184" y="2428318"/>
            <a:ext cx="2434814" cy="29831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C222CE-6502-AEF6-38DA-E802E4D32DC2}"/>
              </a:ext>
            </a:extLst>
          </p:cNvPr>
          <p:cNvSpPr/>
          <p:nvPr/>
        </p:nvSpPr>
        <p:spPr>
          <a:xfrm>
            <a:off x="610184" y="2678278"/>
            <a:ext cx="795199" cy="29831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28DA834-66BC-AE35-E474-95BEE1D1DB20}"/>
              </a:ext>
            </a:extLst>
          </p:cNvPr>
          <p:cNvCxnSpPr>
            <a:cxnSpLocks/>
            <a:stCxn id="13" idx="3"/>
            <a:endCxn id="19" idx="0"/>
          </p:cNvCxnSpPr>
          <p:nvPr/>
        </p:nvCxnSpPr>
        <p:spPr>
          <a:xfrm>
            <a:off x="3044998" y="2577474"/>
            <a:ext cx="7448877" cy="1115808"/>
          </a:xfrm>
          <a:prstGeom prst="bentConnector2">
            <a:avLst/>
          </a:prstGeom>
          <a:ln w="5715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F6E380D-FEF3-E973-BBB8-CF382E3D779D}"/>
              </a:ext>
            </a:extLst>
          </p:cNvPr>
          <p:cNvSpPr/>
          <p:nvPr/>
        </p:nvSpPr>
        <p:spPr>
          <a:xfrm>
            <a:off x="10002091" y="3693282"/>
            <a:ext cx="983567" cy="74938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8E802E-2E97-E1B5-49ED-1FFC314BC115}"/>
              </a:ext>
            </a:extLst>
          </p:cNvPr>
          <p:cNvSpPr/>
          <p:nvPr/>
        </p:nvSpPr>
        <p:spPr>
          <a:xfrm>
            <a:off x="11427178" y="3667431"/>
            <a:ext cx="450502" cy="74938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C5EA614-7176-F065-F088-317D65384CD9}"/>
              </a:ext>
            </a:extLst>
          </p:cNvPr>
          <p:cNvCxnSpPr>
            <a:cxnSpLocks/>
            <a:stCxn id="16" idx="3"/>
            <a:endCxn id="21" idx="0"/>
          </p:cNvCxnSpPr>
          <p:nvPr/>
        </p:nvCxnSpPr>
        <p:spPr>
          <a:xfrm>
            <a:off x="1405383" y="2827434"/>
            <a:ext cx="10247046" cy="839997"/>
          </a:xfrm>
          <a:prstGeom prst="bentConnector2">
            <a:avLst/>
          </a:prstGeom>
          <a:ln w="5715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4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6" grpId="0" animBg="1"/>
      <p:bldP spid="19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69854-CAC4-E596-57F3-B05BBA80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Operações Comuns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A5F5F-920A-4595-C66A-F2092AD98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Podemos determinar as raizes e avaliar o polinômio em pontos específicos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1D591A-6B8E-E0B8-BDA8-686426D40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865130"/>
              </p:ext>
            </p:extLst>
          </p:nvPr>
        </p:nvGraphicFramePr>
        <p:xfrm>
          <a:off x="151623" y="2676514"/>
          <a:ext cx="11363384" cy="3917977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91797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numpy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numpy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polynomial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Polynomial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P(x) = 2x^2 -3x + 1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Polynomial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roots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roots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"Raizes do polinômio:"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roots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x_values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array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evaluations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x_values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zip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x_values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evaluations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f"P({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}) =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7909973-32DF-A36D-FC99-E317C59E0AF1}"/>
              </a:ext>
            </a:extLst>
          </p:cNvPr>
          <p:cNvSpPr/>
          <p:nvPr/>
        </p:nvSpPr>
        <p:spPr>
          <a:xfrm>
            <a:off x="609601" y="4301144"/>
            <a:ext cx="2448910" cy="29831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BA70AA-BE78-4428-ADC1-D3E8A4B5D8B5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058511" y="4450300"/>
            <a:ext cx="3386968" cy="5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72DAED3-CEEE-36BC-DE64-2F0AE8C1DE19}"/>
              </a:ext>
            </a:extLst>
          </p:cNvPr>
          <p:cNvSpPr txBox="1"/>
          <p:nvPr/>
        </p:nvSpPr>
        <p:spPr>
          <a:xfrm>
            <a:off x="6445479" y="4266170"/>
            <a:ext cx="2865185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Determinando as raizes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ED9EF7-2DBD-5440-BB77-74AAEDACCC5F}"/>
              </a:ext>
            </a:extLst>
          </p:cNvPr>
          <p:cNvSpPr/>
          <p:nvPr/>
        </p:nvSpPr>
        <p:spPr>
          <a:xfrm>
            <a:off x="609599" y="5165248"/>
            <a:ext cx="4363296" cy="568897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E1D80E-93F1-83FC-D59A-F198B17F6375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4972895" y="5449697"/>
            <a:ext cx="1472583" cy="7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CE98C72-54AF-D603-D1AD-58F4621F793B}"/>
              </a:ext>
            </a:extLst>
          </p:cNvPr>
          <p:cNvSpPr txBox="1"/>
          <p:nvPr/>
        </p:nvSpPr>
        <p:spPr>
          <a:xfrm>
            <a:off x="6445478" y="4850257"/>
            <a:ext cx="4842631" cy="120032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Criamos um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/>
              <a:t> com os pontos que queremos avaliar e passamos como parâmetro para o polinômio. Atenção: não podemos usar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/>
              <a:t> no lugar 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144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3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7BFF9-F342-6D68-0ED3-9C09B295B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Operações Comuns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CBFD7-8E9B-B717-8C72-3C93C7035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2"/>
            <a:ext cx="10972800" cy="519886"/>
          </a:xfrm>
        </p:spPr>
        <p:txBody>
          <a:bodyPr/>
          <a:lstStyle/>
          <a:p>
            <a:r>
              <a:rPr lang="en-US"/>
              <a:t>Podemos usar os operadores aritméticos tradicionais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/>
              <a:t>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0B995B-EE12-C665-883C-DD730BF0B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082471"/>
              </p:ext>
            </p:extLst>
          </p:nvPr>
        </p:nvGraphicFramePr>
        <p:xfrm>
          <a:off x="151623" y="2054901"/>
          <a:ext cx="11363384" cy="466344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91797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P(x) = 2x^2 - 3x + 1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Polynomial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Q(x) = 4x + 2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Polynomial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4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</a:t>
                      </a: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"P(x) + Q(x) ="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A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P(x) + Q(x) = 3.0 + 1.0 x + 2.0 x**2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–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</a:t>
                      </a: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"P(x) - Q(x) ="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P(x) - Q(x) = -1.0 - 7.0 x + 2.0 x**2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</a:t>
                      </a: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"P(x) * Q(x) ="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P(x) * Q(x) = 2.0 - 2.0 x - 8.0 x**2 + 8.0 x**3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62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95024-4AEF-849E-D59D-59CE0A35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Operações Comuns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0B15-2AC0-4E98-E39C-EFAC2F2F4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Também temos divisão polinomial:</a:t>
            </a:r>
          </a:p>
          <a:p>
            <a:pPr marL="0" indent="0">
              <a:buNone/>
            </a:pP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CA1323-E390-F35A-7364-8A4C2A06C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271060"/>
              </p:ext>
            </p:extLst>
          </p:nvPr>
        </p:nvGraphicFramePr>
        <p:xfrm>
          <a:off x="151623" y="2086428"/>
          <a:ext cx="11363384" cy="4426979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42697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numpy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numpy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polynomial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Polynomial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P(x) = 2x^3 + 3x^2 - x + 5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Polynomial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Q(x) = x – 1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Polynomial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([-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quotient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remainder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divmod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"Quociente de P(x) / Q(x):"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quotient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Quociente de P(x) / Q(x): 4.0 + 5.0 x + 2.0 x**2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"Resto de P(x) / Q(x):"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remainder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Output: Resto de P(x) / Q(x): 9.0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38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10122</TotalTime>
  <Words>1170</Words>
  <Application>Microsoft Office PowerPoint</Application>
  <PresentationFormat>Widescreen</PresentationFormat>
  <Paragraphs>210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Courier New</vt:lpstr>
      <vt:lpstr>Garamond</vt:lpstr>
      <vt:lpstr>Wingdings</vt:lpstr>
      <vt:lpstr>Tema Padrão</vt:lpstr>
      <vt:lpstr>31 – Numpy, SciPy e Matplotlib (IV – Interpolação)  </vt:lpstr>
      <vt:lpstr>Introdução</vt:lpstr>
      <vt:lpstr>Introdução</vt:lpstr>
      <vt:lpstr>Introdução</vt:lpstr>
      <vt:lpstr>Interpolação X Método dos Mínimos Quadrados</vt:lpstr>
      <vt:lpstr>Função Polinomial</vt:lpstr>
      <vt:lpstr>Estrutura do Módulo polynomial</vt:lpstr>
      <vt:lpstr>Função Polinomial</vt:lpstr>
      <vt:lpstr>Função Polinomial – Exemplo 1</vt:lpstr>
      <vt:lpstr>Função Polinomial – Exemplo 1</vt:lpstr>
      <vt:lpstr>Função Polinomial – Exemplo 1</vt:lpstr>
      <vt:lpstr>Operações Comuns</vt:lpstr>
      <vt:lpstr>Operações Comuns</vt:lpstr>
      <vt:lpstr>Operações Comuns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 José Barbosa da Rocha</cp:lastModifiedBy>
  <cp:revision>573</cp:revision>
  <dcterms:created xsi:type="dcterms:W3CDTF">2017-06-20T21:36:17Z</dcterms:created>
  <dcterms:modified xsi:type="dcterms:W3CDTF">2024-11-06T18:00:09Z</dcterms:modified>
</cp:coreProperties>
</file>