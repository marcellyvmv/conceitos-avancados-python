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326" r:id="rId3"/>
    <p:sldId id="335" r:id="rId4"/>
    <p:sldId id="338" r:id="rId5"/>
    <p:sldId id="336" r:id="rId6"/>
    <p:sldId id="339" r:id="rId7"/>
    <p:sldId id="341" r:id="rId8"/>
    <p:sldId id="342" r:id="rId9"/>
    <p:sldId id="345" r:id="rId10"/>
    <p:sldId id="346" r:id="rId11"/>
    <p:sldId id="344" r:id="rId12"/>
    <p:sldId id="347" r:id="rId13"/>
    <p:sldId id="349" r:id="rId14"/>
    <p:sldId id="350" r:id="rId15"/>
    <p:sldId id="351" r:id="rId16"/>
    <p:sldId id="352" r:id="rId17"/>
    <p:sldId id="354" r:id="rId18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CD1"/>
    <a:srgbClr val="EE0000"/>
    <a:srgbClr val="C60AAB"/>
    <a:srgbClr val="B4C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1" autoAdjust="0"/>
    <p:restoredTop sz="85434" autoAdjust="0"/>
  </p:normalViewPr>
  <p:slideViewPr>
    <p:cSldViewPr snapToGrid="0">
      <p:cViewPr varScale="1">
        <p:scale>
          <a:sx n="59" d="100"/>
          <a:sy n="59" d="100"/>
        </p:scale>
        <p:origin x="113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988D68-4F99-9897-2557-7FAECD4DA1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ADEEC-0B42-A9F3-3777-C0EA477BF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5FA2A-DBCD-493C-9076-F445FB125593}" type="datetimeFigureOut">
              <a:rPr lang="pt-BR" smtClean="0"/>
              <a:t>06/11/2024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AC39A-6257-8199-1F59-3BEB2B790F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https://docs.python.org/3/library/math.html#math.fmod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E1CD6-5B5B-8C1F-E3BC-E3CD777457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7B1E4-7D48-4B42-B482-E0FA798597D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4681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06/11/2024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https://docs.python.org/3/library/math.html#math.fmod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7"/>
            <a:ext cx="10972800" cy="749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530725"/>
          </a:xfr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97E656-ECC6-2E3F-B9B1-E715F488C80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890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Classificação da informação: Interno</a:t>
            </a:r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matplotlib.org/stable/api/_as_gen/matplotlib.axes.Axes.plot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atplotlib.org/stable/users/explain/colors/colors.html#colors-de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atplotlib.org/stable/api/_as_gen/matplotlib.axes.Axes.plot.htm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31 – Numpy, SciPy e Matplotlib</a:t>
            </a:r>
            <a:br>
              <a:rPr lang="pt-BR"/>
            </a:br>
            <a:r>
              <a:rPr lang="pt-BR"/>
              <a:t>(III – Plotando)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1501" y="5165043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C704-EF21-3FA5-C2AB-CE5936E51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CA178-898B-F2C8-1268-5BDC0397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Matplotlib é a principal biblioteca em Python para criação de gráficos 2D e 3D estáticos. </a:t>
            </a:r>
            <a:endParaRPr lang="pt-BR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0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35CA5-63E7-62B7-C917-B451F9394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Figura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F903A-A1C1-5DA6-CCE8-CCBE64E56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1618967"/>
          </a:xfrm>
        </p:spPr>
        <p:txBody>
          <a:bodyPr/>
          <a:lstStyle/>
          <a:p>
            <a:r>
              <a:rPr lang="en-US">
                <a:latin typeface="Arial (Body)"/>
                <a:cs typeface="Courier New" panose="02070309020205020404" pitchFamily="49" charset="0"/>
              </a:rPr>
              <a:t>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</a:p>
          <a:p>
            <a:pPr lvl="1"/>
            <a:r>
              <a:rPr lang="en-US"/>
              <a:t>A região completa (container </a:t>
            </a:r>
            <a:r>
              <a:rPr lang="en-US" i="1"/>
              <a:t>top-level</a:t>
            </a:r>
            <a:r>
              <a:rPr lang="en-US"/>
              <a:t>). Todos os elementos estão contidas nela. </a:t>
            </a:r>
          </a:p>
          <a:p>
            <a:pPr lvl="1"/>
            <a:endParaRPr lang="pt-BR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823E257-B307-52D4-E76D-DDD93A3F1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478" y="3127728"/>
            <a:ext cx="1645502" cy="306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674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D503-2E99-C234-FA2A-813D64513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5A42B-CB9C-E543-6D06-323FD599B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Figura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7FD01-92C5-9B5B-9255-B33424D4B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1614463"/>
          </a:xfrm>
        </p:spPr>
        <p:txBody>
          <a:bodyPr/>
          <a:lstStyle/>
          <a:p>
            <a:r>
              <a:rPr lang="en-US">
                <a:latin typeface="Arial (Body)"/>
                <a:cs typeface="Courier New" panose="02070309020205020404" pitchFamily="49" charset="0"/>
              </a:rPr>
              <a:t>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Axes</a:t>
            </a:r>
          </a:p>
          <a:p>
            <a:pPr lvl="1"/>
            <a:r>
              <a:rPr lang="en-US"/>
              <a:t>Região individual para plotagem. Um 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en-US"/>
              <a:t> pode conter vários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Axes</a:t>
            </a:r>
            <a:r>
              <a:rPr lang="en-US"/>
              <a:t>.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52922431-7748-8834-A621-FFBA4AAE8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199" y="3088236"/>
            <a:ext cx="1704060" cy="317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27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6A4C-8DB4-2CAE-8244-D81AA97C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Figura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ACD00-7DF1-DA13-ABBB-F538D7896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1344197"/>
          </a:xfrm>
        </p:spPr>
        <p:txBody>
          <a:bodyPr/>
          <a:lstStyle/>
          <a:p>
            <a:r>
              <a:rPr lang="en-US"/>
              <a:t>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Axis</a:t>
            </a:r>
          </a:p>
          <a:p>
            <a:pPr lvl="1"/>
            <a:r>
              <a:rPr lang="en-US"/>
              <a:t>São os eixos X e Y e os ticks do gráfico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870F830-683F-ED63-F792-44C473DBD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442" y="2754860"/>
            <a:ext cx="5139115" cy="3330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13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355D0-3631-317A-B69A-D3E161C6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Figura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7890D-9A3D-0BDD-40C5-50D61FEBD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Observações</a:t>
            </a:r>
          </a:p>
          <a:p>
            <a:pPr lvl="1"/>
            <a:r>
              <a:rPr lang="en-US"/>
              <a:t>Todas as classes de elementos que podem ser desenhados em um 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en-US"/>
              <a:t>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Axes</a:t>
            </a:r>
            <a:r>
              <a:rPr lang="en-US"/>
              <a:t>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Axis</a:t>
            </a:r>
            <a:r>
              <a:rPr lang="en-US"/>
              <a:t>, etc.), e o próprio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en-US"/>
              <a:t>, derivam da classe abstrata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Artist</a:t>
            </a:r>
            <a:r>
              <a:rPr lang="en-US"/>
              <a:t>. </a:t>
            </a:r>
          </a:p>
          <a:p>
            <a:pPr lvl="1"/>
            <a:r>
              <a:rPr lang="en-US"/>
              <a:t>Os objetos de classes que derivam da classe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Artist</a:t>
            </a:r>
            <a:r>
              <a:rPr lang="en-US"/>
              <a:t> são chamados de </a:t>
            </a:r>
            <a:r>
              <a:rPr lang="en-US" i="1"/>
              <a:t>Artists</a:t>
            </a:r>
            <a:r>
              <a:rPr lang="en-US"/>
              <a:t>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783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B5A1A-5109-CD14-A7B3-3C395A84F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</a:t>
            </a:r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F7C51D-BEEE-F9B7-B0F1-99CBD515CB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Plote a função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𝑠𝑒𝑛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F7C51D-BEEE-F9B7-B0F1-99CBD515C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1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0E79A4-41D0-2E89-B2F5-9101B2F87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248414"/>
              </p:ext>
            </p:extLst>
          </p:nvPr>
        </p:nvGraphicFramePr>
        <p:xfrm>
          <a:off x="248117" y="2053983"/>
          <a:ext cx="11740172" cy="4663440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61408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numpy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matplotlib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pyplot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plt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linspace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np.sin(i)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ax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subplots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 = sin(x)'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set_xlabel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'x'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set_ylabel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legend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grid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A74CD35-7C1F-6D7C-0718-C1253E9D2DC5}"/>
              </a:ext>
            </a:extLst>
          </p:cNvPr>
          <p:cNvSpPr/>
          <p:nvPr/>
        </p:nvSpPr>
        <p:spPr>
          <a:xfrm>
            <a:off x="727045" y="3711867"/>
            <a:ext cx="3349467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F0A34-BA1E-B916-8AC5-E6C38631D776}"/>
              </a:ext>
            </a:extLst>
          </p:cNvPr>
          <p:cNvSpPr txBox="1"/>
          <p:nvPr/>
        </p:nvSpPr>
        <p:spPr>
          <a:xfrm>
            <a:off x="6202238" y="3543177"/>
            <a:ext cx="4383179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um 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en-US"/>
              <a:t> e uma única área de plotagem (objeto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Axes</a:t>
            </a:r>
            <a:r>
              <a:rPr lang="en-US"/>
              <a:t>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694939-D26D-FEF9-661B-979F3A18D10D}"/>
              </a:ext>
            </a:extLst>
          </p:cNvPr>
          <p:cNvSpPr/>
          <p:nvPr/>
        </p:nvSpPr>
        <p:spPr>
          <a:xfrm>
            <a:off x="727044" y="5602392"/>
            <a:ext cx="1655801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0F424E-4EDC-6845-6CF0-415EC1CAC0A1}"/>
              </a:ext>
            </a:extLst>
          </p:cNvPr>
          <p:cNvCxnSpPr>
            <a:cxnSpLocks/>
            <a:stCxn id="15" idx="3"/>
            <a:endCxn id="23" idx="1"/>
          </p:cNvCxnSpPr>
          <p:nvPr/>
        </p:nvCxnSpPr>
        <p:spPr>
          <a:xfrm flipV="1">
            <a:off x="2382845" y="5751547"/>
            <a:ext cx="3819393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D640D8-0716-3795-C874-D9D4327DBE86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4076512" y="3861023"/>
            <a:ext cx="2125726" cy="53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59E52D4-ED31-583E-2D6B-3CF0241BEA68}"/>
              </a:ext>
            </a:extLst>
          </p:cNvPr>
          <p:cNvSpPr txBox="1"/>
          <p:nvPr/>
        </p:nvSpPr>
        <p:spPr>
          <a:xfrm>
            <a:off x="6202238" y="5289882"/>
            <a:ext cx="5517931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uma legenda descrevendo o gráfico. Sem parâmetros, a legenda inclui todos os artists adicionados 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ax</a:t>
            </a:r>
            <a:r>
              <a:rPr lang="en-US"/>
              <a:t> que possuem um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/>
              <a:t>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215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5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8C15E-29AF-20E6-8652-39622988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0F43C-5402-9133-8106-4B69A2CABF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Plote a função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𝑠𝑒𝑛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e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/>
                  <a:t> no mesmo gráfico</a:t>
                </a:r>
              </a:p>
              <a:p>
                <a:endParaRPr lang="pt-BR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90F43C-5402-9133-8106-4B69A2CABF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4" t="-17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AF5268-7D1F-4BAD-1D20-51111B95A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519489"/>
              </p:ext>
            </p:extLst>
          </p:nvPr>
        </p:nvGraphicFramePr>
        <p:xfrm>
          <a:off x="248117" y="2053983"/>
          <a:ext cx="11740172" cy="4663440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61408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linspace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y1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np.sin(x)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y2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np.cos(x)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ax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subplots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 = sin(x)'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color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'blue'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 = cos(x)'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color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'magenta'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'Exemplo: Duas funções na mesma plotagem'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set_xlabel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'x'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set_ylabel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legend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grid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99A7EC0-D416-3719-79AB-5255D188F0A1}"/>
              </a:ext>
            </a:extLst>
          </p:cNvPr>
          <p:cNvSpPr/>
          <p:nvPr/>
        </p:nvSpPr>
        <p:spPr>
          <a:xfrm>
            <a:off x="718036" y="3977629"/>
            <a:ext cx="7097156" cy="58536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CEFE88-36F0-D3EB-0C1A-4D1296EA500B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7815192" y="4270310"/>
            <a:ext cx="102393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C9A897-53B7-6CFD-C129-B1D638A2FE0C}"/>
              </a:ext>
            </a:extLst>
          </p:cNvPr>
          <p:cNvSpPr txBox="1"/>
          <p:nvPr/>
        </p:nvSpPr>
        <p:spPr>
          <a:xfrm>
            <a:off x="8839122" y="3947144"/>
            <a:ext cx="3291317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Note que podemos especificar as cores das curvas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99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FCE6-06C9-ADF9-C0AF-EBE99DD3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Analisando a documentação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6F1AA-BBB9-7DB1-F910-1F29E7D63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Sintaxe do método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Onde está o argumento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/>
              <a:t> que usamos no Exemplo 2?</a:t>
            </a:r>
          </a:p>
          <a:p>
            <a:pPr lvl="1"/>
            <a:r>
              <a:rPr lang="en-US"/>
              <a:t>Está incluído em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**kwargs</a:t>
            </a:r>
            <a:r>
              <a:rPr lang="en-US"/>
              <a:t>. Note o que afirma a documentação:</a:t>
            </a:r>
          </a:p>
          <a:p>
            <a:pPr marL="344487" lvl="1" indent="0">
              <a:buNone/>
            </a:pP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978EE9-AEF0-FC59-A85A-EF341A9CD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539596"/>
              </p:ext>
            </p:extLst>
          </p:nvPr>
        </p:nvGraphicFramePr>
        <p:xfrm>
          <a:off x="1081063" y="2053981"/>
          <a:ext cx="8873735" cy="1612627"/>
        </p:xfrm>
        <a:graphic>
          <a:graphicData uri="http://schemas.openxmlformats.org/drawingml/2006/table">
            <a:tbl>
              <a:tblPr firstRow="1" firstCol="1" bandRow="1"/>
              <a:tblGrid>
                <a:gridCol w="8873735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</a:tblGrid>
              <a:tr h="161262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(*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scalex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scaley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data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**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kwargs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pPr algn="l"/>
                      <a:endParaRPr lang="en-US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pPr algn="l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Call signatures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pPr algn="l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fmt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*,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data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**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kwargs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pPr algn="l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fmt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fmt2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...,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**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kwargs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C0EBC7C-0EA0-2B76-AD25-386257579A38}"/>
              </a:ext>
            </a:extLst>
          </p:cNvPr>
          <p:cNvSpPr/>
          <p:nvPr/>
        </p:nvSpPr>
        <p:spPr>
          <a:xfrm>
            <a:off x="3810751" y="2996817"/>
            <a:ext cx="225221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0196EDAC-5F84-5DDC-BEC0-8D242DE0BB1E}"/>
              </a:ext>
            </a:extLst>
          </p:cNvPr>
          <p:cNvCxnSpPr>
            <a:cxnSpLocks/>
            <a:stCxn id="5" idx="0"/>
            <a:endCxn id="14" idx="1"/>
          </p:cNvCxnSpPr>
          <p:nvPr/>
        </p:nvCxnSpPr>
        <p:spPr>
          <a:xfrm rot="5400000" flipH="1" flipV="1">
            <a:off x="5509571" y="1236598"/>
            <a:ext cx="174010" cy="334642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DCA24E6-0139-5C30-B75C-C9B309877AA4}"/>
              </a:ext>
            </a:extLst>
          </p:cNvPr>
          <p:cNvSpPr txBox="1"/>
          <p:nvPr/>
        </p:nvSpPr>
        <p:spPr>
          <a:xfrm>
            <a:off x="7269791" y="2499641"/>
            <a:ext cx="4707498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Todos os parâmetros a partir desse ponto  sao </a:t>
            </a:r>
            <a:r>
              <a:rPr lang="en-US" i="1"/>
              <a:t>keyword-only arguments</a:t>
            </a:r>
            <a:r>
              <a:rPr lang="en-US"/>
              <a:t>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958CE3-70C6-61DC-2512-768999B6271B}"/>
              </a:ext>
            </a:extLst>
          </p:cNvPr>
          <p:cNvSpPr/>
          <p:nvPr/>
        </p:nvSpPr>
        <p:spPr>
          <a:xfrm>
            <a:off x="8463080" y="2137125"/>
            <a:ext cx="1149381" cy="29831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8A658E-4232-088A-B6FC-30C03C398286}"/>
              </a:ext>
            </a:extLst>
          </p:cNvPr>
          <p:cNvCxnSpPr>
            <a:cxnSpLocks/>
            <a:stCxn id="17" idx="0"/>
            <a:endCxn id="22" idx="2"/>
          </p:cNvCxnSpPr>
          <p:nvPr/>
        </p:nvCxnSpPr>
        <p:spPr>
          <a:xfrm flipH="1" flipV="1">
            <a:off x="9034961" y="1567522"/>
            <a:ext cx="2810" cy="5696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735EBE8-9478-45F6-C9AF-855F81D51C6B}"/>
              </a:ext>
            </a:extLst>
          </p:cNvPr>
          <p:cNvSpPr txBox="1"/>
          <p:nvPr/>
        </p:nvSpPr>
        <p:spPr>
          <a:xfrm>
            <a:off x="7269791" y="1198190"/>
            <a:ext cx="3530339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Keyword arguments</a:t>
            </a:r>
            <a:r>
              <a:rPr lang="en-US"/>
              <a:t> adicionais.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7259C2-1C00-BA84-937D-77B6F8E3FC66}"/>
              </a:ext>
            </a:extLst>
          </p:cNvPr>
          <p:cNvSpPr txBox="1"/>
          <p:nvPr/>
        </p:nvSpPr>
        <p:spPr>
          <a:xfrm>
            <a:off x="2502030" y="5706102"/>
            <a:ext cx="6939263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n-lt"/>
                <a:cs typeface="Courier New" panose="02070309020205020404" pitchFamily="49" charset="0"/>
              </a:rPr>
              <a:t>You can use Line2D properties as keyword arguments for more control on the appearance. Line properties and fmt can be mixed.</a:t>
            </a:r>
          </a:p>
          <a:p>
            <a:pPr algn="ctr"/>
            <a:r>
              <a:rPr lang="en-US">
                <a:latin typeface="+mn-lt"/>
                <a:cs typeface="Courier New" panose="02070309020205020404" pitchFamily="49" charset="0"/>
              </a:rPr>
              <a:t>Fonte: </a:t>
            </a:r>
            <a:r>
              <a:rPr lang="en-US">
                <a:latin typeface="+mn-lt"/>
                <a:cs typeface="Courier New" panose="02070309020205020404" pitchFamily="49" charset="0"/>
                <a:hlinkClick r:id="rId2"/>
              </a:rPr>
              <a:t>link</a:t>
            </a:r>
            <a:endParaRPr lang="en-US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67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7" grpId="0" animBg="1"/>
      <p:bldP spid="22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704DA-9CB2-C237-B9A7-5707AF37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Analisando a documentação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BE293-10EF-A2C4-966F-CF8113CA4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Analisando o construtor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Line2D</a:t>
            </a:r>
            <a:r>
              <a:rPr lang="en-US"/>
              <a:t>, observamos que ele recebe por último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**kwargs</a:t>
            </a:r>
            <a:r>
              <a:rPr lang="en-US"/>
              <a:t>, cuja lista inclui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</a:p>
          <a:p>
            <a:r>
              <a:rPr lang="en-US"/>
              <a:t>Podemos inserir a cor de diversas formas:</a:t>
            </a:r>
          </a:p>
          <a:p>
            <a:pPr lvl="1"/>
            <a:r>
              <a:rPr lang="en-US"/>
              <a:t>Caracter único</a:t>
            </a:r>
          </a:p>
          <a:p>
            <a:pPr lvl="2"/>
            <a:r>
              <a:rPr lang="en-US"/>
              <a:t>‘b’: azul</a:t>
            </a:r>
          </a:p>
          <a:p>
            <a:pPr lvl="1"/>
            <a:r>
              <a:rPr lang="en-US" i="1"/>
              <a:t>String</a:t>
            </a:r>
          </a:p>
          <a:p>
            <a:pPr lvl="2"/>
            <a:r>
              <a:rPr lang="en-US"/>
              <a:t>‘aquamarine’</a:t>
            </a:r>
          </a:p>
          <a:p>
            <a:pPr lvl="1"/>
            <a:r>
              <a:rPr lang="en-US"/>
              <a:t>Sistema RGB (no intervalo 0 a 1.0)</a:t>
            </a:r>
          </a:p>
          <a:p>
            <a:pPr lvl="2"/>
            <a:r>
              <a:rPr lang="en-US"/>
              <a:t>[0.2, 0.8, 0.3]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2DAD1-8365-FC47-97B2-B81924476EDE}"/>
              </a:ext>
            </a:extLst>
          </p:cNvPr>
          <p:cNvSpPr txBox="1"/>
          <p:nvPr/>
        </p:nvSpPr>
        <p:spPr>
          <a:xfrm>
            <a:off x="7842219" y="6013431"/>
            <a:ext cx="3689133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n-lt"/>
                <a:cs typeface="Courier New" panose="02070309020205020404" pitchFamily="49" charset="0"/>
              </a:rPr>
              <a:t>Outros métodos de inserção de cores podem ser vistos em </a:t>
            </a:r>
            <a:r>
              <a:rPr lang="en-US">
                <a:hlinkClick r:id="rId2"/>
              </a:rPr>
              <a:t>colors</a:t>
            </a:r>
            <a:endParaRPr lang="en-US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835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9CAD-510E-1A01-D8DB-341101ED0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Formatação das Curvas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038D-0E69-BEBB-10EF-C4EFF9011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exemplo anterior usamos o parâmetro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/>
              <a:t> para definir a cor da curva.</a:t>
            </a:r>
          </a:p>
          <a:p>
            <a:r>
              <a:rPr lang="en-US"/>
              <a:t>Podemos usar também o parâmetro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US"/>
              <a:t> para alterar o estilo da curva definindo:</a:t>
            </a:r>
          </a:p>
          <a:p>
            <a:pPr lvl="1"/>
            <a:r>
              <a:rPr lang="en-US"/>
              <a:t>Cor</a:t>
            </a:r>
          </a:p>
          <a:p>
            <a:pPr lvl="1"/>
            <a:r>
              <a:rPr lang="en-US"/>
              <a:t>Marcadores</a:t>
            </a:r>
          </a:p>
          <a:p>
            <a:pPr lvl="1"/>
            <a:r>
              <a:rPr lang="en-US"/>
              <a:t>Tipo de Linha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35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B7042-5735-50EC-1BD4-90CEC368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966A-A44D-8D48-F344-8463A5DA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Formatação das Curvas – Format Strings (fmt)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51A89-2793-A40E-1207-DC9DE7183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US"/>
              <a:t> é definido como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fmt = '[marker][line][color]'</a:t>
            </a:r>
          </a:p>
          <a:p>
            <a:pPr lvl="1"/>
            <a:r>
              <a:rPr lang="en-US"/>
              <a:t>Markers</a:t>
            </a:r>
          </a:p>
          <a:p>
            <a:pPr lvl="2"/>
            <a:r>
              <a:rPr lang="en-US"/>
              <a:t>. (ponto)</a:t>
            </a:r>
          </a:p>
          <a:p>
            <a:pPr lvl="2"/>
            <a:r>
              <a:rPr lang="en-US">
                <a:cs typeface="Courier New" panose="02070309020205020404" pitchFamily="49" charset="0"/>
              </a:rPr>
              <a:t>'o' (círculo)</a:t>
            </a:r>
          </a:p>
          <a:p>
            <a:pPr lvl="1"/>
            <a:r>
              <a:rPr lang="en-US"/>
              <a:t>Estilos de Linha</a:t>
            </a:r>
          </a:p>
          <a:p>
            <a:pPr lvl="2"/>
            <a:r>
              <a:rPr lang="en-US"/>
              <a:t>'-' (sólido)</a:t>
            </a:r>
          </a:p>
          <a:p>
            <a:pPr lvl="2"/>
            <a:r>
              <a:rPr lang="en-US"/>
              <a:t>'--' (pontilhado)</a:t>
            </a:r>
          </a:p>
          <a:p>
            <a:pPr lvl="1"/>
            <a:r>
              <a:rPr lang="en-US"/>
              <a:t>Cores</a:t>
            </a:r>
          </a:p>
          <a:p>
            <a:pPr lvl="2"/>
            <a:r>
              <a:rPr lang="en-US"/>
              <a:t>'b' (azul)</a:t>
            </a:r>
          </a:p>
          <a:p>
            <a:pPr lvl="2"/>
            <a:r>
              <a:rPr lang="en-US"/>
              <a:t>'m' (magenta)</a:t>
            </a:r>
          </a:p>
          <a:p>
            <a:pPr lvl="2"/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31BCF-CB3D-3138-F9BA-3B857A3B5D75}"/>
              </a:ext>
            </a:extLst>
          </p:cNvPr>
          <p:cNvSpPr txBox="1"/>
          <p:nvPr/>
        </p:nvSpPr>
        <p:spPr>
          <a:xfrm>
            <a:off x="6936828" y="5702625"/>
            <a:ext cx="3689133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n-lt"/>
                <a:cs typeface="Courier New" panose="02070309020205020404" pitchFamily="49" charset="0"/>
              </a:rPr>
              <a:t>Outras opções podem ser encontradas na seção "Notes": </a:t>
            </a:r>
            <a:r>
              <a:rPr lang="en-US">
                <a:hlinkClick r:id="rId2"/>
              </a:rPr>
              <a:t>Format strings</a:t>
            </a:r>
            <a:endParaRPr lang="en-US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669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08823-F219-D1FE-A370-BC1D69F4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D87D2-6331-2C95-0BFB-3979EBA12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repetir o Exemplo 2 e formatar as curvas usando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0C41B6-A232-F55A-BD4D-5C79080CD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375759"/>
              </p:ext>
            </p:extLst>
          </p:nvPr>
        </p:nvGraphicFramePr>
        <p:xfrm>
          <a:off x="248117" y="2053983"/>
          <a:ext cx="11740172" cy="4663440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61408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linspace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y1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np.sin(x)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y2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np.cos(x)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ax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subplots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'--b'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 = sin(x)'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'om'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 = cos(x)'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'Exemplo: Duas funções na mesma plotagem'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set_xlabel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'x'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set_ylabel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legend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grid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C2CAF03-64D0-AB10-873C-5286220760B0}"/>
              </a:ext>
            </a:extLst>
          </p:cNvPr>
          <p:cNvSpPr/>
          <p:nvPr/>
        </p:nvSpPr>
        <p:spPr>
          <a:xfrm>
            <a:off x="716204" y="3959397"/>
            <a:ext cx="5765675" cy="58557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5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AFFA2-94BD-3AFE-CEE5-045C5C412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B680-D78D-B844-2F8A-5FCEEF60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Formatação das Curvas – Format Strings (fmt)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9E5F3-1E89-B058-6D0A-6270600DC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US"/>
              <a:t> é definido como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fmt = '[marker][line][color]'</a:t>
            </a:r>
          </a:p>
          <a:p>
            <a:pPr lvl="1"/>
            <a:r>
              <a:rPr lang="en-US"/>
              <a:t>Todos os estilos são opcionais. Para os que não forem fornecidos, é usado o valor do </a:t>
            </a:r>
            <a:r>
              <a:rPr lang="en-US" i="1"/>
              <a:t>style cycle</a:t>
            </a:r>
            <a:r>
              <a:rPr lang="en-US"/>
              <a:t>, que é o conjunto de estilos padrões para cada curva. Por padrão:</a:t>
            </a:r>
          </a:p>
          <a:p>
            <a:pPr lvl="2"/>
            <a:r>
              <a:rPr lang="en-US"/>
              <a:t>Todas as curvas sem marcadores e com linha sólida</a:t>
            </a:r>
          </a:p>
          <a:p>
            <a:pPr lvl="2"/>
            <a:r>
              <a:rPr lang="en-US"/>
              <a:t>Cores das curvas na sequência de cores do código:</a:t>
            </a:r>
          </a:p>
          <a:p>
            <a:pPr lvl="2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2"/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447D05-9BB3-3978-25E6-1346EC693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077169"/>
              </p:ext>
            </p:extLst>
          </p:nvPr>
        </p:nvGraphicFramePr>
        <p:xfrm>
          <a:off x="248117" y="4414291"/>
          <a:ext cx="11740172" cy="1375017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37501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matplotlib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pyplot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plt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color_cycle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rcParams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"axes.prop_cycle"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by_key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()[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"color"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"Current style cycle colors:"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color_cycle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  <a:p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25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07392-AC62-E0FB-775A-3ACB29464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7F6D-2EAB-0977-2416-5850C736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Formatação das Curvas – Format Strings (fmt)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70450-1BA1-AC83-6694-58CF6E9A8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US"/>
              <a:t> é definido como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fmt = '[marker][line][color]'</a:t>
            </a:r>
          </a:p>
          <a:p>
            <a:pPr lvl="1"/>
            <a:r>
              <a:rPr lang="en-US"/>
              <a:t>Não há ordem. Portanto,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[line][marker][color]</a:t>
            </a:r>
            <a:r>
              <a:rPr lang="en-US"/>
              <a:t>, por exemplo, também é válido.</a:t>
            </a:r>
          </a:p>
          <a:p>
            <a:pPr lvl="1"/>
            <a:r>
              <a:rPr lang="en-US"/>
              <a:t>Entretanto, é melhor seguir a ordem para evitar possíveis ambiguidades.</a:t>
            </a:r>
          </a:p>
          <a:p>
            <a:pPr lvl="2"/>
            <a:r>
              <a:rPr lang="en-US"/>
              <a:t>Essa é a recomendação da norma. Testando na Versão 3.9 não consegui encontrar um caso em que uma combinação fosse interpretada de forma incorreta.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2"/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663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DE17B-A974-19F1-2598-0BC9C851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Usnado múltiplos x e y em Axes.plot 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01DDB-07F0-F798-C45C-D1D736EB6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retomar a assinatura do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Axes.plot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/>
              <a:t>Nota-se que é possível entrar com múltiplos x e y. Com isso, é possível plotar mais de uma curva na mesma plot com um único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ax.plot 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90B3ED-3237-7A25-3C9F-AE5A023D3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099537"/>
              </p:ext>
            </p:extLst>
          </p:nvPr>
        </p:nvGraphicFramePr>
        <p:xfrm>
          <a:off x="1081063" y="2053981"/>
          <a:ext cx="8873735" cy="1612627"/>
        </p:xfrm>
        <a:graphic>
          <a:graphicData uri="http://schemas.openxmlformats.org/drawingml/2006/table">
            <a:tbl>
              <a:tblPr firstRow="1" firstCol="1" bandRow="1"/>
              <a:tblGrid>
                <a:gridCol w="8873735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</a:tblGrid>
              <a:tr h="161262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(*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scalex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scaley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data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**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kwargs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pPr algn="l"/>
                      <a:endParaRPr lang="en-US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pPr algn="l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Call signatures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pPr algn="l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fmt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*,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data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**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kwargs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pPr algn="l"/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fmt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fmt2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...,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**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kwargs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82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AFBE-FBF6-E77D-F4F5-BEE225AD2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4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32007D-DC19-88B5-4198-2D4D329D7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080141"/>
              </p:ext>
            </p:extLst>
          </p:nvPr>
        </p:nvGraphicFramePr>
        <p:xfrm>
          <a:off x="248117" y="1259326"/>
          <a:ext cx="11740172" cy="4389120"/>
        </p:xfrm>
        <a:graphic>
          <a:graphicData uri="http://schemas.openxmlformats.org/drawingml/2006/table">
            <a:tbl>
              <a:tblPr firstRow="1" firstCol="1" bandRow="1"/>
              <a:tblGrid>
                <a:gridCol w="459509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28066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61408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linspace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y1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y2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ax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subplots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plot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'b--'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y2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'mo'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'Exemplo: Duas funções na mesma plotagem'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set_xlabel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'x'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set_ylabel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legend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([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 = sin(x)'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'y = cos(x) 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ax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grid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89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10720</TotalTime>
  <Words>1342</Words>
  <Application>Microsoft Office PowerPoint</Application>
  <PresentationFormat>Widescreen</PresentationFormat>
  <Paragraphs>236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(Body)</vt:lpstr>
      <vt:lpstr>Calibri</vt:lpstr>
      <vt:lpstr>Cambria Math</vt:lpstr>
      <vt:lpstr>Courier New</vt:lpstr>
      <vt:lpstr>Garamond</vt:lpstr>
      <vt:lpstr>Wingdings</vt:lpstr>
      <vt:lpstr>Tema Padrão</vt:lpstr>
      <vt:lpstr>31 – Numpy, SciPy e Matplotlib (III – Plotando)  </vt:lpstr>
      <vt:lpstr>Introdução</vt:lpstr>
      <vt:lpstr>Figura</vt:lpstr>
      <vt:lpstr>Figura</vt:lpstr>
      <vt:lpstr>Figura</vt:lpstr>
      <vt:lpstr>Figura</vt:lpstr>
      <vt:lpstr>Exemplo 1 </vt:lpstr>
      <vt:lpstr>Exemplo 2</vt:lpstr>
      <vt:lpstr>Analisando a documentação</vt:lpstr>
      <vt:lpstr>Analisando a documentação</vt:lpstr>
      <vt:lpstr>Formatação das Curvas</vt:lpstr>
      <vt:lpstr>Formatação das Curvas – Format Strings (fmt)</vt:lpstr>
      <vt:lpstr>Exemplo 3</vt:lpstr>
      <vt:lpstr>Formatação das Curvas – Format Strings (fmt)</vt:lpstr>
      <vt:lpstr>Formatação das Curvas – Format Strings (fmt)</vt:lpstr>
      <vt:lpstr>Usnado múltiplos x e y em Axes.plot </vt:lpstr>
      <vt:lpstr>Exemplo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 José Barbosa da Rocha</cp:lastModifiedBy>
  <cp:revision>601</cp:revision>
  <dcterms:created xsi:type="dcterms:W3CDTF">2017-06-20T21:36:17Z</dcterms:created>
  <dcterms:modified xsi:type="dcterms:W3CDTF">2024-11-06T18:14:16Z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c0edb5-d8bf-4cc6-9afc-2081a723b718_Enabled">
    <vt:lpwstr>true</vt:lpwstr>
  </property>
  <property fmtid="{D5CDD505-2E9C-101B-9397-08002B2CF9AE}" pid="3" name="MSIP_Label_d8c0edb5-d8bf-4cc6-9afc-2081a723b718_SetDate">
    <vt:lpwstr>2024-11-06T18:14:16Z</vt:lpwstr>
  </property>
  <property fmtid="{D5CDD505-2E9C-101B-9397-08002B2CF9AE}" pid="4" name="MSIP_Label_d8c0edb5-d8bf-4cc6-9afc-2081a723b718_Method">
    <vt:lpwstr>Standard</vt:lpwstr>
  </property>
  <property fmtid="{D5CDD505-2E9C-101B-9397-08002B2CF9AE}" pid="5" name="MSIP_Label_d8c0edb5-d8bf-4cc6-9afc-2081a723b718_Name">
    <vt:lpwstr>Interno</vt:lpwstr>
  </property>
  <property fmtid="{D5CDD505-2E9C-101B-9397-08002B2CF9AE}" pid="6" name="MSIP_Label_d8c0edb5-d8bf-4cc6-9afc-2081a723b718_SiteId">
    <vt:lpwstr>9cfc026b-d98b-4248-8ee2-09e38f7309c7</vt:lpwstr>
  </property>
  <property fmtid="{D5CDD505-2E9C-101B-9397-08002B2CF9AE}" pid="7" name="MSIP_Label_d8c0edb5-d8bf-4cc6-9afc-2081a723b718_ActionId">
    <vt:lpwstr>b0f978dd-163d-4a95-934f-4c7e88ad3ac3</vt:lpwstr>
  </property>
  <property fmtid="{D5CDD505-2E9C-101B-9397-08002B2CF9AE}" pid="8" name="MSIP_Label_d8c0edb5-d8bf-4cc6-9afc-2081a723b718_ContentBits">
    <vt:lpwstr>2</vt:lpwstr>
  </property>
  <property fmtid="{D5CDD505-2E9C-101B-9397-08002B2CF9AE}" pid="9" name="ClassificationContentMarkingFooterLocations">
    <vt:lpwstr>Tema Padrão:3</vt:lpwstr>
  </property>
  <property fmtid="{D5CDD505-2E9C-101B-9397-08002B2CF9AE}" pid="10" name="ClassificationContentMarkingFooterText">
    <vt:lpwstr>Classificação da informação: Interno</vt:lpwstr>
  </property>
</Properties>
</file>