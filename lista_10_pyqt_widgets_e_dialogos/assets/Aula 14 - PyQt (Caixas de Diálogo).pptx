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438" r:id="rId3"/>
    <p:sldId id="432" r:id="rId4"/>
    <p:sldId id="433" r:id="rId5"/>
    <p:sldId id="434" r:id="rId6"/>
    <p:sldId id="435" r:id="rId7"/>
    <p:sldId id="439" r:id="rId8"/>
    <p:sldId id="440" r:id="rId9"/>
    <p:sldId id="441" r:id="rId10"/>
    <p:sldId id="442" r:id="rId11"/>
    <p:sldId id="446" r:id="rId12"/>
    <p:sldId id="443" r:id="rId13"/>
    <p:sldId id="444" r:id="rId14"/>
    <p:sldId id="447" r:id="rId15"/>
    <p:sldId id="448" r:id="rId16"/>
    <p:sldId id="436" r:id="rId17"/>
    <p:sldId id="449" r:id="rId18"/>
    <p:sldId id="450" r:id="rId19"/>
    <p:sldId id="451" r:id="rId20"/>
    <p:sldId id="453" r:id="rId21"/>
    <p:sldId id="454" r:id="rId22"/>
    <p:sldId id="460" r:id="rId23"/>
    <p:sldId id="462" r:id="rId24"/>
    <p:sldId id="463" r:id="rId25"/>
    <p:sldId id="461" r:id="rId26"/>
    <p:sldId id="455" r:id="rId27"/>
    <p:sldId id="457" r:id="rId28"/>
    <p:sldId id="456" r:id="rId29"/>
    <p:sldId id="458" r:id="rId30"/>
    <p:sldId id="459" r:id="rId31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0AAB"/>
    <a:srgbClr val="F20CD1"/>
    <a:srgbClr val="B4CCFF"/>
    <a:srgbClr val="99CCFF"/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1" autoAdjust="0"/>
    <p:restoredTop sz="83852" autoAdjust="0"/>
  </p:normalViewPr>
  <p:slideViewPr>
    <p:cSldViewPr snapToGrid="0">
      <p:cViewPr varScale="1">
        <p:scale>
          <a:sx n="119" d="100"/>
          <a:sy n="119" d="100"/>
        </p:scale>
        <p:origin x="1282" y="7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25/10/2024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572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409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718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0895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32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1359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6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7176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1034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7139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2219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noProof="0"/>
              <a:t>Clique no ícone para adicionar tabela</a:t>
            </a:r>
          </a:p>
        </p:txBody>
      </p:sp>
    </p:spTree>
    <p:extLst>
      <p:ext uri="{BB962C8B-B14F-4D97-AF65-F5344CB8AC3E}">
        <p14:creationId xmlns:p14="http://schemas.microsoft.com/office/powerpoint/2010/main" val="237297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1850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44632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7405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4EA250-FE77-3FA7-5F90-6D1153789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74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C339F5D-1391-29FE-2F73-D279896B3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7507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21 – PyQt</a:t>
            </a:r>
            <a:br>
              <a:rPr lang="pt-BR"/>
            </a:br>
            <a:r>
              <a:rPr lang="pt-BR"/>
              <a:t>(7 – Caixas de Diálogo)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6435" y="5131487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9D71-9652-C448-9186-C669881E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Padrão – Exemplos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5506A-F6EC-0225-A2C6-8EDB2AA7C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648515"/>
          </a:xfrm>
        </p:spPr>
        <p:txBody>
          <a:bodyPr/>
          <a:lstStyle/>
          <a:p>
            <a:r>
              <a:rPr lang="en-US"/>
              <a:t>Para os exemplos dessa aula usaremos o seguinte padrão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0204F9-4FA4-66B3-0099-7E5560731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564084"/>
              </p:ext>
            </p:extLst>
          </p:nvPr>
        </p:nvGraphicFramePr>
        <p:xfrm>
          <a:off x="397245" y="2162588"/>
          <a:ext cx="11363384" cy="384048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12622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113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Omitido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QtGui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QAction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QtCore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Qt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QPushButton, QMessageBox, QInputDialog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Classe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>
                        <a:solidFill>
                          <a:srgbClr val="008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Omitido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5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6D91A-3D98-4184-B16C-89E6E3624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6A7CE-087E-9362-5B50-D25CEA843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Caixa de diálogo (</a:t>
            </a:r>
            <a:r>
              <a:rPr lang="en-US" i="1"/>
              <a:t>dialog box </a:t>
            </a:r>
            <a:r>
              <a:rPr lang="en-US"/>
              <a:t>ou apenas </a:t>
            </a:r>
            <a:r>
              <a:rPr lang="en-US" i="1"/>
              <a:t>dialog</a:t>
            </a:r>
            <a:r>
              <a:rPr lang="en-US"/>
              <a:t>) é uma pequena janela usada para interação com o usuário.</a:t>
            </a:r>
          </a:p>
          <a:p>
            <a:pPr lvl="1"/>
            <a:r>
              <a:rPr lang="en-US"/>
              <a:t>Por vezes, a interação é uma simples exibição de informação a qual o usuário apenas consente clicando geralmente em um botão de ok. </a:t>
            </a:r>
          </a:p>
          <a:p>
            <a:pPr lvl="1"/>
            <a:r>
              <a:rPr lang="en-US"/>
              <a:t>Outras vezes, existe uma real interação, que o usuário entra com algum dado.</a:t>
            </a:r>
          </a:p>
          <a:p>
            <a:pPr lvl="1"/>
            <a:endParaRPr lang="en-US"/>
          </a:p>
          <a:p>
            <a:pPr lvl="1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6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90686-5CEB-128D-7586-53DE1A66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Exemplos</a:t>
            </a:r>
            <a:endParaRPr lang="pt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E067F2-18F8-4DC7-1EF9-98089017E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472" y="4041350"/>
            <a:ext cx="5110790" cy="2293581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ACF700-6B20-62B4-3470-EAA70C018960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5425262" y="5188140"/>
            <a:ext cx="1800056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C1CFAD9-05D2-E2C5-27E6-CC401E690A1A}"/>
              </a:ext>
            </a:extLst>
          </p:cNvPr>
          <p:cNvSpPr txBox="1"/>
          <p:nvPr/>
        </p:nvSpPr>
        <p:spPr>
          <a:xfrm>
            <a:off x="7225318" y="4726475"/>
            <a:ext cx="4383676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Exemplo no bloco de notas (Ctrl + O). O usuário deve selecionar o arquivo a ser aberto.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6BB6F5-4CBC-F727-BB27-C79FFAEA6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221" y="1483218"/>
            <a:ext cx="3520717" cy="1706844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954FAD-3794-5709-FE03-92C4A1B7B9C5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>
            <a:off x="4810938" y="2336640"/>
            <a:ext cx="14678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6144839-C69F-CAF5-F2A9-B62C6F09A467}"/>
              </a:ext>
            </a:extLst>
          </p:cNvPr>
          <p:cNvSpPr txBox="1"/>
          <p:nvPr/>
        </p:nvSpPr>
        <p:spPr>
          <a:xfrm>
            <a:off x="6278752" y="1736475"/>
            <a:ext cx="5136695" cy="120032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Exemplo no bloco de notas (Ctrl +G). Pedimos que o cursor se desloque para uma linha além do fim do arquivo. Note que a única opção é pressionar OK.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40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1F70F-AD22-899C-AEA8-7F2A71631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Caixas de Diálogo </a:t>
            </a:r>
            <a:r>
              <a:rPr lang="en-US" i="1"/>
              <a:t>Built-in</a:t>
            </a:r>
            <a:endParaRPr lang="pt-BR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E3C04-C6A1-2F89-D3F1-AD267289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Existem diversas caixas de diálogos </a:t>
            </a:r>
            <a:r>
              <a:rPr lang="en-US" i="1"/>
              <a:t>built-in</a:t>
            </a:r>
            <a:r>
              <a:rPr lang="en-US"/>
              <a:t> no PyQt6, todas derivando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QDialog</a:t>
            </a:r>
            <a:r>
              <a:rPr lang="en-US"/>
              <a:t>: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</a:t>
            </a:r>
            <a:r>
              <a:rPr lang="en-US"/>
              <a:t>: caixa de mensagem. Usada para exibir uma informação ou aviso. Pode possuir botões para interação com o usuário.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QInputDialog</a:t>
            </a:r>
            <a:r>
              <a:rPr lang="en-US"/>
              <a:t>: usada para obter um único valor do usuário</a:t>
            </a:r>
          </a:p>
          <a:p>
            <a:pPr lvl="1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799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B2E1-101D-42D8-5BA1-7F6EFC5C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 – Exemplo 1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F6AAB1-5706-B374-F5E3-FE7800F2D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564511"/>
              </p:ext>
            </p:extLst>
          </p:nvPr>
        </p:nvGraphicFramePr>
        <p:xfrm>
          <a:off x="151623" y="1041414"/>
          <a:ext cx="11363384" cy="4757443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75744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"Controle de carga"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"Aumentar carga"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clicked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increase_load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load_value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max_load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4</a:t>
                      </a:r>
                    </a:p>
                    <a:p>
                      <a:r>
                        <a:rPr lang="pt-BR" sz="1800" b="1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b="1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increase_load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load_value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+=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</a:p>
                    <a:p>
                      <a:r>
                        <a:rPr lang="pt-BR" sz="1800" b="1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f"Carga atual: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load_value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load_value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&gt;=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max_load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show_dialog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07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B2E1-101D-42D8-5BA1-7F6EFC5C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 – Exemplo 1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F6AAB1-5706-B374-F5E3-FE7800F2D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248229"/>
              </p:ext>
            </p:extLst>
          </p:nvPr>
        </p:nvGraphicFramePr>
        <p:xfrm>
          <a:off x="151623" y="1041414"/>
          <a:ext cx="11363384" cy="2002935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00293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202122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show_dialog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"Aviso"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setText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"Carga máxima atingida"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setStandardButtons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Ok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quit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ED25627D-15FE-FE70-177A-D3644E7AF382}"/>
              </a:ext>
            </a:extLst>
          </p:cNvPr>
          <p:cNvSpPr/>
          <p:nvPr/>
        </p:nvSpPr>
        <p:spPr>
          <a:xfrm>
            <a:off x="1171429" y="1299906"/>
            <a:ext cx="3625725" cy="28536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DA3AE3B-86D9-8B67-14CF-0168477CA2E0}"/>
              </a:ext>
            </a:extLst>
          </p:cNvPr>
          <p:cNvCxnSpPr>
            <a:cxnSpLocks/>
            <a:stCxn id="22" idx="3"/>
            <a:endCxn id="6" idx="1"/>
          </p:cNvCxnSpPr>
          <p:nvPr/>
        </p:nvCxnSpPr>
        <p:spPr>
          <a:xfrm flipV="1">
            <a:off x="4797154" y="1439794"/>
            <a:ext cx="3016321" cy="27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FC636BB-791D-02DE-BB61-86F63D0889EE}"/>
              </a:ext>
            </a:extLst>
          </p:cNvPr>
          <p:cNvSpPr txBox="1"/>
          <p:nvPr/>
        </p:nvSpPr>
        <p:spPr>
          <a:xfrm>
            <a:off x="7813475" y="1116628"/>
            <a:ext cx="4009395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a caixa de mensagem e associa à janela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/>
              <a:t> (</a:t>
            </a:r>
            <a:r>
              <a:rPr lang="en-US" i="1"/>
              <a:t>parent</a:t>
            </a:r>
            <a:r>
              <a:rPr lang="en-US"/>
              <a:t>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A5BF67-EDBA-A0D9-83CD-EF7E02C7DA9E}"/>
              </a:ext>
            </a:extLst>
          </p:cNvPr>
          <p:cNvSpPr/>
          <p:nvPr/>
        </p:nvSpPr>
        <p:spPr>
          <a:xfrm>
            <a:off x="1171430" y="2402699"/>
            <a:ext cx="1925584" cy="28536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6219F5-C97B-974C-4E32-9EDBE795E66A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2134222" y="2688060"/>
            <a:ext cx="0" cy="17511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596C4A-B93B-ED41-98CF-EDAEF12D362C}"/>
              </a:ext>
            </a:extLst>
          </p:cNvPr>
          <p:cNvSpPr txBox="1"/>
          <p:nvPr/>
        </p:nvSpPr>
        <p:spPr>
          <a:xfrm>
            <a:off x="419008" y="4439176"/>
            <a:ext cx="3430428" cy="1477328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Inicia o loop próprio de eventos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QDialog</a:t>
            </a:r>
            <a:r>
              <a:rPr lang="en-US"/>
              <a:t>. Enquanto o programa está no loop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QDialog</a:t>
            </a:r>
            <a:r>
              <a:rPr lang="en-US"/>
              <a:t>, é bloqueado o acesso às outras janelas.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77FE54-984F-D7E5-F18C-FC23E4946D2D}"/>
              </a:ext>
            </a:extLst>
          </p:cNvPr>
          <p:cNvSpPr/>
          <p:nvPr/>
        </p:nvSpPr>
        <p:spPr>
          <a:xfrm>
            <a:off x="1171427" y="2117338"/>
            <a:ext cx="7724443" cy="28536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AE2920-C595-F77D-88D5-E238BFB40272}"/>
              </a:ext>
            </a:extLst>
          </p:cNvPr>
          <p:cNvSpPr txBox="1"/>
          <p:nvPr/>
        </p:nvSpPr>
        <p:spPr>
          <a:xfrm>
            <a:off x="3431011" y="3348585"/>
            <a:ext cx="3205274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o botão de OK na caixa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61C6470-ACD5-4965-44C7-C76C45F331F8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5033648" y="2402699"/>
            <a:ext cx="1" cy="94588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323815B-66DD-DC46-7B99-9BF6C8EE2524}"/>
              </a:ext>
            </a:extLst>
          </p:cNvPr>
          <p:cNvCxnSpPr>
            <a:cxnSpLocks/>
            <a:stCxn id="6" idx="2"/>
            <a:endCxn id="36" idx="0"/>
          </p:cNvCxnSpPr>
          <p:nvPr/>
        </p:nvCxnSpPr>
        <p:spPr>
          <a:xfrm>
            <a:off x="9818173" y="1762959"/>
            <a:ext cx="46716" cy="1725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47169D0-CE48-9EDF-138F-0863B5DE169D}"/>
              </a:ext>
            </a:extLst>
          </p:cNvPr>
          <p:cNvSpPr txBox="1"/>
          <p:nvPr/>
        </p:nvSpPr>
        <p:spPr>
          <a:xfrm>
            <a:off x="7860191" y="3488014"/>
            <a:ext cx="4009395" cy="175432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 parâmetro é opcional. Entretanto, passar a janela associada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/>
              <a:t> como parâmetro garante que a caixa  de diálogo seja criada centralizada sobre a janela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/>
              <a:t>. Teste removendo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/>
              <a:t>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20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6" grpId="0" animBg="1"/>
      <p:bldP spid="9" grpId="0" animBg="1"/>
      <p:bldP spid="13" grpId="0" animBg="1"/>
      <p:bldP spid="5" grpId="0" animBg="1"/>
      <p:bldP spid="11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D3AD-E141-5157-0F41-3577E5AA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Loop de QDialog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4A08D-6EE6-7FD7-3ABB-6B8EDB0C5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4806968"/>
          </a:xfrm>
        </p:spPr>
        <p:txBody>
          <a:bodyPr/>
          <a:lstStyle/>
          <a:p>
            <a:r>
              <a:rPr lang="en-US"/>
              <a:t>Quando 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/>
              <a:t>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QDialog</a:t>
            </a:r>
            <a:r>
              <a:rPr lang="en-US"/>
              <a:t> é chamado (na ordem):</a:t>
            </a:r>
          </a:p>
          <a:p>
            <a:pPr lvl="1"/>
            <a:r>
              <a:rPr lang="en-US"/>
              <a:t>É iniciado um loop local de eventos específico da caixa de diálogo</a:t>
            </a:r>
          </a:p>
          <a:p>
            <a:pPr lvl="1"/>
            <a:r>
              <a:rPr lang="en-US"/>
              <a:t>A interação com qualquer outra janela é bloqueada até que a caixa de diálogo seja fechada</a:t>
            </a:r>
          </a:p>
          <a:p>
            <a:pPr lvl="1"/>
            <a:r>
              <a:rPr lang="en-US"/>
              <a:t>Enquanto a caixa de diálogo está aberta, eventos nela são processados pelo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</a:p>
          <a:p>
            <a:pPr lvl="1"/>
            <a:r>
              <a:rPr lang="en-US"/>
              <a:t>Quando a caixa é fechada,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/>
              <a:t> retorna (incluindo o retorno de um valor)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957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3A14C-C512-F980-96C1-30CCDDD5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Modal</a:t>
            </a:r>
            <a:r>
              <a:rPr lang="en-US"/>
              <a:t> e </a:t>
            </a:r>
            <a:r>
              <a:rPr lang="en-US" i="1"/>
              <a:t>Modeless Dialogs</a:t>
            </a:r>
            <a:endParaRPr lang="pt-BR" i="1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9230DF-420C-499A-7F45-AB4CA2B40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15118" r="5614" b="13272"/>
          <a:stretch/>
        </p:blipFill>
        <p:spPr>
          <a:xfrm>
            <a:off x="96495" y="2697250"/>
            <a:ext cx="6878678" cy="2256133"/>
          </a:xfrm>
          <a:prstGeom prst="rect">
            <a:avLst/>
          </a:prstGeom>
          <a:solidFill>
            <a:srgbClr val="000000">
              <a:shade val="95000"/>
            </a:srgbClr>
          </a:solidFill>
          <a:ln w="5715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2DF5950-B2E7-63ED-7139-83856D4EC499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6860297" y="1869505"/>
            <a:ext cx="1431056" cy="1103444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861AE09-C0A8-A2A8-9B06-048199EE8CC8}"/>
              </a:ext>
            </a:extLst>
          </p:cNvPr>
          <p:cNvSpPr txBox="1"/>
          <p:nvPr/>
        </p:nvSpPr>
        <p:spPr>
          <a:xfrm>
            <a:off x="8291353" y="1546339"/>
            <a:ext cx="3742886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Bloqueia interação com qualquer outra janela.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44E433-6F3E-DE12-80E2-478FBFB61D7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575409" y="3528030"/>
            <a:ext cx="171594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BBB944-6CEC-860C-5034-8B653349756D}"/>
              </a:ext>
            </a:extLst>
          </p:cNvPr>
          <p:cNvSpPr txBox="1"/>
          <p:nvPr/>
        </p:nvSpPr>
        <p:spPr>
          <a:xfrm>
            <a:off x="8291353" y="3066365"/>
            <a:ext cx="3742886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Bloqueia interação apenas com a janela associada à caixa de diálogo. 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30C63F-5B80-AFB9-A997-80F5CE31F18D}"/>
              </a:ext>
            </a:extLst>
          </p:cNvPr>
          <p:cNvSpPr txBox="1"/>
          <p:nvPr/>
        </p:nvSpPr>
        <p:spPr>
          <a:xfrm>
            <a:off x="2101922" y="6063850"/>
            <a:ext cx="3742886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Não bloqueia interação com outras janelas.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09E8E8C-F79E-3490-67AF-C6D31B1E923B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973365" y="4810939"/>
            <a:ext cx="0" cy="12529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CBFAE9-48CF-DF61-62BB-5FDE8AAE9F56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>
            <a:off x="10162796" y="3989695"/>
            <a:ext cx="0" cy="132196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B174AB7-E25E-65FD-90AE-EFF45BDF1AF2}"/>
              </a:ext>
            </a:extLst>
          </p:cNvPr>
          <p:cNvSpPr txBox="1"/>
          <p:nvPr/>
        </p:nvSpPr>
        <p:spPr>
          <a:xfrm>
            <a:off x="8291353" y="5311661"/>
            <a:ext cx="3742886" cy="120032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 janela associada é o primeiro parâmetro passado na criação da caixa de diálogo (veja a estrutura do construtor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QDialog</a:t>
            </a:r>
            <a:r>
              <a:rPr lang="en-US"/>
              <a:t>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02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25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06C55-B5BF-F8E1-410C-DF0A4CAF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Modal</a:t>
            </a:r>
            <a:r>
              <a:rPr lang="en-US"/>
              <a:t> e </a:t>
            </a:r>
            <a:r>
              <a:rPr lang="en-US" i="1"/>
              <a:t>Modeless Dialogs</a:t>
            </a:r>
            <a:endParaRPr lang="pt-BR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7C1C8-9C55-1784-BD0B-C8E49A0D2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5491619"/>
          </a:xfrm>
        </p:spPr>
        <p:txBody>
          <a:bodyPr/>
          <a:lstStyle/>
          <a:p>
            <a:r>
              <a:rPr lang="en-US" i="1"/>
              <a:t>Application Modal</a:t>
            </a:r>
          </a:p>
          <a:p>
            <a:pPr lvl="1"/>
            <a:r>
              <a:rPr lang="en-US"/>
              <a:t>Usamos o método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setWindowModality</a:t>
            </a:r>
            <a:r>
              <a:rPr lang="pt-BR"/>
              <a:t> passando como parâmetro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ApplicationModal</a:t>
            </a:r>
            <a:endParaRPr lang="en-US"/>
          </a:p>
          <a:p>
            <a:pPr lvl="2"/>
            <a:r>
              <a:rPr lang="en-US"/>
              <a:t>Esse passo é opcional porque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ApplicationModal</a:t>
            </a:r>
            <a:r>
              <a:rPr lang="en-US"/>
              <a:t> é o padrão</a:t>
            </a:r>
          </a:p>
          <a:p>
            <a:pPr lvl="1"/>
            <a:r>
              <a:rPr lang="en-US"/>
              <a:t>Usamos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/>
              <a:t> para iniciar o loop como no Exemplo 1</a:t>
            </a:r>
            <a:endParaRPr lang="pt-BR"/>
          </a:p>
          <a:p>
            <a:r>
              <a:rPr lang="en-US" i="1"/>
              <a:t>Modeless</a:t>
            </a:r>
          </a:p>
          <a:p>
            <a:pPr lvl="1"/>
            <a:r>
              <a:rPr lang="en-US"/>
              <a:t>Usamos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setWindowModality</a:t>
            </a:r>
            <a:r>
              <a:rPr lang="pt-BR"/>
              <a:t> e  como parâmetro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NonModal</a:t>
            </a:r>
            <a:endParaRPr lang="en-US"/>
          </a:p>
          <a:p>
            <a:pPr lvl="1"/>
            <a:r>
              <a:rPr lang="en-US"/>
              <a:t>Usamos 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/>
              <a:t> para iniciar o loop</a:t>
            </a:r>
          </a:p>
        </p:txBody>
      </p:sp>
    </p:spTree>
    <p:extLst>
      <p:ext uri="{BB962C8B-B14F-4D97-AF65-F5344CB8AC3E}">
        <p14:creationId xmlns:p14="http://schemas.microsoft.com/office/powerpoint/2010/main" val="314581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06C55-B5BF-F8E1-410C-DF0A4CAF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Modal</a:t>
            </a:r>
            <a:r>
              <a:rPr lang="en-US"/>
              <a:t> e </a:t>
            </a:r>
            <a:r>
              <a:rPr lang="en-US" i="1"/>
              <a:t>Modeless Dialogs</a:t>
            </a:r>
            <a:endParaRPr lang="pt-BR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7C1C8-9C55-1784-BD0B-C8E49A0D2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70"/>
            <a:ext cx="10972800" cy="2091338"/>
          </a:xfrm>
        </p:spPr>
        <p:txBody>
          <a:bodyPr/>
          <a:lstStyle/>
          <a:p>
            <a:r>
              <a:rPr lang="en-US" i="1"/>
              <a:t>Window Modal</a:t>
            </a:r>
          </a:p>
          <a:p>
            <a:pPr lvl="1"/>
            <a:r>
              <a:rPr lang="en-US"/>
              <a:t>Usamos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setWindowModality</a:t>
            </a:r>
            <a:r>
              <a:rPr lang="pt-BR"/>
              <a:t> e como parâmetro 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WindowModal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/>
              <a:t>Depois, usamos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/>
              <a:t> para iniciar o loop </a:t>
            </a:r>
          </a:p>
          <a:p>
            <a:pPr lvl="1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5E59F-52AF-9558-E974-6950799E61D7}"/>
              </a:ext>
            </a:extLst>
          </p:cNvPr>
          <p:cNvSpPr txBox="1"/>
          <p:nvPr/>
        </p:nvSpPr>
        <p:spPr>
          <a:xfrm>
            <a:off x="3585855" y="3715818"/>
            <a:ext cx="5020290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/>
              <a:t> apenas exibe a caixa de diálogo e não inicia um novo loop. Os eventos são processados pelo loop principal.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10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8B6A-A692-47ED-B5EB-BCA14EBB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 – Exemplo 2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5869E-4564-92BF-A971-FAA68D00C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ver um exemplo de criação de uma caixa de diálogo </a:t>
            </a:r>
            <a:r>
              <a:rPr lang="en-US" i="1"/>
              <a:t>modeless</a:t>
            </a:r>
            <a:r>
              <a:rPr lang="en-US"/>
              <a:t>, usando de novo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</a:t>
            </a:r>
          </a:p>
          <a:p>
            <a:r>
              <a:rPr lang="en-US"/>
              <a:t>A primeira parte do Exemplo 1 (Slide 6) e do Exemplo 2 (Slide 13) são iguais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2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47561-822A-92E1-7EC3-AECCDDB6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 – Exemplo 2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D7E038-7EA7-3555-1B5C-D0235853A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786588"/>
              </p:ext>
            </p:extLst>
          </p:nvPr>
        </p:nvGraphicFramePr>
        <p:xfrm>
          <a:off x="151623" y="1041415"/>
          <a:ext cx="11363384" cy="466344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51850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"Controle de carga"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"Aumentar carga"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clicked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increase_load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load_value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max_load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4</a:t>
                      </a:r>
                    </a:p>
                    <a:p>
                      <a:r>
                        <a:rPr lang="pt-BR" sz="1800" b="1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b="1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increase_load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load_value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+=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</a:p>
                    <a:p>
                      <a:r>
                        <a:rPr lang="pt-BR" sz="1800" b="1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f"Carga atual: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load_value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load_value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&gt;=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max_load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show_dialog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26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47561-822A-92E1-7EC3-AECCDDB6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 – Exemplo 2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D7E038-7EA7-3555-1B5C-D0235853A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358592"/>
              </p:ext>
            </p:extLst>
          </p:nvPr>
        </p:nvGraphicFramePr>
        <p:xfrm>
          <a:off x="151623" y="1041414"/>
          <a:ext cx="11363384" cy="3126227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12622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28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show_dialog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"Aviso"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setText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"Carga máxima atingida"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setStandardButtons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Ok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setWindowModality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WindowModality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NonModal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buttonClicked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dialog_closed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dialog_closed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quit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4FAB414-0A1D-DAEF-347C-A2C79CFC0525}"/>
              </a:ext>
            </a:extLst>
          </p:cNvPr>
          <p:cNvSpPr/>
          <p:nvPr/>
        </p:nvSpPr>
        <p:spPr>
          <a:xfrm>
            <a:off x="1171430" y="2402699"/>
            <a:ext cx="7269539" cy="28536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A0B03EED-B80E-8367-D228-1B8A5FD53A25}"/>
              </a:ext>
            </a:extLst>
          </p:cNvPr>
          <p:cNvCxnSpPr>
            <a:cxnSpLocks/>
            <a:stCxn id="3" idx="3"/>
            <a:endCxn id="7" idx="2"/>
          </p:cNvCxnSpPr>
          <p:nvPr/>
        </p:nvCxnSpPr>
        <p:spPr>
          <a:xfrm flipV="1">
            <a:off x="8440969" y="1763411"/>
            <a:ext cx="1154349" cy="781969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479B45A-D5F3-6E21-75E6-617C8F251193}"/>
              </a:ext>
            </a:extLst>
          </p:cNvPr>
          <p:cNvSpPr txBox="1"/>
          <p:nvPr/>
        </p:nvSpPr>
        <p:spPr>
          <a:xfrm>
            <a:off x="7928351" y="1117080"/>
            <a:ext cx="3333933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Setamos explicitamente como </a:t>
            </a:r>
            <a:r>
              <a:rPr lang="en-US" i="1"/>
              <a:t>modeless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F9E2CD-E76D-B402-FCA1-7E1FD5B50020}"/>
              </a:ext>
            </a:extLst>
          </p:cNvPr>
          <p:cNvSpPr/>
          <p:nvPr/>
        </p:nvSpPr>
        <p:spPr>
          <a:xfrm>
            <a:off x="1171430" y="2697250"/>
            <a:ext cx="7269539" cy="28536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BCD17F7-5743-EBB7-70D1-CD8CC796B086}"/>
              </a:ext>
            </a:extLst>
          </p:cNvPr>
          <p:cNvCxnSpPr>
            <a:cxnSpLocks/>
            <a:stCxn id="12" idx="3"/>
            <a:endCxn id="16" idx="0"/>
          </p:cNvCxnSpPr>
          <p:nvPr/>
        </p:nvCxnSpPr>
        <p:spPr>
          <a:xfrm>
            <a:off x="8440969" y="2839931"/>
            <a:ext cx="1206182" cy="672426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70A1E9D-039E-FDAE-1B9A-46B2FC9CA1F8}"/>
              </a:ext>
            </a:extLst>
          </p:cNvPr>
          <p:cNvSpPr txBox="1"/>
          <p:nvPr/>
        </p:nvSpPr>
        <p:spPr>
          <a:xfrm>
            <a:off x="7397911" y="3512357"/>
            <a:ext cx="4498480" cy="120032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Para fechar a aplicação quando o usuário der OK, não podemos usar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quit</a:t>
            </a:r>
            <a:r>
              <a:rPr lang="en-US"/>
              <a:t> como última linha do método porque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/>
              <a:t> não interrompe o fluxo do programa.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4485B5-F537-1189-8A39-87ECDEF5F3FA}"/>
              </a:ext>
            </a:extLst>
          </p:cNvPr>
          <p:cNvCxnSpPr>
            <a:cxnSpLocks/>
            <a:stCxn id="16" idx="2"/>
            <a:endCxn id="23" idx="0"/>
          </p:cNvCxnSpPr>
          <p:nvPr/>
        </p:nvCxnSpPr>
        <p:spPr>
          <a:xfrm>
            <a:off x="9647151" y="4712686"/>
            <a:ext cx="0" cy="8807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95F0A2C-7B45-C190-BB90-F43804E2F1EA}"/>
              </a:ext>
            </a:extLst>
          </p:cNvPr>
          <p:cNvSpPr txBox="1"/>
          <p:nvPr/>
        </p:nvSpPr>
        <p:spPr>
          <a:xfrm>
            <a:off x="7397911" y="5593421"/>
            <a:ext cx="4498480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Por isso, conectamos a caixa de diálogo a um método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88D3C0-1780-479D-73F5-E046A4F8AF9F}"/>
              </a:ext>
            </a:extLst>
          </p:cNvPr>
          <p:cNvSpPr/>
          <p:nvPr/>
        </p:nvSpPr>
        <p:spPr>
          <a:xfrm>
            <a:off x="1171431" y="2991801"/>
            <a:ext cx="1875038" cy="28536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3F219F1-8628-22D8-AAA0-DBB259E050F5}"/>
              </a:ext>
            </a:extLst>
          </p:cNvPr>
          <p:cNvCxnSpPr>
            <a:cxnSpLocks/>
            <a:stCxn id="26" idx="3"/>
            <a:endCxn id="29" idx="0"/>
          </p:cNvCxnSpPr>
          <p:nvPr/>
        </p:nvCxnSpPr>
        <p:spPr>
          <a:xfrm>
            <a:off x="3046469" y="3134482"/>
            <a:ext cx="2102203" cy="1302508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94E5824-34F1-9D82-C43B-C4C2032E81DE}"/>
              </a:ext>
            </a:extLst>
          </p:cNvPr>
          <p:cNvSpPr txBox="1"/>
          <p:nvPr/>
        </p:nvSpPr>
        <p:spPr>
          <a:xfrm>
            <a:off x="3816708" y="4436990"/>
            <a:ext cx="2663928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Usamos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show</a:t>
            </a:r>
            <a:r>
              <a:rPr lang="en-US"/>
              <a:t> (ao invés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/>
              <a:t>)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69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2" grpId="0" animBg="1"/>
      <p:bldP spid="16" grpId="0" animBg="1"/>
      <p:bldP spid="23" grpId="0" animBg="1"/>
      <p:bldP spid="26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DC71-143F-34D7-4570-02ACC233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 – Exemplo 2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391CA-A82C-7946-6F1F-545571255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Quando a caixa de diálogo aparece e clicamos em OK a aplicação encerra, como no Exemplo 1</a:t>
            </a:r>
          </a:p>
          <a:p>
            <a:r>
              <a:rPr lang="en-US"/>
              <a:t>Porém, o que acontece se o usuário pressionar o botão para aumentar a carga ao invés de OK?</a:t>
            </a:r>
          </a:p>
          <a:p>
            <a:pPr lvl="1"/>
            <a:r>
              <a:rPr lang="en-US"/>
              <a:t>Outra janela de confirmação é aberta</a:t>
            </a:r>
          </a:p>
          <a:p>
            <a:pPr lvl="1"/>
            <a:r>
              <a:rPr lang="en-US"/>
              <a:t>A carga continua sendo aumentada</a:t>
            </a:r>
          </a:p>
          <a:p>
            <a:r>
              <a:rPr lang="en-US"/>
              <a:t>Conclusão</a:t>
            </a:r>
          </a:p>
          <a:p>
            <a:pPr lvl="1"/>
            <a:r>
              <a:rPr lang="en-US"/>
              <a:t>Nesse problema, uma caixa de diálogo </a:t>
            </a:r>
            <a:r>
              <a:rPr lang="en-US" i="1"/>
              <a:t>modeless</a:t>
            </a:r>
            <a:r>
              <a:rPr lang="en-US"/>
              <a:t> não é adequada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857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B2E1-101D-42D8-5BA1-7F6EFC5C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3FDC7-94D0-91B3-22D1-2354EA653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Existem diversos botões disponíveis. Alguns exemplos (consulte a documentação para a lista completa):</a:t>
            </a:r>
          </a:p>
          <a:p>
            <a:pPr lvl="1"/>
            <a:r>
              <a:rPr lang="en-US"/>
              <a:t>QMessageBox.Ok</a:t>
            </a:r>
          </a:p>
          <a:p>
            <a:pPr lvl="1"/>
            <a:r>
              <a:rPr lang="en-US"/>
              <a:t>QMessageBox.Yes</a:t>
            </a:r>
            <a:endParaRPr lang="pt-BR"/>
          </a:p>
          <a:p>
            <a:pPr lvl="1"/>
            <a:r>
              <a:rPr lang="en-US"/>
              <a:t>QMessageBox.No</a:t>
            </a:r>
          </a:p>
          <a:p>
            <a:pPr lvl="1"/>
            <a:r>
              <a:rPr lang="en-US"/>
              <a:t>QMessageBox.Close</a:t>
            </a:r>
          </a:p>
          <a:p>
            <a:pPr lvl="1"/>
            <a:r>
              <a:rPr lang="en-US"/>
              <a:t>QMessageBox.Ignore</a:t>
            </a:r>
          </a:p>
          <a:p>
            <a:pPr lvl="1"/>
            <a:endParaRPr lang="pt-BR"/>
          </a:p>
          <a:p>
            <a:pPr lvl="1"/>
            <a:endParaRPr lang="pt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89F103-5A08-1E6B-2AD4-1CDC095EBA77}"/>
              </a:ext>
            </a:extLst>
          </p:cNvPr>
          <p:cNvSpPr/>
          <p:nvPr/>
        </p:nvSpPr>
        <p:spPr>
          <a:xfrm>
            <a:off x="1304686" y="2471623"/>
            <a:ext cx="2812412" cy="44618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0E895B-9BE2-F77F-E6F9-02934BE0BC6D}"/>
              </a:ext>
            </a:extLst>
          </p:cNvPr>
          <p:cNvSpPr/>
          <p:nvPr/>
        </p:nvSpPr>
        <p:spPr>
          <a:xfrm>
            <a:off x="1342210" y="4953675"/>
            <a:ext cx="3266549" cy="44618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ADE994-8190-5E0B-C7B7-702C6351AD4F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4117098" y="2694716"/>
            <a:ext cx="165247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C779410-D48F-0BE1-E9F0-92620680454B}"/>
              </a:ext>
            </a:extLst>
          </p:cNvPr>
          <p:cNvSpPr txBox="1"/>
          <p:nvPr/>
        </p:nvSpPr>
        <p:spPr>
          <a:xfrm>
            <a:off x="5769572" y="2510050"/>
            <a:ext cx="2956285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Vimos nos Exemplos 1 e 2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A4565A-67F4-D208-6638-0A0FCFEA293A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 flipV="1">
            <a:off x="4608759" y="3874497"/>
            <a:ext cx="1697658" cy="130227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B2F4FCE-EA7B-4B5A-D6FC-56CF783AC441}"/>
              </a:ext>
            </a:extLst>
          </p:cNvPr>
          <p:cNvCxnSpPr>
            <a:cxnSpLocks/>
            <a:stCxn id="4" idx="3"/>
            <a:endCxn id="21" idx="1"/>
          </p:cNvCxnSpPr>
          <p:nvPr/>
        </p:nvCxnSpPr>
        <p:spPr>
          <a:xfrm>
            <a:off x="4117098" y="2694716"/>
            <a:ext cx="2189319" cy="11797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741FA47-4495-E3CF-E207-5B4F097AAF0B}"/>
              </a:ext>
            </a:extLst>
          </p:cNvPr>
          <p:cNvSpPr txBox="1"/>
          <p:nvPr/>
        </p:nvSpPr>
        <p:spPr>
          <a:xfrm>
            <a:off x="6306417" y="3551331"/>
            <a:ext cx="2547333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Próximo Exemplo usa os dois botões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75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52C5E-052A-506D-DDD0-C81F198EE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 – Exemplo 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79A01-8262-2811-2C52-DEA547698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modificar o Exemplo 1 de modo que seja possível ignorar o aviso caso a carga máxima seja atingida</a:t>
            </a:r>
          </a:p>
          <a:p>
            <a:pPr lvl="1"/>
            <a:r>
              <a:rPr lang="en-US"/>
              <a:t>Para isso vamos ter dois botões na caixa de diálogo: OK e Ignorar</a:t>
            </a:r>
          </a:p>
          <a:p>
            <a:pPr lvl="2"/>
            <a:r>
              <a:rPr lang="en-US"/>
              <a:t>Ao clicar em OK, o programa é encerrado</a:t>
            </a:r>
          </a:p>
          <a:p>
            <a:pPr lvl="2"/>
            <a:r>
              <a:rPr lang="en-US"/>
              <a:t>Ao licar em Ignorar, a carga é incrementada</a:t>
            </a:r>
            <a:endParaRPr lang="pt-BR"/>
          </a:p>
          <a:p>
            <a:r>
              <a:rPr lang="en-US"/>
              <a:t>A primeira parte do exemplo (Slide 6)  é igual e não repetimos aqui</a:t>
            </a:r>
          </a:p>
        </p:txBody>
      </p:sp>
    </p:spTree>
    <p:extLst>
      <p:ext uri="{BB962C8B-B14F-4D97-AF65-F5344CB8AC3E}">
        <p14:creationId xmlns:p14="http://schemas.microsoft.com/office/powerpoint/2010/main" val="209910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63E8-0F85-B576-E2D7-26FEE86B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 – Exemplo 3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C4B199-495B-229C-9E5E-0AD60A126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66186"/>
              </p:ext>
            </p:extLst>
          </p:nvPr>
        </p:nvGraphicFramePr>
        <p:xfrm>
          <a:off x="151623" y="1041415"/>
          <a:ext cx="11363384" cy="3080277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08027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show_dialog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"Aviso"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setText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"Carga máxima atingida"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setStandardButtons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Ok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|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Ignore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Ok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quit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Ignore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"Ignorado! Continuando a adicionar carga..."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D2E0CB0-037C-7236-1F8F-349E8A0A06E1}"/>
              </a:ext>
            </a:extLst>
          </p:cNvPr>
          <p:cNvSpPr/>
          <p:nvPr/>
        </p:nvSpPr>
        <p:spPr>
          <a:xfrm>
            <a:off x="620033" y="2127474"/>
            <a:ext cx="8606677" cy="57437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6A265E6E-8889-5BA9-90F3-80CDCA4B4877}"/>
              </a:ext>
            </a:extLst>
          </p:cNvPr>
          <p:cNvCxnSpPr>
            <a:cxnSpLocks/>
            <a:stCxn id="5" idx="3"/>
            <a:endCxn id="8" idx="2"/>
          </p:cNvCxnSpPr>
          <p:nvPr/>
        </p:nvCxnSpPr>
        <p:spPr>
          <a:xfrm flipV="1">
            <a:off x="9226710" y="1124125"/>
            <a:ext cx="394310" cy="1290535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0A0005A-789B-EDC4-8E92-527A1AC578E3}"/>
              </a:ext>
            </a:extLst>
          </p:cNvPr>
          <p:cNvSpPr txBox="1"/>
          <p:nvPr/>
        </p:nvSpPr>
        <p:spPr>
          <a:xfrm>
            <a:off x="7727032" y="477794"/>
            <a:ext cx="3787975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Usamos | (operador OR </a:t>
            </a:r>
            <a:r>
              <a:rPr lang="en-US" i="1"/>
              <a:t>bitwise</a:t>
            </a:r>
            <a:r>
              <a:rPr lang="en-US"/>
              <a:t>) para adicionar vários botões.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F6E55F-497F-78EF-9E23-880B25801298}"/>
              </a:ext>
            </a:extLst>
          </p:cNvPr>
          <p:cNvSpPr/>
          <p:nvPr/>
        </p:nvSpPr>
        <p:spPr>
          <a:xfrm>
            <a:off x="620033" y="2701845"/>
            <a:ext cx="7862291" cy="1419847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34DF20B-F07F-2662-B5A9-40F10441FA30}"/>
              </a:ext>
            </a:extLst>
          </p:cNvPr>
          <p:cNvCxnSpPr>
            <a:cxnSpLocks/>
            <a:stCxn id="5" idx="3"/>
            <a:endCxn id="22" idx="0"/>
          </p:cNvCxnSpPr>
          <p:nvPr/>
        </p:nvCxnSpPr>
        <p:spPr>
          <a:xfrm>
            <a:off x="9226710" y="2414660"/>
            <a:ext cx="394309" cy="2351236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4BF718-868C-137F-D3AC-8FB22E8BCC9A}"/>
              </a:ext>
            </a:extLst>
          </p:cNvPr>
          <p:cNvSpPr txBox="1"/>
          <p:nvPr/>
        </p:nvSpPr>
        <p:spPr>
          <a:xfrm>
            <a:off x="7458225" y="4765896"/>
            <a:ext cx="4325587" cy="120032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 ordem em que os botões aparecem na caixa de diálogo são determinados pelo sistema. Invertendo Ok com Ignore a ordem de exibição é a mesma.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CE6AB1E-DC8E-E915-A352-336F99E2CDEE}"/>
              </a:ext>
            </a:extLst>
          </p:cNvPr>
          <p:cNvCxnSpPr>
            <a:cxnSpLocks/>
            <a:stCxn id="16" idx="2"/>
            <a:endCxn id="31" idx="0"/>
          </p:cNvCxnSpPr>
          <p:nvPr/>
        </p:nvCxnSpPr>
        <p:spPr>
          <a:xfrm flipH="1">
            <a:off x="4551178" y="4121692"/>
            <a:ext cx="1" cy="13177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D39891E-1506-5A76-9C69-46934669C9ED}"/>
              </a:ext>
            </a:extLst>
          </p:cNvPr>
          <p:cNvSpPr txBox="1"/>
          <p:nvPr/>
        </p:nvSpPr>
        <p:spPr>
          <a:xfrm>
            <a:off x="2388384" y="5439484"/>
            <a:ext cx="4325587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lang="en-US"/>
              <a:t> retorna um valor que identifica o botão, que depois é usado para comparação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ED4BE0-6B86-A778-AF5C-6285036A70F6}"/>
              </a:ext>
            </a:extLst>
          </p:cNvPr>
          <p:cNvSpPr txBox="1"/>
          <p:nvPr/>
        </p:nvSpPr>
        <p:spPr>
          <a:xfrm>
            <a:off x="10149292" y="2091493"/>
            <a:ext cx="1963063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Note que é uma única linha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EB9A5EB-077B-5A1A-E549-45F28F771887}"/>
              </a:ext>
            </a:extLst>
          </p:cNvPr>
          <p:cNvCxnSpPr>
            <a:cxnSpLocks/>
            <a:stCxn id="5" idx="3"/>
            <a:endCxn id="36" idx="1"/>
          </p:cNvCxnSpPr>
          <p:nvPr/>
        </p:nvCxnSpPr>
        <p:spPr>
          <a:xfrm flipV="1">
            <a:off x="9226710" y="2414659"/>
            <a:ext cx="922582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15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6" grpId="0" animBg="1"/>
      <p:bldP spid="22" grpId="0" animBg="1"/>
      <p:bldP spid="31" grpId="0" animBg="1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BC82-7BDB-8FE3-01B4-9E589C7A7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QMessageBox: ícones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D2488-1093-A912-09C3-50ED65006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QMessageBox possui ícones </a:t>
            </a:r>
            <a:r>
              <a:rPr lang="en-US" i="1"/>
              <a:t>built-in</a:t>
            </a:r>
            <a:r>
              <a:rPr lang="en-US"/>
              <a:t>: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QMessageBox.NoIcon</a:t>
            </a:r>
          </a:p>
          <a:p>
            <a:pPr lvl="2"/>
            <a:r>
              <a:rPr lang="en-US"/>
              <a:t>Sem ícone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QMessageBox.Question</a:t>
            </a:r>
          </a:p>
          <a:p>
            <a:pPr lvl="2"/>
            <a:r>
              <a:rPr lang="en-US"/>
              <a:t>A mensagem é uma pergunta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QMessageBox.Information</a:t>
            </a:r>
          </a:p>
          <a:p>
            <a:pPr lvl="2"/>
            <a:r>
              <a:rPr lang="en-US"/>
              <a:t>A mensagem é apenas uma informação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QMessageBox.Warning</a:t>
            </a:r>
          </a:p>
          <a:p>
            <a:pPr lvl="2"/>
            <a:r>
              <a:rPr lang="en-US"/>
              <a:t>A mensagem é um aviso</a:t>
            </a:r>
          </a:p>
          <a:p>
            <a:pPr lvl="1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08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BC82-7BDB-8FE3-01B4-9E589C7A7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QMessageBox: ícones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D2488-1093-A912-09C3-50ED65006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QMessageBox possui ícones </a:t>
            </a:r>
            <a:r>
              <a:rPr lang="en-US" i="1"/>
              <a:t>built-in</a:t>
            </a:r>
            <a:r>
              <a:rPr lang="en-US"/>
              <a:t>: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QMessageBox.Critical</a:t>
            </a:r>
          </a:p>
          <a:p>
            <a:pPr lvl="2"/>
            <a:r>
              <a:rPr lang="en-US"/>
              <a:t>A mensagem indica um problema crítico</a:t>
            </a:r>
            <a:endParaRPr lang="pt-BR"/>
          </a:p>
          <a:p>
            <a:r>
              <a:rPr lang="en-US"/>
              <a:t>Os ícones podem ser setados a partir do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setIcon </a:t>
            </a:r>
            <a:r>
              <a:rPr lang="en-US"/>
              <a:t>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</a:t>
            </a:r>
          </a:p>
        </p:txBody>
      </p:sp>
    </p:spTree>
    <p:extLst>
      <p:ext uri="{BB962C8B-B14F-4D97-AF65-F5344CB8AC3E}">
        <p14:creationId xmlns:p14="http://schemas.microsoft.com/office/powerpoint/2010/main" val="275853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CA69-EA61-6D77-9D7A-F271DC98C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4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3CC5C-C8EA-DA61-D8A3-4F0D64DDD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modificar nosso Exemplo 3 para incluir um ícone de aviso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63AF7B-E986-BD94-0530-97EA2E378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234949"/>
              </p:ext>
            </p:extLst>
          </p:nvPr>
        </p:nvGraphicFramePr>
        <p:xfrm>
          <a:off x="151623" y="2773730"/>
          <a:ext cx="11363384" cy="329184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08027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show_dialog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dialog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"Aviso"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setText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"Carga máxima atingida"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setIcon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Icon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Warning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setStandardButtons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Ok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|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Ignore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Ok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quit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Ignore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"Ignorado! Continuando a adicionar carga..."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4E7FEEE-8985-AAE9-E7BE-015A6824270F}"/>
              </a:ext>
            </a:extLst>
          </p:cNvPr>
          <p:cNvSpPr/>
          <p:nvPr/>
        </p:nvSpPr>
        <p:spPr>
          <a:xfrm>
            <a:off x="1166835" y="3845280"/>
            <a:ext cx="5537233" cy="33155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C882DF-9B42-B3CE-E6EE-E46E054F8C4E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6704068" y="4011058"/>
            <a:ext cx="2485882" cy="459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85785FE-094D-F2E6-C735-D5613B747FCE}"/>
              </a:ext>
            </a:extLst>
          </p:cNvPr>
          <p:cNvSpPr txBox="1"/>
          <p:nvPr/>
        </p:nvSpPr>
        <p:spPr>
          <a:xfrm>
            <a:off x="9189950" y="3692487"/>
            <a:ext cx="2850427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Linha incluída. O resto do código é o mesmo.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86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DEEDC-0107-CF6B-FA02-B4E5B24C9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QMessageBox: Métodos Estáticos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1413-A549-2881-8C7C-66058800B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</a:t>
            </a:r>
            <a:r>
              <a:rPr lang="en-US"/>
              <a:t> possui métodos estáticos: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QMessageBox.about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QMessageBox.critical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QMessageBox.information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QMessageBox.question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QMessageBox.warning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462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0A3D-81A2-5539-1C8F-9F161487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QMessageBox: Métodos Estáticos – Exemplo 5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65CD8-2BCA-B2EE-F33E-91F3067DD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reescrever nosso Exemplo 4, porém usando agora o método estático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QMessageBox.warning</a:t>
            </a:r>
          </a:p>
          <a:p>
            <a:pPr lvl="1"/>
            <a:r>
              <a:rPr lang="en-US"/>
              <a:t>Novamente, a primeira parte do exemplo (Slide 6)  é igual e não repetimos aqui</a:t>
            </a:r>
          </a:p>
          <a:p>
            <a:pPr lvl="1"/>
            <a:r>
              <a:rPr lang="en-US"/>
              <a:t>No próximo Slide para comparação fizemos:</a:t>
            </a:r>
          </a:p>
          <a:p>
            <a:pPr lvl="2"/>
            <a:r>
              <a:rPr lang="en-US"/>
              <a:t>Primeiro box de código é o do Exemplo 4 </a:t>
            </a:r>
          </a:p>
          <a:p>
            <a:pPr lvl="2"/>
            <a:r>
              <a:rPr lang="en-US"/>
              <a:t>Segundo box de código é o do Exemplo 5 (atual)</a:t>
            </a: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668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77639-BAAB-DBB7-B6D0-8C730500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QMessageBox: Métodos Estáticos – Exemplo 5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FC64A0-7452-E092-9DBA-A4D268D23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179094"/>
              </p:ext>
            </p:extLst>
          </p:nvPr>
        </p:nvGraphicFramePr>
        <p:xfrm>
          <a:off x="151623" y="4547401"/>
          <a:ext cx="11363384" cy="219456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97794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show_dialog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warning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"Aviso"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"Carga máxima atingida"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Ok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|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Ignore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Ok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615297-6F58-57BF-6F5F-8F4600032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168330"/>
              </p:ext>
            </p:extLst>
          </p:nvPr>
        </p:nvGraphicFramePr>
        <p:xfrm>
          <a:off x="151623" y="1087365"/>
          <a:ext cx="11363384" cy="329184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08027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show_dialog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dialog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"Aviso"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setText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"Carga máxima atingida"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setIcon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Icon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Warning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setStandardButtons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Ok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|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Ignore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Ok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quit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result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Ignore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"Ignorado! Continuando a adicionar carga..."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DED9CDE-F9E8-A815-2EB6-45912F6220F0}"/>
              </a:ext>
            </a:extLst>
          </p:cNvPr>
          <p:cNvSpPr/>
          <p:nvPr/>
        </p:nvSpPr>
        <p:spPr>
          <a:xfrm>
            <a:off x="644828" y="1355518"/>
            <a:ext cx="8457817" cy="1939079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F6EB90-EC1D-F58E-D680-67E1496AE938}"/>
              </a:ext>
            </a:extLst>
          </p:cNvPr>
          <p:cNvSpPr/>
          <p:nvPr/>
        </p:nvSpPr>
        <p:spPr>
          <a:xfrm>
            <a:off x="644828" y="4567885"/>
            <a:ext cx="10244706" cy="1939079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04BC70-3DAA-980E-EFEB-BCA797CCFBA7}"/>
              </a:ext>
            </a:extLst>
          </p:cNvPr>
          <p:cNvSpPr txBox="1"/>
          <p:nvPr/>
        </p:nvSpPr>
        <p:spPr>
          <a:xfrm>
            <a:off x="9542754" y="3003400"/>
            <a:ext cx="2546625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Os códigos nos boxes em azul são equivalentes.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54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4732B-9CD9-B6FF-7F79-E873313D8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QMessageBox – Métodos Estáticos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1B201-2B20-22E8-D7B4-E02D31947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Os métodos estáticos são convenientes uma vez que não precisamos criar os objetos e chamar diversos métodos.</a:t>
            </a:r>
          </a:p>
          <a:p>
            <a:r>
              <a:rPr lang="en-US"/>
              <a:t>Por outro lado, a customização é limitada:</a:t>
            </a:r>
          </a:p>
          <a:p>
            <a:pPr lvl="1"/>
            <a:r>
              <a:rPr lang="en-US"/>
              <a:t>Podemos usar apenas os ícones </a:t>
            </a:r>
            <a:r>
              <a:rPr lang="en-US" i="1"/>
              <a:t>built-in</a:t>
            </a:r>
            <a:r>
              <a:rPr lang="en-US"/>
              <a:t> do PyQt</a:t>
            </a:r>
          </a:p>
          <a:p>
            <a:pPr lvl="1"/>
            <a:r>
              <a:rPr lang="en-US"/>
              <a:t>Não podemos alterar o formato do texto</a:t>
            </a:r>
          </a:p>
          <a:p>
            <a:pPr lvl="2"/>
            <a:endParaRPr lang="en-US"/>
          </a:p>
          <a:p>
            <a:pPr lvl="1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02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C7AB6-3C4E-7826-4C73-1CA21211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QInputDialog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696C6-C460-CE33-EDF1-E194AAE12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QInputDialog</a:t>
            </a:r>
            <a:r>
              <a:rPr lang="en-US"/>
              <a:t> é outro tipo de caixa de diálogo</a:t>
            </a:r>
          </a:p>
          <a:p>
            <a:pPr lvl="1"/>
            <a:r>
              <a:rPr lang="en-US"/>
              <a:t>Usada para obter um único valor do usuário</a:t>
            </a:r>
          </a:p>
          <a:p>
            <a:pPr lvl="2"/>
            <a:r>
              <a:rPr lang="en-US"/>
              <a:t>O valor pode ser uma </a:t>
            </a:r>
            <a:r>
              <a:rPr lang="en-US" i="1"/>
              <a:t>string</a:t>
            </a:r>
            <a:r>
              <a:rPr lang="en-US"/>
              <a:t>, um número ou um item de uma lista de opções dadas ao usuário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7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AAF9-9DCA-DA74-7C4D-946AFE65C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QInputDialog: Métodos Estáticos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0861-9AA4-E509-1CE8-D16C9B502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QInputDialog</a:t>
            </a:r>
            <a:r>
              <a:rPr lang="en-US"/>
              <a:t> possui 5 métodos estáticos: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getDouble</a:t>
            </a:r>
          </a:p>
          <a:p>
            <a:pPr lvl="2"/>
            <a:r>
              <a:rPr lang="en-US"/>
              <a:t>Recebe um número ponto flutuante do usuário 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getInt</a:t>
            </a:r>
          </a:p>
          <a:p>
            <a:pPr lvl="2"/>
            <a:r>
              <a:rPr lang="en-US"/>
              <a:t>Recebe um inteiro do usuário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getItem</a:t>
            </a:r>
          </a:p>
          <a:p>
            <a:pPr lvl="2"/>
            <a:r>
              <a:rPr lang="en-US"/>
              <a:t>Recebe um item selecionado pelo usuário a partir de uma lista de </a:t>
            </a:r>
            <a:r>
              <a:rPr lang="en-US" i="1"/>
              <a:t>strings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getText</a:t>
            </a:r>
          </a:p>
          <a:p>
            <a:pPr lvl="2"/>
            <a:r>
              <a:rPr lang="en-US"/>
              <a:t>Recebe uma </a:t>
            </a:r>
            <a:r>
              <a:rPr lang="en-US" i="1"/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179819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AAF9-9DCA-DA74-7C4D-946AFE65C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QInputDialog: Métodos Estáticos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0861-9AA4-E509-1CE8-D16C9B502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QInputDialog</a:t>
            </a:r>
            <a:r>
              <a:rPr lang="en-US"/>
              <a:t> possui 5 métodos estáticos: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getMultiLineText</a:t>
            </a:r>
          </a:p>
          <a:p>
            <a:pPr lvl="2"/>
            <a:r>
              <a:rPr lang="en-US"/>
              <a:t>Recebe uma </a:t>
            </a:r>
            <a:r>
              <a:rPr lang="en-US" i="1"/>
              <a:t>string</a:t>
            </a:r>
            <a:r>
              <a:rPr lang="en-US"/>
              <a:t> com múltiplas linhas</a:t>
            </a:r>
            <a:endParaRPr lang="pt-BR"/>
          </a:p>
          <a:p>
            <a:pPr lvl="1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85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004CF-C116-0A16-8F2B-FD310C6E5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QInputDialog – Exemplo 6</a:t>
            </a:r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5E3F6D-339C-249C-86ED-1EB5A5298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186961"/>
              </p:ext>
            </p:extLst>
          </p:nvPr>
        </p:nvGraphicFramePr>
        <p:xfrm>
          <a:off x="151623" y="1188455"/>
          <a:ext cx="11363384" cy="466344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962512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"Carro Reabastecimento"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QPushButton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"Reabastecer"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setCentralWidget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button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clicked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show_refill_dialog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show_refill_dialog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liters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ok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QInputDialog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getDouble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"Reabastecimento"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"Entre com a quantidade de litros:"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0.0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ok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QMessageBox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information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"Confirmação"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f"Reabastecimento concluído com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liters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litros"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B9058C8-34D8-7584-F7D0-D49E2B96C523}"/>
              </a:ext>
            </a:extLst>
          </p:cNvPr>
          <p:cNvSpPr/>
          <p:nvPr/>
        </p:nvSpPr>
        <p:spPr>
          <a:xfrm>
            <a:off x="624627" y="3932584"/>
            <a:ext cx="10596301" cy="59346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27B16A-5992-C58E-8C30-A9AAB01A66E6}"/>
              </a:ext>
            </a:extLst>
          </p:cNvPr>
          <p:cNvSpPr txBox="1"/>
          <p:nvPr/>
        </p:nvSpPr>
        <p:spPr>
          <a:xfrm>
            <a:off x="3125394" y="1637190"/>
            <a:ext cx="5594765" cy="120032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Ver slide seguinte. Note que sendo um método estático ele é chamado a partir da classe (e não do objeto) e cria a caixa de diálogo para entrada de dados.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7A82FC-A888-5F6A-C379-C98987C0AB01}"/>
              </a:ext>
            </a:extLst>
          </p:cNvPr>
          <p:cNvCxnSpPr>
            <a:cxnSpLocks/>
            <a:stCxn id="4" idx="0"/>
            <a:endCxn id="9" idx="2"/>
          </p:cNvCxnSpPr>
          <p:nvPr/>
        </p:nvCxnSpPr>
        <p:spPr>
          <a:xfrm flipH="1" flipV="1">
            <a:off x="5922777" y="2837519"/>
            <a:ext cx="1" cy="10950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77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BBC45-BE9D-7A92-66A2-C814042F9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QInputDialog – Exemplo 6 (getDouble)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8667FD-C7EF-B8C6-EA79-EA6AF0B92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675895"/>
              </p:ext>
            </p:extLst>
          </p:nvPr>
        </p:nvGraphicFramePr>
        <p:xfrm>
          <a:off x="151623" y="1188455"/>
          <a:ext cx="11363384" cy="649535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64953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liters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ok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QInputDialog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getDouble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"Reabastecimento"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"Entre com a quantidade de litros:"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0.0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D5B741D-EEA2-125B-B451-748F93BDEF24}"/>
              </a:ext>
            </a:extLst>
          </p:cNvPr>
          <p:cNvSpPr txBox="1"/>
          <p:nvPr/>
        </p:nvSpPr>
        <p:spPr>
          <a:xfrm>
            <a:off x="496825" y="2026384"/>
            <a:ext cx="5048729" cy="46272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>
                <a:solidFill>
                  <a:srgbClr val="FF00FF"/>
                </a:solidFill>
                <a:effectLst/>
                <a:latin typeface="Courier New" panose="02070309020205020404" pitchFamily="49" charset="0"/>
              </a:rPr>
              <a:t>getDouble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</a:t>
            </a:r>
            <a:endParaRPr lang="pt-BR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parent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QWidget 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|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None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endParaRPr lang="pt-BR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title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|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None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endParaRPr lang="pt-BR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label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|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None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endParaRPr lang="pt-BR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endParaRPr lang="pt-BR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min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endParaRPr lang="pt-BR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max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endParaRPr lang="pt-BR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decimals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 int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endParaRPr lang="pt-BR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flags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WindowType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endParaRPr lang="pt-BR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step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float</a:t>
            </a:r>
            <a:endParaRPr lang="pt-BR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-&gt;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Tuple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float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bool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|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b="1">
                <a:solidFill>
                  <a:srgbClr val="880088"/>
                </a:solidFill>
                <a:effectLst/>
                <a:latin typeface="Courier New" panose="02070309020205020404" pitchFamily="49" charset="0"/>
              </a:rPr>
              <a:t>None</a:t>
            </a:r>
            <a:r>
              <a:rPr lang="pt-BR" b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pt-BR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pt-BR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C16257-CB7C-4332-0F23-4089CC4C0E83}"/>
              </a:ext>
            </a:extLst>
          </p:cNvPr>
          <p:cNvSpPr/>
          <p:nvPr/>
        </p:nvSpPr>
        <p:spPr>
          <a:xfrm>
            <a:off x="541919" y="3803925"/>
            <a:ext cx="1930178" cy="33155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92E59D-473D-21BB-C361-C0B7D8C7699E}"/>
              </a:ext>
            </a:extLst>
          </p:cNvPr>
          <p:cNvSpPr/>
          <p:nvPr/>
        </p:nvSpPr>
        <p:spPr>
          <a:xfrm>
            <a:off x="2973708" y="6263461"/>
            <a:ext cx="1783138" cy="33155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D42EC3-C52E-18F1-E9F7-10734E8002F4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4756846" y="6429239"/>
            <a:ext cx="1386635" cy="796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B07F66A-03E3-EA69-9C67-6F6F41E62D77}"/>
              </a:ext>
            </a:extLst>
          </p:cNvPr>
          <p:cNvSpPr txBox="1"/>
          <p:nvPr/>
        </p:nvSpPr>
        <p:spPr>
          <a:xfrm>
            <a:off x="6143481" y="6114038"/>
            <a:ext cx="4766532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Setado para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/>
              <a:t> se o usuário pressionar Ok e para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/>
              <a:t> se pressionar Cancel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8C0941-F762-2A6E-5D33-0A5939818571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2472097" y="3969703"/>
            <a:ext cx="3671384" cy="63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9026788-8A37-DD24-9FE3-8EB333657F35}"/>
              </a:ext>
            </a:extLst>
          </p:cNvPr>
          <p:cNvSpPr txBox="1"/>
          <p:nvPr/>
        </p:nvSpPr>
        <p:spPr>
          <a:xfrm>
            <a:off x="6143481" y="3791348"/>
            <a:ext cx="1786679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Valor inicial</a:t>
            </a:r>
            <a:endParaRPr lang="en-US" i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15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8" grpId="0" animBg="1"/>
    </p:bldLst>
  </p:timing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10448</TotalTime>
  <Words>2363</Words>
  <Application>Microsoft Office PowerPoint</Application>
  <PresentationFormat>Widescreen</PresentationFormat>
  <Paragraphs>404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Courier New</vt:lpstr>
      <vt:lpstr>Garamond</vt:lpstr>
      <vt:lpstr>Wingdings</vt:lpstr>
      <vt:lpstr>Tema Padrão</vt:lpstr>
      <vt:lpstr>21 – PyQt (7 – Caixas de Diálogo)  </vt:lpstr>
      <vt:lpstr>Padrão – Exemplos</vt:lpstr>
      <vt:lpstr>Definição</vt:lpstr>
      <vt:lpstr>Exemplos</vt:lpstr>
      <vt:lpstr>Caixas de Diálogo Built-in</vt:lpstr>
      <vt:lpstr>QMessageBox – Exemplo 1</vt:lpstr>
      <vt:lpstr>QMessageBox – Exemplo 1</vt:lpstr>
      <vt:lpstr>Loop de QDialog</vt:lpstr>
      <vt:lpstr>Modal e Modeless Dialogs</vt:lpstr>
      <vt:lpstr>Modal e Modeless Dialogs</vt:lpstr>
      <vt:lpstr>Modal e Modeless Dialogs</vt:lpstr>
      <vt:lpstr>QMessageBox – Exemplo 2</vt:lpstr>
      <vt:lpstr>QMessageBox – Exemplo 2</vt:lpstr>
      <vt:lpstr>QMessageBox – Exemplo 2</vt:lpstr>
      <vt:lpstr>QMessageBox – Exemplo 2</vt:lpstr>
      <vt:lpstr>QMessageBox</vt:lpstr>
      <vt:lpstr>QMessageBox – Exemplo 3</vt:lpstr>
      <vt:lpstr>QMessageBox – Exemplo 3</vt:lpstr>
      <vt:lpstr>QMessageBox: ícones</vt:lpstr>
      <vt:lpstr>QMessageBox: ícones</vt:lpstr>
      <vt:lpstr>Exemplo 4</vt:lpstr>
      <vt:lpstr>QMessageBox: Métodos Estáticos</vt:lpstr>
      <vt:lpstr>QMessageBox: Métodos Estáticos – Exemplo 5</vt:lpstr>
      <vt:lpstr>QMessageBox: Métodos Estáticos – Exemplo 5</vt:lpstr>
      <vt:lpstr>QMessageBox – Métodos Estáticos</vt:lpstr>
      <vt:lpstr>QInputDialog</vt:lpstr>
      <vt:lpstr>QInputDialog: Métodos Estáticos</vt:lpstr>
      <vt:lpstr>QInputDialog: Métodos Estáticos</vt:lpstr>
      <vt:lpstr>QInputDialog – Exemplo 6</vt:lpstr>
      <vt:lpstr>QInputDialog – Exemplo 6 (getDouble)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</cp:lastModifiedBy>
  <cp:revision>647</cp:revision>
  <dcterms:created xsi:type="dcterms:W3CDTF">2017-06-20T21:36:17Z</dcterms:created>
  <dcterms:modified xsi:type="dcterms:W3CDTF">2024-10-25T16:56:44Z</dcterms:modified>
</cp:coreProperties>
</file>