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59" r:id="rId5"/>
    <p:sldId id="284" r:id="rId6"/>
    <p:sldId id="283" r:id="rId7"/>
    <p:sldId id="261" r:id="rId8"/>
    <p:sldId id="268" r:id="rId9"/>
    <p:sldId id="262" r:id="rId10"/>
    <p:sldId id="264" r:id="rId11"/>
    <p:sldId id="263" r:id="rId12"/>
    <p:sldId id="285" r:id="rId13"/>
    <p:sldId id="270" r:id="rId14"/>
    <p:sldId id="272" r:id="rId15"/>
    <p:sldId id="269" r:id="rId16"/>
    <p:sldId id="265" r:id="rId17"/>
    <p:sldId id="266" r:id="rId18"/>
    <p:sldId id="267" r:id="rId19"/>
    <p:sldId id="273" r:id="rId20"/>
    <p:sldId id="277" r:id="rId21"/>
    <p:sldId id="274" r:id="rId22"/>
    <p:sldId id="276" r:id="rId23"/>
    <p:sldId id="275" r:id="rId24"/>
    <p:sldId id="279" r:id="rId25"/>
    <p:sldId id="278" r:id="rId26"/>
    <p:sldId id="280" r:id="rId27"/>
    <p:sldId id="282" r:id="rId28"/>
    <p:sldId id="286" r:id="rId29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0CD1"/>
    <a:srgbClr val="EE0000"/>
    <a:srgbClr val="C60AAB"/>
    <a:srgbClr val="B4C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25" autoAdjust="0"/>
    <p:restoredTop sz="90835" autoAdjust="0"/>
  </p:normalViewPr>
  <p:slideViewPr>
    <p:cSldViewPr snapToGrid="0">
      <p:cViewPr varScale="1">
        <p:scale>
          <a:sx n="129" d="100"/>
          <a:sy n="129" d="100"/>
        </p:scale>
        <p:origin x="891" y="7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121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988D68-4F99-9897-2557-7FAECD4DA1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ADEEC-0B42-A9F3-3777-C0EA477BF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5FA2A-DBCD-493C-9076-F445FB125593}" type="datetimeFigureOut">
              <a:rPr lang="pt-BR" smtClean="0"/>
              <a:t>18/08/2024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AC39A-6257-8199-1F59-3BEB2B790F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https://docs.python.org/3/library/math.html#math.fmod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E1CD6-5B5B-8C1F-E3BC-E3CD777457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7B1E4-7D48-4B42-B482-E0FA798597D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4681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18/08/2024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https://docs.python.org/3/library/math.html#math.fmod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Poderíamos usar list? Sim… mas teriamos que convencionar que o índice zero fosse o nome e o índice 1 fosse o preço.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4537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530725"/>
          </a:xfr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02</a:t>
            </a:r>
            <a:r>
              <a:rPr lang="pt-BR" noProof="0"/>
              <a:t> </a:t>
            </a:r>
            <a:r>
              <a:rPr lang="pt-BR" noProof="0" dirty="0"/>
              <a:t>– Paradigmas de Programação e Programação Procedural</a:t>
            </a:r>
            <a:br>
              <a:rPr lang="pt-BR" noProof="0" dirty="0"/>
            </a:br>
            <a:br>
              <a:rPr lang="pt-BR" noProof="0" dirty="0"/>
            </a:br>
            <a:endParaRPr lang="pt-BR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1501" y="5165043"/>
            <a:ext cx="3191164" cy="600135"/>
          </a:xfrm>
        </p:spPr>
        <p:txBody>
          <a:bodyPr/>
          <a:lstStyle/>
          <a:p>
            <a:r>
              <a:rPr lang="pt-BR" sz="3600" noProof="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1C76-97A6-3BE1-4200-0E8E93A1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Paradigmas de Programação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FD546-B407-B2E0-CD78-156C2B51C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Estilo de estruturação de um programa</a:t>
            </a:r>
          </a:p>
          <a:p>
            <a:r>
              <a:rPr lang="pt-BR" noProof="0" dirty="0"/>
              <a:t>Vamos estudar 2 deles:</a:t>
            </a:r>
          </a:p>
          <a:p>
            <a:pPr lvl="1"/>
            <a:r>
              <a:rPr lang="pt-BR" noProof="0" dirty="0"/>
              <a:t>Programação Procedural (</a:t>
            </a:r>
            <a:r>
              <a:rPr lang="pt-BR" i="1" noProof="0" dirty="0"/>
              <a:t>Procedural Programming</a:t>
            </a:r>
            <a:r>
              <a:rPr lang="pt-BR" noProof="0" dirty="0"/>
              <a:t>)</a:t>
            </a:r>
          </a:p>
          <a:p>
            <a:pPr lvl="1"/>
            <a:r>
              <a:rPr lang="pt-BR" noProof="0" dirty="0"/>
              <a:t>Programação Orientada a Objetos (</a:t>
            </a:r>
            <a:r>
              <a:rPr lang="pt-BR" i="1" noProof="0" dirty="0"/>
              <a:t>Object-Oriented </a:t>
            </a:r>
            <a:r>
              <a:rPr lang="pt-BR" i="1" dirty="0"/>
              <a:t>P</a:t>
            </a:r>
            <a:r>
              <a:rPr lang="pt-BR" i="1" noProof="0" dirty="0"/>
              <a:t>rogramming (OOP)</a:t>
            </a:r>
            <a:r>
              <a:rPr lang="pt-BR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574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1096-F394-FB9D-28F5-4316F4675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Programação Procedural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F9A8-6FB3-5558-7705-041A2B9F3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Foco em funções e algoritmos</a:t>
            </a:r>
          </a:p>
          <a:p>
            <a:r>
              <a:rPr lang="pt-BR" noProof="0" dirty="0"/>
              <a:t>A estrutura de dados é o segundo passo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1EA2FC-E3B9-E441-730C-1F3638982348}"/>
              </a:ext>
            </a:extLst>
          </p:cNvPr>
          <p:cNvSpPr/>
          <p:nvPr/>
        </p:nvSpPr>
        <p:spPr>
          <a:xfrm>
            <a:off x="4346219" y="1376525"/>
            <a:ext cx="1857721" cy="47718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9F0147-280C-5261-4842-DCE4AE9A248A}"/>
              </a:ext>
            </a:extLst>
          </p:cNvPr>
          <p:cNvCxnSpPr>
            <a:cxnSpLocks/>
          </p:cNvCxnSpPr>
          <p:nvPr/>
        </p:nvCxnSpPr>
        <p:spPr>
          <a:xfrm>
            <a:off x="6215064" y="1615119"/>
            <a:ext cx="135342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4668AFD-8959-3B04-8442-4E77D38E93A5}"/>
              </a:ext>
            </a:extLst>
          </p:cNvPr>
          <p:cNvSpPr txBox="1"/>
          <p:nvPr/>
        </p:nvSpPr>
        <p:spPr>
          <a:xfrm>
            <a:off x="7614597" y="1261176"/>
            <a:ext cx="3393180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Sequência</a:t>
            </a:r>
            <a:r>
              <a:rPr lang="en-US" sz="2000" dirty="0"/>
              <a:t> de instruções a </a:t>
            </a:r>
            <a:r>
              <a:rPr lang="pt-BR" sz="2000" dirty="0"/>
              <a:t>serem</a:t>
            </a:r>
            <a:r>
              <a:rPr lang="en-US" sz="2000" dirty="0"/>
              <a:t> executadas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E8C636-1AD5-E7D5-2D78-DF304AEE2837}"/>
              </a:ext>
            </a:extLst>
          </p:cNvPr>
          <p:cNvSpPr/>
          <p:nvPr/>
        </p:nvSpPr>
        <p:spPr>
          <a:xfrm>
            <a:off x="1367376" y="2343433"/>
            <a:ext cx="3269938" cy="47718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6BE33DA-26B8-B6FA-EE98-8DD6267B3BD1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2865241" y="2957725"/>
            <a:ext cx="1298294" cy="1024086"/>
          </a:xfrm>
          <a:prstGeom prst="bentConnector3">
            <a:avLst>
              <a:gd name="adj1" fmla="val 99716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659924-DF3E-23A7-B28F-CC5840422355}"/>
              </a:ext>
            </a:extLst>
          </p:cNvPr>
          <p:cNvSpPr txBox="1"/>
          <p:nvPr/>
        </p:nvSpPr>
        <p:spPr>
          <a:xfrm>
            <a:off x="4026433" y="3611084"/>
            <a:ext cx="4418319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Listas, </a:t>
            </a:r>
            <a:r>
              <a:rPr lang="en-US" sz="2000" dirty="0" err="1"/>
              <a:t>dicionários</a:t>
            </a:r>
            <a:r>
              <a:rPr lang="en-US" sz="2000"/>
              <a:t>, conjuntos, etc. Também inclui estruturas mais complexas como árvores e grafos.  </a:t>
            </a:r>
          </a:p>
        </p:txBody>
      </p:sp>
    </p:spTree>
    <p:extLst>
      <p:ext uri="{BB962C8B-B14F-4D97-AF65-F5344CB8AC3E}">
        <p14:creationId xmlns:p14="http://schemas.microsoft.com/office/powerpoint/2010/main" val="294259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1096-F394-FB9D-28F5-4316F4675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 (Questão)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F9A8-6FB3-5558-7705-041A2B9F3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Escreva um programa, seguindo a filosofia procedural, que calcule o valor total de uma compra de supermercado:</a:t>
            </a:r>
          </a:p>
          <a:p>
            <a:pPr lvl="1"/>
            <a:r>
              <a:rPr lang="pt-BR" noProof="0" dirty="0"/>
              <a:t>Cada produto deve ter nome e preço associados.</a:t>
            </a:r>
          </a:p>
          <a:p>
            <a:pPr lvl="1"/>
            <a:r>
              <a:rPr lang="pt-BR" noProof="0" dirty="0"/>
              <a:t>Os produtos são inseridos pelo usuário. Por simplificação, considere que são exatamente 3 produtos.</a:t>
            </a:r>
          </a:p>
          <a:p>
            <a:pPr lvl="1"/>
            <a:r>
              <a:rPr lang="pt-BR" noProof="0" dirty="0"/>
              <a:t>É possível que seja aplicado um desconto ao valor final da compra (também inserido pelo usuário).</a:t>
            </a:r>
          </a:p>
          <a:p>
            <a:pPr lvl="1"/>
            <a:r>
              <a:rPr lang="pt-BR" noProof="0" dirty="0"/>
              <a:t>O programa deve escrever a lista de produtos.</a:t>
            </a:r>
          </a:p>
          <a:p>
            <a:pPr lvl="2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0012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4051-5C52-C656-6EEA-484681112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EF0AE-FA43-E7F2-BA1B-8250CF6FC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noProof="0" dirty="0"/>
          </a:p>
          <a:p>
            <a:r>
              <a:rPr lang="pt-BR" noProof="0" dirty="0"/>
              <a:t>Função 1: pede que o usuário insira os produtos e adiciona cada item ao carrinho de compras</a:t>
            </a:r>
          </a:p>
          <a:p>
            <a:pPr lvl="1"/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add_items</a:t>
            </a:r>
          </a:p>
          <a:p>
            <a:r>
              <a:rPr lang="pt-BR" noProof="0" dirty="0"/>
              <a:t>Função 2: calcula o preço final da compra</a:t>
            </a:r>
          </a:p>
          <a:p>
            <a:pPr lvl="1"/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calculate_total_price</a:t>
            </a:r>
          </a:p>
          <a:p>
            <a:pPr lvl="1"/>
            <a:endParaRPr lang="pt-BR" i="1" noProof="0" dirty="0"/>
          </a:p>
          <a:p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66E77-0111-0EC5-CC30-650453974D43}"/>
              </a:ext>
            </a:extLst>
          </p:cNvPr>
          <p:cNvSpPr txBox="1"/>
          <p:nvPr/>
        </p:nvSpPr>
        <p:spPr>
          <a:xfrm>
            <a:off x="3557923" y="1092241"/>
            <a:ext cx="44183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1º Passo: </a:t>
            </a:r>
            <a:r>
              <a:rPr lang="en-US" sz="2000" dirty="0" err="1"/>
              <a:t>definir</a:t>
            </a:r>
            <a:r>
              <a:rPr lang="en-US" sz="2000"/>
              <a:t> as funções e algoritmos</a:t>
            </a:r>
          </a:p>
        </p:txBody>
      </p:sp>
    </p:spTree>
    <p:extLst>
      <p:ext uri="{BB962C8B-B14F-4D97-AF65-F5344CB8AC3E}">
        <p14:creationId xmlns:p14="http://schemas.microsoft.com/office/powerpoint/2010/main" val="90187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1918-8F3C-D7DA-4900-4A0ACE1E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A1B13-50CB-6813-5177-5907CD2FE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noProof="0" dirty="0"/>
          </a:p>
          <a:p>
            <a:r>
              <a:rPr lang="pt-BR" noProof="0" dirty="0"/>
              <a:t>Função 3: Escreve os itens no carrinho</a:t>
            </a:r>
          </a:p>
          <a:p>
            <a:pPr lvl="1"/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list_items</a:t>
            </a:r>
          </a:p>
          <a:p>
            <a:r>
              <a:rPr lang="pt-BR" noProof="0" dirty="0"/>
              <a:t>Função 4: lógica principal do programa. Chama as outras funções e faz as interações com o usuário que não estiverem em outras funções.</a:t>
            </a:r>
          </a:p>
          <a:p>
            <a:pPr lvl="1"/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  <a:p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EC496-86EF-B3E1-646C-839F5AED8A01}"/>
              </a:ext>
            </a:extLst>
          </p:cNvPr>
          <p:cNvSpPr txBox="1"/>
          <p:nvPr/>
        </p:nvSpPr>
        <p:spPr>
          <a:xfrm>
            <a:off x="3557923" y="1092241"/>
            <a:ext cx="44183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1º Passo: definir as funções e algoritmos</a:t>
            </a:r>
          </a:p>
        </p:txBody>
      </p:sp>
    </p:spTree>
    <p:extLst>
      <p:ext uri="{BB962C8B-B14F-4D97-AF65-F5344CB8AC3E}">
        <p14:creationId xmlns:p14="http://schemas.microsoft.com/office/powerpoint/2010/main" val="60757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7067-E2EB-BA77-677D-FDA2D355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17AEC-8E96-B0D3-E3A6-978E91217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986646"/>
          </a:xfrm>
        </p:spPr>
        <p:txBody>
          <a:bodyPr/>
          <a:lstStyle/>
          <a:p>
            <a:r>
              <a:rPr lang="pt-BR" noProof="0" dirty="0"/>
              <a:t>Algoritmo para a função </a:t>
            </a:r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add_items</a:t>
            </a:r>
            <a:r>
              <a:rPr lang="pt-BR" noProof="0" dirty="0"/>
              <a:t>:</a:t>
            </a:r>
          </a:p>
          <a:p>
            <a:pPr lvl="1"/>
            <a:r>
              <a:rPr lang="pt-BR" noProof="0" dirty="0"/>
              <a:t>3 iterações:</a:t>
            </a:r>
          </a:p>
          <a:p>
            <a:pPr lvl="2"/>
            <a:r>
              <a:rPr lang="pt-BR" noProof="0" dirty="0"/>
              <a:t>Pede que o usuário insira o nome e o preço do produto</a:t>
            </a:r>
          </a:p>
          <a:p>
            <a:pPr lvl="2"/>
            <a:r>
              <a:rPr lang="pt-BR" noProof="0" dirty="0"/>
              <a:t>Guarda o produto no carrinho</a:t>
            </a:r>
          </a:p>
          <a:p>
            <a:r>
              <a:rPr lang="pt-BR" noProof="0" dirty="0"/>
              <a:t>Algoritmo para a função </a:t>
            </a:r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calculate_total_price</a:t>
            </a:r>
            <a:r>
              <a:rPr lang="pt-BR" noProof="0" dirty="0"/>
              <a:t>:</a:t>
            </a:r>
          </a:p>
          <a:p>
            <a:pPr lvl="1"/>
            <a:r>
              <a:rPr lang="pt-BR" noProof="0" dirty="0"/>
              <a:t>Percorre todos os itens do carrinho e acumula o valor</a:t>
            </a:r>
          </a:p>
          <a:p>
            <a:pPr lvl="1"/>
            <a:r>
              <a:rPr lang="pt-BR" noProof="0" dirty="0"/>
              <a:t>Aplica o desconto no valor total</a:t>
            </a:r>
          </a:p>
          <a:p>
            <a:pPr lvl="1"/>
            <a:r>
              <a:rPr lang="pt-BR" noProof="0" dirty="0"/>
              <a:t>Retorna o valor calculado</a:t>
            </a:r>
            <a:endParaRPr lang="pt-BR" i="1" noProof="0" dirty="0"/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7738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7067-E2EB-BA77-677D-FDA2D355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17AEC-8E96-B0D3-E3A6-978E91217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3676169"/>
          </a:xfrm>
        </p:spPr>
        <p:txBody>
          <a:bodyPr/>
          <a:lstStyle/>
          <a:p>
            <a:r>
              <a:rPr lang="pt-BR" noProof="0" dirty="0"/>
              <a:t>Algoritmo para a função </a:t>
            </a:r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list_items</a:t>
            </a:r>
            <a:r>
              <a:rPr lang="pt-BR" i="1" noProof="0" dirty="0"/>
              <a:t>:</a:t>
            </a:r>
          </a:p>
          <a:p>
            <a:pPr lvl="1"/>
            <a:r>
              <a:rPr lang="pt-BR" noProof="0" dirty="0"/>
              <a:t>Escrevemos o nome e o preço de cada item</a:t>
            </a:r>
          </a:p>
          <a:p>
            <a:endParaRPr lang="pt-B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53FF2-EC2D-7807-BE1B-07D5A680236E}"/>
              </a:ext>
            </a:extLst>
          </p:cNvPr>
          <p:cNvSpPr txBox="1"/>
          <p:nvPr/>
        </p:nvSpPr>
        <p:spPr>
          <a:xfrm>
            <a:off x="3506696" y="3023324"/>
            <a:ext cx="44183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Note que não abordamos as estruturas de dados</a:t>
            </a:r>
          </a:p>
        </p:txBody>
      </p:sp>
    </p:spTree>
    <p:extLst>
      <p:ext uri="{BB962C8B-B14F-4D97-AF65-F5344CB8AC3E}">
        <p14:creationId xmlns:p14="http://schemas.microsoft.com/office/powerpoint/2010/main" val="26744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246B-6BB3-8904-8B71-4AFC27AF9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AA5A6-5B61-31C2-4B94-9F151BDA0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noProof="0" dirty="0"/>
          </a:p>
          <a:p>
            <a:r>
              <a:rPr lang="pt-BR" noProof="0" dirty="0"/>
              <a:t>As 3 funções operam sobre o </a:t>
            </a:r>
            <a:r>
              <a:rPr lang="pt-BR" u="sng" noProof="0" dirty="0"/>
              <a:t>item</a:t>
            </a:r>
            <a:r>
              <a:rPr lang="pt-BR" noProof="0" dirty="0"/>
              <a:t>, que possui 2 campos:</a:t>
            </a:r>
          </a:p>
          <a:p>
            <a:pPr lvl="1"/>
            <a:r>
              <a:rPr lang="pt-BR" noProof="0" dirty="0"/>
              <a:t>Nome: string (</a:t>
            </a:r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pt-BR" noProof="0" dirty="0"/>
              <a:t>)</a:t>
            </a:r>
          </a:p>
          <a:p>
            <a:pPr lvl="1"/>
            <a:r>
              <a:rPr lang="pt-BR" noProof="0" dirty="0"/>
              <a:t>Preço: </a:t>
            </a:r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r>
              <a:rPr lang="pt-BR" noProof="0" dirty="0"/>
              <a:t>Podemos usar como estrutura de dados para modelar o item um </a:t>
            </a:r>
            <a:r>
              <a:rPr lang="pt-BR" u="sng" noProof="0" dirty="0"/>
              <a:t>dicionário</a:t>
            </a:r>
            <a:r>
              <a:rPr lang="pt-BR" noProof="0" dirty="0"/>
              <a:t> (</a:t>
            </a:r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pt-BR" noProof="0" dirty="0"/>
              <a:t>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0B1B9-8301-4E05-8086-7267A7F10AC2}"/>
              </a:ext>
            </a:extLst>
          </p:cNvPr>
          <p:cNvSpPr txBox="1"/>
          <p:nvPr/>
        </p:nvSpPr>
        <p:spPr>
          <a:xfrm>
            <a:off x="3557923" y="1295401"/>
            <a:ext cx="44183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2º Passo: definir a estrutura de dados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D4F09A-0BCF-20AD-4BFC-B9110FACE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194987"/>
              </p:ext>
            </p:extLst>
          </p:nvPr>
        </p:nvGraphicFramePr>
        <p:xfrm>
          <a:off x="1080888" y="5816386"/>
          <a:ext cx="10335023" cy="653570"/>
        </p:xfrm>
        <a:graphic>
          <a:graphicData uri="http://schemas.openxmlformats.org/drawingml/2006/table">
            <a:tbl>
              <a:tblPr firstRow="1" firstCol="1" bandRow="1"/>
              <a:tblGrid>
                <a:gridCol w="55238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9782637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5357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2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 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"name"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</a:t>
                      </a:r>
                      <a:endParaRPr lang="pt-BR" sz="24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98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246B-6BB3-8904-8B71-4AFC27AF9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AA5A6-5B61-31C2-4B94-9F151BDA0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noProof="0" dirty="0"/>
          </a:p>
          <a:p>
            <a:r>
              <a:rPr lang="pt-BR" noProof="0" dirty="0"/>
              <a:t>As 3 funções</a:t>
            </a:r>
            <a:r>
              <a:rPr lang="pt-BR" i="1" noProof="0" dirty="0"/>
              <a:t> </a:t>
            </a:r>
            <a:r>
              <a:rPr lang="pt-BR" noProof="0" dirty="0"/>
              <a:t>também</a:t>
            </a:r>
            <a:r>
              <a:rPr lang="pt-BR" i="1" noProof="0" dirty="0"/>
              <a:t> </a:t>
            </a:r>
            <a:r>
              <a:rPr lang="pt-BR" noProof="0" dirty="0"/>
              <a:t>usam o </a:t>
            </a:r>
            <a:r>
              <a:rPr lang="pt-BR" u="sng" noProof="0" dirty="0"/>
              <a:t>carrinho de supermercado</a:t>
            </a:r>
            <a:r>
              <a:rPr lang="pt-BR" noProof="0" dirty="0"/>
              <a:t>, que contém uma lista de produtos (</a:t>
            </a:r>
            <a:r>
              <a:rPr lang="pt-BR" i="1" noProof="0" dirty="0"/>
              <a:t>item</a:t>
            </a:r>
            <a:r>
              <a:rPr lang="pt-BR" noProof="0" dirty="0"/>
              <a:t>)</a:t>
            </a:r>
          </a:p>
          <a:p>
            <a:r>
              <a:rPr lang="pt-BR" noProof="0" dirty="0"/>
              <a:t>Portanto, devemos ter uma estrutura pra armazenar essa lista de produtos (</a:t>
            </a:r>
            <a:r>
              <a:rPr lang="pt-BR" i="1" noProof="0" dirty="0"/>
              <a:t>item</a:t>
            </a:r>
            <a:r>
              <a:rPr lang="pt-BR" noProof="0" dirty="0"/>
              <a:t>):</a:t>
            </a:r>
          </a:p>
          <a:p>
            <a:pPr lvl="1"/>
            <a:r>
              <a:rPr lang="pt-BR" noProof="0" dirty="0"/>
              <a:t>Lista (</a:t>
            </a:r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pt-BR" noProof="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0B1B9-8301-4E05-8086-7267A7F10AC2}"/>
              </a:ext>
            </a:extLst>
          </p:cNvPr>
          <p:cNvSpPr txBox="1"/>
          <p:nvPr/>
        </p:nvSpPr>
        <p:spPr>
          <a:xfrm>
            <a:off x="3557923" y="1295401"/>
            <a:ext cx="44183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2º Passo: definir a estrutura de dados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D4F09A-0BCF-20AD-4BFC-B9110FACE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106022"/>
              </p:ext>
            </p:extLst>
          </p:nvPr>
        </p:nvGraphicFramePr>
        <p:xfrm>
          <a:off x="1080888" y="5816386"/>
          <a:ext cx="10335023" cy="653570"/>
        </p:xfrm>
        <a:graphic>
          <a:graphicData uri="http://schemas.openxmlformats.org/drawingml/2006/table">
            <a:tbl>
              <a:tblPr firstRow="1" firstCol="1" bandRow="1"/>
              <a:tblGrid>
                <a:gridCol w="55238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9782637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5357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2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 </a:t>
                      </a:r>
                      <a:r>
                        <a:rPr lang="pt-BR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24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94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503D-832A-DE2E-A73C-4A91F7DA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7C01AE-B953-C2FE-7EE2-5F7EDD7C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831609"/>
              </p:ext>
            </p:extLst>
          </p:nvPr>
        </p:nvGraphicFramePr>
        <p:xfrm>
          <a:off x="109585" y="1952904"/>
          <a:ext cx="11972829" cy="2568296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56829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shopping_cart </a:t>
                      </a:r>
                      <a:r>
                        <a:rPr kumimoji="0" lang="pt-BR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[]</a:t>
                      </a:r>
                      <a:endParaRPr kumimoji="0" lang="pt-BR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0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add_itens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nome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preco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$"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"name"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       shopping_cart.append(item)</a:t>
                      </a:r>
                      <a:endParaRPr lang="en-US" sz="20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C265832-F8CA-85E7-8060-E1AEFECC4A93}"/>
              </a:ext>
            </a:extLst>
          </p:cNvPr>
          <p:cNvSpPr/>
          <p:nvPr/>
        </p:nvSpPr>
        <p:spPr>
          <a:xfrm>
            <a:off x="1240094" y="2897579"/>
            <a:ext cx="2775017" cy="2850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C3451F-B43C-EE0B-78E6-D8AD740E1F20}"/>
              </a:ext>
            </a:extLst>
          </p:cNvPr>
          <p:cNvSpPr txBox="1"/>
          <p:nvPr/>
        </p:nvSpPr>
        <p:spPr>
          <a:xfrm>
            <a:off x="6691018" y="1158677"/>
            <a:ext cx="1926510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3 iterações</a:t>
            </a:r>
            <a:endParaRPr lang="en-US" sz="2000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FC00416-15E2-7B22-22DF-9E5A2D584490}"/>
              </a:ext>
            </a:extLst>
          </p:cNvPr>
          <p:cNvCxnSpPr>
            <a:cxnSpLocks/>
          </p:cNvCxnSpPr>
          <p:nvPr/>
        </p:nvCxnSpPr>
        <p:spPr>
          <a:xfrm flipV="1">
            <a:off x="3579222" y="1358732"/>
            <a:ext cx="3111795" cy="1509657"/>
          </a:xfrm>
          <a:prstGeom prst="bentConnector3">
            <a:avLst>
              <a:gd name="adj1" fmla="val 341"/>
            </a:avLst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04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503D-832A-DE2E-A73C-4A91F7DA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7C01AE-B953-C2FE-7EE2-5F7EDD7CA1F7}"/>
              </a:ext>
            </a:extLst>
          </p:cNvPr>
          <p:cNvGraphicFramePr>
            <a:graphicFrameLocks noGrp="1"/>
          </p:cNvGraphicFramePr>
          <p:nvPr/>
        </p:nvGraphicFramePr>
        <p:xfrm>
          <a:off x="109585" y="1952904"/>
          <a:ext cx="11972829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63097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shopping_cart </a:t>
                      </a:r>
                      <a:r>
                        <a:rPr kumimoji="0" lang="pt-BR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[]</a:t>
                      </a:r>
                      <a:endParaRPr kumimoji="0" lang="pt-BR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0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add_itens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nome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preco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$"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"name"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       shopping_cart.append(item)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endParaRPr lang="en-US" sz="20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C265832-F8CA-85E7-8060-E1AEFECC4A93}"/>
              </a:ext>
            </a:extLst>
          </p:cNvPr>
          <p:cNvSpPr/>
          <p:nvPr/>
        </p:nvSpPr>
        <p:spPr>
          <a:xfrm>
            <a:off x="1798234" y="3145080"/>
            <a:ext cx="9328945" cy="6550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FC00416-15E2-7B22-22DF-9E5A2D58449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83661" y="1637725"/>
            <a:ext cx="1786347" cy="1228365"/>
          </a:xfrm>
          <a:prstGeom prst="bentConnector3">
            <a:avLst>
              <a:gd name="adj1" fmla="val 99859"/>
            </a:avLst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0683355-DDAA-0B4C-EEC9-5A8383CEAC2A}"/>
              </a:ext>
            </a:extLst>
          </p:cNvPr>
          <p:cNvSpPr txBox="1"/>
          <p:nvPr/>
        </p:nvSpPr>
        <p:spPr>
          <a:xfrm>
            <a:off x="6691017" y="1008219"/>
            <a:ext cx="3393180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/>
              <a:t>Pede que o usuário insira o nome e o preço do produto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855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503D-832A-DE2E-A73C-4A91F7DA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7C01AE-B953-C2FE-7EE2-5F7EDD7C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578114"/>
              </p:ext>
            </p:extLst>
          </p:nvPr>
        </p:nvGraphicFramePr>
        <p:xfrm>
          <a:off x="109585" y="1952904"/>
          <a:ext cx="11972829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63097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shopping_cart </a:t>
                      </a:r>
                      <a:r>
                        <a:rPr kumimoji="0" lang="pt-BR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[]</a:t>
                      </a:r>
                      <a:endParaRPr kumimoji="0" lang="pt-BR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0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add_itens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nome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preco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$"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"name"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       shopping_cart.append(item)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endParaRPr lang="en-US" sz="20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8B80C0-44CC-EB2A-FDB1-29A1BC28AD45}"/>
              </a:ext>
            </a:extLst>
          </p:cNvPr>
          <p:cNvCxnSpPr>
            <a:cxnSpLocks/>
          </p:cNvCxnSpPr>
          <p:nvPr/>
        </p:nvCxnSpPr>
        <p:spPr>
          <a:xfrm>
            <a:off x="6769698" y="4089068"/>
            <a:ext cx="0" cy="12937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F8665A5-3B40-F608-81C4-51A25E051AC0}"/>
              </a:ext>
            </a:extLst>
          </p:cNvPr>
          <p:cNvSpPr txBox="1"/>
          <p:nvPr/>
        </p:nvSpPr>
        <p:spPr>
          <a:xfrm>
            <a:off x="5363648" y="5390465"/>
            <a:ext cx="3154918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/>
              <a:t>O produto modelado como um dictionário (</a:t>
            </a:r>
            <a:r>
              <a:rPr lang="pt-BR" sz="2000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pt-BR" sz="2000"/>
              <a:t>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9E2F7C-2632-0DD4-B7D0-B54864B3F4DF}"/>
              </a:ext>
            </a:extLst>
          </p:cNvPr>
          <p:cNvSpPr/>
          <p:nvPr/>
        </p:nvSpPr>
        <p:spPr>
          <a:xfrm>
            <a:off x="1768546" y="3820482"/>
            <a:ext cx="5823746" cy="28046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798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503D-832A-DE2E-A73C-4A91F7DA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7C01AE-B953-C2FE-7EE2-5F7EDD7C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58082"/>
              </p:ext>
            </p:extLst>
          </p:nvPr>
        </p:nvGraphicFramePr>
        <p:xfrm>
          <a:off x="109585" y="1952904"/>
          <a:ext cx="11972829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63097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shopping_cart </a:t>
                      </a:r>
                      <a:r>
                        <a:rPr kumimoji="0" lang="pt-BR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[]</a:t>
                      </a:r>
                      <a:endParaRPr kumimoji="0" lang="pt-BR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0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add_itens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nome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preco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$"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"name"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       shopping_cart.append(item)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endParaRPr lang="en-US" sz="20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2071246-3C5D-F7D1-9AE9-7B2724534EED}"/>
              </a:ext>
            </a:extLst>
          </p:cNvPr>
          <p:cNvSpPr/>
          <p:nvPr/>
        </p:nvSpPr>
        <p:spPr>
          <a:xfrm>
            <a:off x="1814068" y="4075808"/>
            <a:ext cx="3946715" cy="36160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8B80C0-44CC-EB2A-FDB1-29A1BC28AD45}"/>
              </a:ext>
            </a:extLst>
          </p:cNvPr>
          <p:cNvCxnSpPr>
            <a:cxnSpLocks/>
          </p:cNvCxnSpPr>
          <p:nvPr/>
        </p:nvCxnSpPr>
        <p:spPr>
          <a:xfrm>
            <a:off x="3579222" y="4437412"/>
            <a:ext cx="0" cy="12937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F8665A5-3B40-F608-81C4-51A25E051AC0}"/>
              </a:ext>
            </a:extLst>
          </p:cNvPr>
          <p:cNvSpPr txBox="1"/>
          <p:nvPr/>
        </p:nvSpPr>
        <p:spPr>
          <a:xfrm>
            <a:off x="2173172" y="5738809"/>
            <a:ext cx="2930510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/>
              <a:t>Guarda os produtos no carrinho</a:t>
            </a:r>
          </a:p>
        </p:txBody>
      </p:sp>
    </p:spTree>
    <p:extLst>
      <p:ext uri="{BB962C8B-B14F-4D97-AF65-F5344CB8AC3E}">
        <p14:creationId xmlns:p14="http://schemas.microsoft.com/office/powerpoint/2010/main" val="56843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503D-832A-DE2E-A73C-4A91F7DA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7C01AE-B953-C2FE-7EE2-5F7EDD7C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6790"/>
              </p:ext>
            </p:extLst>
          </p:nvPr>
        </p:nvGraphicFramePr>
        <p:xfrm>
          <a:off x="72708" y="1082041"/>
          <a:ext cx="11972829" cy="5706679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70667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5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5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  <a:endParaRPr lang="en-US" sz="195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</a:p>
                    <a:p>
                      <a:endParaRPr lang="pt-BR" sz="195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5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add_items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  <a:endParaRPr lang="pt-BR" sz="195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5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5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195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5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5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5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nome do item {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"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5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5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5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preco do item {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$"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endParaRPr lang="pt-BR" sz="195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5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"name"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</a:t>
                      </a:r>
                      <a:endParaRPr lang="pt-BR" sz="195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5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endParaRPr lang="pt-BR" sz="195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5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discount_rate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</a:p>
                    <a:p>
                      <a:r>
                        <a:rPr lang="pt-BR" sz="195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5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5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5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5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95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195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5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5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5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5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5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f"Produto: {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'name'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Preco: ${</a:t>
                      </a:r>
                      <a:r>
                        <a:rPr lang="pt-BR" sz="19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'price'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95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95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5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46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C9B5-ADA6-2493-36E3-747F68E6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4FC194-FC34-88AE-A17C-7F4E2960C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655529"/>
              </p:ext>
            </p:extLst>
          </p:nvPr>
        </p:nvGraphicFramePr>
        <p:xfrm>
          <a:off x="167710" y="1231787"/>
          <a:ext cx="11964913" cy="5165055"/>
        </p:xfrm>
        <a:graphic>
          <a:graphicData uri="http://schemas.openxmlformats.org/drawingml/2006/table">
            <a:tbl>
              <a:tblPr firstRow="1" firstCol="1" bandRow="1"/>
              <a:tblGrid>
                <a:gridCol w="497308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467605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16505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2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2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  <a:endParaRPr lang="en-US" sz="22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2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Lógica principal</a:t>
                      </a:r>
                      <a:endParaRPr lang="pt-BR" sz="22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2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add_items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list_items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discount_rate 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2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2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"\nEntre com a porcentagem de"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                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 desconto (0, se nenhum): "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endParaRPr lang="pt-BR" sz="22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total_price 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calculate_total_price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discount_rate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22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print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f"\nO valor total apos desconto de {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discount_rate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}%"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 foi de: ${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__name__ 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"__main__"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pt-BR" sz="22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05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38EA-1764-A558-D92E-252A06F0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B12EF-0AE6-1D81-49E3-37485717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Testando o código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47F799-5BC2-C05A-1ECD-7F30707B9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006416"/>
              </p:ext>
            </p:extLst>
          </p:nvPr>
        </p:nvGraphicFramePr>
        <p:xfrm>
          <a:off x="2121725" y="2076835"/>
          <a:ext cx="8566067" cy="4331882"/>
        </p:xfrm>
        <a:graphic>
          <a:graphicData uri="http://schemas.openxmlformats.org/drawingml/2006/table">
            <a:tbl>
              <a:tblPr firstRow="1" firstCol="1" bandRow="1"/>
              <a:tblGrid>
                <a:gridCol w="8566067">
                  <a:extLst>
                    <a:ext uri="{9D8B030D-6E8A-4147-A177-3AD203B41FA5}">
                      <a16:colId xmlns:a16="http://schemas.microsoft.com/office/drawing/2014/main" val="1269773458"/>
                    </a:ext>
                  </a:extLst>
                </a:gridCol>
              </a:tblGrid>
              <a:tr h="43318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nome do item 1: Banana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preco do item 1: $8.90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nome do item 2: Arroz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preco do item 2: $7.50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nome do item 3: Detergente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preco do item 3: $2.00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Produto: Banana, Preco: $8.90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Produto: Arroz, Preco: $7.50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Produto: Detergente, Preco: $2.00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a porcentagem de desconto (0, se nenhum): 10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 valor total apos desconto de 10.0% foi de: $16.56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99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40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3834-52B1-2E2B-8A8A-BF7F33D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F7A8-C5A6-E6A3-3CD7-1AAC0EE13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Como podemos melhorar o código?</a:t>
            </a:r>
          </a:p>
          <a:p>
            <a:pPr lvl="1"/>
            <a:r>
              <a:rPr lang="pt-BR" noProof="0" dirty="0"/>
              <a:t>Substituir a variável global </a:t>
            </a:r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shopping_cart </a:t>
            </a:r>
            <a:r>
              <a:rPr lang="pt-BR" noProof="0" dirty="0"/>
              <a:t>por uma variável local</a:t>
            </a:r>
          </a:p>
        </p:txBody>
      </p:sp>
    </p:spTree>
    <p:extLst>
      <p:ext uri="{BB962C8B-B14F-4D97-AF65-F5344CB8AC3E}">
        <p14:creationId xmlns:p14="http://schemas.microsoft.com/office/powerpoint/2010/main" val="382199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503D-832A-DE2E-A73C-4A91F7DA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7C01AE-B953-C2FE-7EE2-5F7EDD7C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146650"/>
              </p:ext>
            </p:extLst>
          </p:nvPr>
        </p:nvGraphicFramePr>
        <p:xfrm>
          <a:off x="72708" y="1022671"/>
          <a:ext cx="11972829" cy="5835329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83532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</a:p>
                    <a:p>
                      <a:endParaRPr lang="pt-BR" sz="20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nome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preco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$"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"name"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discount_rate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</a:p>
                    <a:p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f"Produto: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'name'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Preco: ${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'price'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F37B62A-574A-2FAE-7AD5-7580B9538563}"/>
              </a:ext>
            </a:extLst>
          </p:cNvPr>
          <p:cNvSpPr/>
          <p:nvPr/>
        </p:nvSpPr>
        <p:spPr>
          <a:xfrm>
            <a:off x="537471" y="1026904"/>
            <a:ext cx="2902415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E7F9577-51B9-E473-4EB3-5DBC35F48AF4}"/>
              </a:ext>
            </a:extLst>
          </p:cNvPr>
          <p:cNvCxnSpPr>
            <a:cxnSpLocks/>
          </p:cNvCxnSpPr>
          <p:nvPr/>
        </p:nvCxnSpPr>
        <p:spPr>
          <a:xfrm>
            <a:off x="3439886" y="1195447"/>
            <a:ext cx="13767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56385C-CEB8-6766-E9D3-CF39FF4A8958}"/>
              </a:ext>
            </a:extLst>
          </p:cNvPr>
          <p:cNvSpPr txBox="1"/>
          <p:nvPr/>
        </p:nvSpPr>
        <p:spPr>
          <a:xfrm>
            <a:off x="4816661" y="995392"/>
            <a:ext cx="2181864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/>
              <a:t>Variável Global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92CA5D-9C93-5387-2963-6E8991E667EA}"/>
              </a:ext>
            </a:extLst>
          </p:cNvPr>
          <p:cNvSpPr/>
          <p:nvPr/>
        </p:nvSpPr>
        <p:spPr>
          <a:xfrm>
            <a:off x="1758650" y="3158251"/>
            <a:ext cx="2033537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2AE300-006B-AB63-653F-13380308965C}"/>
              </a:ext>
            </a:extLst>
          </p:cNvPr>
          <p:cNvSpPr/>
          <p:nvPr/>
        </p:nvSpPr>
        <p:spPr>
          <a:xfrm>
            <a:off x="3003580" y="4363596"/>
            <a:ext cx="2033537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7B6599-CFD0-73B3-9FA3-5EF8D52AFEDE}"/>
              </a:ext>
            </a:extLst>
          </p:cNvPr>
          <p:cNvSpPr/>
          <p:nvPr/>
        </p:nvSpPr>
        <p:spPr>
          <a:xfrm>
            <a:off x="2967954" y="6174435"/>
            <a:ext cx="2033537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0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3834-52B1-2E2B-8A8A-BF7F33D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F7A8-C5A6-E6A3-3CD7-1AAC0EE13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Reescrevendo o código sem usar variável global:</a:t>
            </a:r>
          </a:p>
        </p:txBody>
      </p:sp>
    </p:spTree>
    <p:extLst>
      <p:ext uri="{BB962C8B-B14F-4D97-AF65-F5344CB8AC3E}">
        <p14:creationId xmlns:p14="http://schemas.microsoft.com/office/powerpoint/2010/main" val="1072869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503D-832A-DE2E-A73C-4A91F7DA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7C01AE-B953-C2FE-7EE2-5F7EDD7C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182917"/>
              </p:ext>
            </p:extLst>
          </p:nvPr>
        </p:nvGraphicFramePr>
        <p:xfrm>
          <a:off x="72708" y="1022671"/>
          <a:ext cx="11972829" cy="5835329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83532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nome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preco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$"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"name"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f"Item: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'name'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Price: ${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'price'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48AFF66-2BDD-A10A-3908-6B4306950CAA}"/>
              </a:ext>
            </a:extLst>
          </p:cNvPr>
          <p:cNvSpPr/>
          <p:nvPr/>
        </p:nvSpPr>
        <p:spPr>
          <a:xfrm>
            <a:off x="1123320" y="1315595"/>
            <a:ext cx="2902415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79E2AE-6C0A-202D-B575-D7DD75E40BAD}"/>
              </a:ext>
            </a:extLst>
          </p:cNvPr>
          <p:cNvCxnSpPr>
            <a:cxnSpLocks/>
          </p:cNvCxnSpPr>
          <p:nvPr/>
        </p:nvCxnSpPr>
        <p:spPr>
          <a:xfrm>
            <a:off x="4033653" y="1483986"/>
            <a:ext cx="13767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55D9243-06EB-2DBF-E516-01B6130CBE6F}"/>
              </a:ext>
            </a:extLst>
          </p:cNvPr>
          <p:cNvSpPr txBox="1"/>
          <p:nvPr/>
        </p:nvSpPr>
        <p:spPr>
          <a:xfrm>
            <a:off x="5418346" y="1290994"/>
            <a:ext cx="3990871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/>
              <a:t>Transformada em variável local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932FC3-8093-2060-6944-E4DB85503A72}"/>
              </a:ext>
            </a:extLst>
          </p:cNvPr>
          <p:cNvSpPr/>
          <p:nvPr/>
        </p:nvSpPr>
        <p:spPr>
          <a:xfrm>
            <a:off x="1131238" y="3151427"/>
            <a:ext cx="3128045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F3B5DE-298C-20BA-18E0-C6707BBF1943}"/>
              </a:ext>
            </a:extLst>
          </p:cNvPr>
          <p:cNvCxnSpPr>
            <a:cxnSpLocks/>
          </p:cNvCxnSpPr>
          <p:nvPr/>
        </p:nvCxnSpPr>
        <p:spPr>
          <a:xfrm>
            <a:off x="4261264" y="3314580"/>
            <a:ext cx="13767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A5A97C8-27C0-E818-5C12-5F2CB8EEBC28}"/>
              </a:ext>
            </a:extLst>
          </p:cNvPr>
          <p:cNvSpPr txBox="1"/>
          <p:nvPr/>
        </p:nvSpPr>
        <p:spPr>
          <a:xfrm>
            <a:off x="5645957" y="3157210"/>
            <a:ext cx="6189783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/>
              <a:t>Retornada para que as outras funções possam usar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A0FEB2-B96B-7DD6-75AB-C95589496978}"/>
              </a:ext>
            </a:extLst>
          </p:cNvPr>
          <p:cNvSpPr/>
          <p:nvPr/>
        </p:nvSpPr>
        <p:spPr>
          <a:xfrm>
            <a:off x="4531978" y="3748189"/>
            <a:ext cx="2019244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EEDB32-976E-08BC-3023-514B202ED91E}"/>
              </a:ext>
            </a:extLst>
          </p:cNvPr>
          <p:cNvSpPr/>
          <p:nvPr/>
        </p:nvSpPr>
        <p:spPr>
          <a:xfrm>
            <a:off x="2851620" y="5903560"/>
            <a:ext cx="2019244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11BB70-8D82-4676-4C3B-DD17EDFA3154}"/>
              </a:ext>
            </a:extLst>
          </p:cNvPr>
          <p:cNvCxnSpPr/>
          <p:nvPr/>
        </p:nvCxnSpPr>
        <p:spPr>
          <a:xfrm>
            <a:off x="6551222" y="4099097"/>
            <a:ext cx="1227116" cy="9360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33CE5E-055B-8AEC-0927-1262A8FFDA87}"/>
              </a:ext>
            </a:extLst>
          </p:cNvPr>
          <p:cNvCxnSpPr>
            <a:cxnSpLocks/>
          </p:cNvCxnSpPr>
          <p:nvPr/>
        </p:nvCxnSpPr>
        <p:spPr>
          <a:xfrm flipV="1">
            <a:off x="4870864" y="5035138"/>
            <a:ext cx="2907474" cy="9971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352D524-F2D6-2257-EA6B-6323A922DB98}"/>
              </a:ext>
            </a:extLst>
          </p:cNvPr>
          <p:cNvSpPr txBox="1"/>
          <p:nvPr/>
        </p:nvSpPr>
        <p:spPr>
          <a:xfrm>
            <a:off x="7860213" y="4728205"/>
            <a:ext cx="4015112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/>
              <a:t>As outras funções recebem </a:t>
            </a:r>
            <a:r>
              <a:rPr lang="pt-BR" sz="2000">
                <a:latin typeface="Courier New" panose="02070309020205020404" pitchFamily="49" charset="0"/>
                <a:cs typeface="Courier New" panose="02070309020205020404" pitchFamily="49" charset="0"/>
              </a:rPr>
              <a:t>shopping_cart</a:t>
            </a:r>
            <a:r>
              <a:rPr lang="pt-BR" sz="2000" i="1"/>
              <a:t> </a:t>
            </a:r>
            <a:r>
              <a:rPr lang="pt-BR" sz="2000"/>
              <a:t>como parâmetro</a:t>
            </a:r>
          </a:p>
        </p:txBody>
      </p:sp>
    </p:spTree>
    <p:extLst>
      <p:ext uri="{BB962C8B-B14F-4D97-AF65-F5344CB8AC3E}">
        <p14:creationId xmlns:p14="http://schemas.microsoft.com/office/powerpoint/2010/main" val="16044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C9B5-ADA6-2493-36E3-747F68E6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4FC194-FC34-88AE-A17C-7F4E2960C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900015"/>
              </p:ext>
            </p:extLst>
          </p:nvPr>
        </p:nvGraphicFramePr>
        <p:xfrm>
          <a:off x="167710" y="1231788"/>
          <a:ext cx="11964913" cy="5460749"/>
        </p:xfrm>
        <a:graphic>
          <a:graphicData uri="http://schemas.openxmlformats.org/drawingml/2006/table">
            <a:tbl>
              <a:tblPr firstRow="1" firstCol="1" bandRow="1"/>
              <a:tblGrid>
                <a:gridCol w="497308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467605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46074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2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2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sz="22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2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Lógica principal</a:t>
                      </a:r>
                      <a:endParaRPr lang="pt-BR" sz="22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2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shopping_cart = add_items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list_items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discount_rate 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2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2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"\nEntre com a porcentagem de"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                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 desconto (0, se nenhum): "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endParaRPr lang="pt-BR" sz="22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total_price 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calculate_total_price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shopping_cart,    </a:t>
                      </a: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                        discount_rate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22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print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f"\nO valor total apos desconto de {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discount_rate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}%"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 foi de: ${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__name__ 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"__main__"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22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2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22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pt-BR" sz="22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6AED7D8-D6C4-AFA9-200D-06E7AC010B85}"/>
              </a:ext>
            </a:extLst>
          </p:cNvPr>
          <p:cNvSpPr/>
          <p:nvPr/>
        </p:nvSpPr>
        <p:spPr>
          <a:xfrm>
            <a:off x="1310556" y="1920841"/>
            <a:ext cx="2368816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369A9E-FF85-479C-967D-4876C538E3E0}"/>
              </a:ext>
            </a:extLst>
          </p:cNvPr>
          <p:cNvSpPr/>
          <p:nvPr/>
        </p:nvSpPr>
        <p:spPr>
          <a:xfrm>
            <a:off x="3113230" y="2246042"/>
            <a:ext cx="2468963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DCD1E5-838D-EF2A-5D58-E1DCF5A14BC4}"/>
              </a:ext>
            </a:extLst>
          </p:cNvPr>
          <p:cNvSpPr/>
          <p:nvPr/>
        </p:nvSpPr>
        <p:spPr>
          <a:xfrm>
            <a:off x="7406556" y="3933478"/>
            <a:ext cx="2251250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5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FB6D-E70D-7D53-292B-4D5945D7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A395A-3F61-8D4B-6C38-7B74734EA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O exemplo completo se encontra na </a:t>
            </a:r>
            <a:r>
              <a:rPr lang="pt-BR" noProof="0"/>
              <a:t>pasta “Arquivos</a:t>
            </a:r>
            <a:r>
              <a:rPr lang="pt-BR" noProof="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50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FB6D-E70D-7D53-292B-4D5945D7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 (Considerações Finais)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B87214-5A85-242C-6C3D-6C42CF1276AF}"/>
              </a:ext>
            </a:extLst>
          </p:cNvPr>
          <p:cNvGraphicFramePr>
            <a:graphicFrameLocks noGrp="1"/>
          </p:cNvGraphicFramePr>
          <p:nvPr/>
        </p:nvGraphicFramePr>
        <p:xfrm>
          <a:off x="109585" y="1481849"/>
          <a:ext cx="11972829" cy="1958036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95803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endParaRPr lang="en-US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en-US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return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  <a:endParaRPr lang="en-US" sz="20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9AFF50E-0908-7FEC-C49B-CF63A81F0E97}"/>
              </a:ext>
            </a:extLst>
          </p:cNvPr>
          <p:cNvSpPr/>
          <p:nvPr/>
        </p:nvSpPr>
        <p:spPr>
          <a:xfrm>
            <a:off x="1190613" y="2099366"/>
            <a:ext cx="5867288" cy="9130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508DDF-FD8A-E847-93B1-D9A5670BB576}"/>
              </a:ext>
            </a:extLst>
          </p:cNvPr>
          <p:cNvGraphicFramePr>
            <a:graphicFrameLocks noGrp="1"/>
          </p:cNvGraphicFramePr>
          <p:nvPr/>
        </p:nvGraphicFramePr>
        <p:xfrm>
          <a:off x="81875" y="5132120"/>
          <a:ext cx="11972829" cy="162494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62494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en-US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  <a:endParaRPr lang="en-US" sz="20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CCD2D3-8D77-B0A2-BF85-E955794ACE81}"/>
              </a:ext>
            </a:extLst>
          </p:cNvPr>
          <p:cNvCxnSpPr>
            <a:cxnSpLocks/>
          </p:cNvCxnSpPr>
          <p:nvPr/>
        </p:nvCxnSpPr>
        <p:spPr>
          <a:xfrm>
            <a:off x="4762005" y="3012374"/>
            <a:ext cx="0" cy="26917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E1B3F8B-94D1-9DFE-112F-5D0B1F8EABCD}"/>
              </a:ext>
            </a:extLst>
          </p:cNvPr>
          <p:cNvSpPr/>
          <p:nvPr/>
        </p:nvSpPr>
        <p:spPr>
          <a:xfrm>
            <a:off x="1135194" y="5751029"/>
            <a:ext cx="8885600" cy="65373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088B7-99D5-32F5-B001-27C44201C6F2}"/>
              </a:ext>
            </a:extLst>
          </p:cNvPr>
          <p:cNvSpPr txBox="1"/>
          <p:nvPr/>
        </p:nvSpPr>
        <p:spPr>
          <a:xfrm>
            <a:off x="5008648" y="3898620"/>
            <a:ext cx="49191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Quais as implicações dessa substituição? Qual forma é melhor?</a:t>
            </a:r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35549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FB6D-E70D-7D53-292B-4D5945D7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 (Considerações Finais)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4E9736F-65CB-25D1-9301-877E62CC3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06" y="3660435"/>
            <a:ext cx="10972800" cy="3124333"/>
          </a:xfrm>
        </p:spPr>
        <p:txBody>
          <a:bodyPr/>
          <a:lstStyle/>
          <a:p>
            <a:r>
              <a:rPr lang="pt-BR" noProof="0" dirty="0"/>
              <a:t>Na primeira versão, a operação de multiplicação por </a:t>
            </a:r>
            <a:r>
              <a:rPr lang="pt-BR" sz="2800" noProof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1-discount_rate</a:t>
            </a:r>
            <a:r>
              <a:rPr lang="pt-BR" sz="2800" b="1" noProof="0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/</a:t>
            </a:r>
            <a:r>
              <a:rPr lang="pt-BR" sz="2800" noProof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100 </a:t>
            </a:r>
            <a:r>
              <a:rPr lang="pt-BR" sz="2800" noProof="0" dirty="0"/>
              <a:t>é</a:t>
            </a:r>
            <a:r>
              <a:rPr lang="pt-BR" sz="2800" noProof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t-BR" noProof="0" dirty="0"/>
              <a:t>realizada uma única vez, enquanto  na segunda versão é realizada para toda iteração do loop.</a:t>
            </a:r>
          </a:p>
          <a:p>
            <a:pPr lvl="1"/>
            <a:r>
              <a:rPr lang="pt-BR" noProof="0" dirty="0"/>
              <a:t>Consequência: a implementação do segundo algoritmo é mais lenta</a:t>
            </a:r>
          </a:p>
          <a:p>
            <a:pPr lvl="1"/>
            <a:r>
              <a:rPr lang="pt-BR" noProof="0" dirty="0"/>
              <a:t>Note que quanto maior o número de itens, maior é a diferença de desempenho.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EBEF09-C0BE-B730-6032-D2D50DC85464}"/>
              </a:ext>
            </a:extLst>
          </p:cNvPr>
          <p:cNvSpPr txBox="1"/>
          <p:nvPr/>
        </p:nvSpPr>
        <p:spPr>
          <a:xfrm>
            <a:off x="257297" y="2364862"/>
            <a:ext cx="97219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item </a:t>
            </a:r>
            <a:r>
              <a:rPr lang="en-US" sz="18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shopping_cart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endParaRPr lang="en-US" sz="1800" b="1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1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total_price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+=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item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sz="180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"price"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]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*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80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-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discount_rate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/</a:t>
            </a:r>
            <a:r>
              <a:rPr lang="en-US" sz="180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100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17F7B8-2BB7-EB3B-37C4-18BE60F1B316}"/>
              </a:ext>
            </a:extLst>
          </p:cNvPr>
          <p:cNvSpPr txBox="1"/>
          <p:nvPr/>
        </p:nvSpPr>
        <p:spPr>
          <a:xfrm>
            <a:off x="296883" y="111123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item </a:t>
            </a:r>
            <a:r>
              <a:rPr lang="en-US" sz="18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shopping_cart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</a:p>
          <a:p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   total_price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+=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item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sz="180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"price"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]</a:t>
            </a:r>
            <a:endParaRPr lang="en-US" sz="1800" b="1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total_price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*=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80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-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discount_rate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/</a:t>
            </a:r>
            <a:r>
              <a:rPr lang="en-US" sz="180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100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en-US" sz="1800" b="1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541221-3A69-EB27-38B9-D475144213FE}"/>
              </a:ext>
            </a:extLst>
          </p:cNvPr>
          <p:cNvSpPr/>
          <p:nvPr/>
        </p:nvSpPr>
        <p:spPr>
          <a:xfrm>
            <a:off x="296883" y="1124371"/>
            <a:ext cx="5867288" cy="9130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D53CD8-F541-8799-7426-FC9188F7CF2F}"/>
              </a:ext>
            </a:extLst>
          </p:cNvPr>
          <p:cNvSpPr/>
          <p:nvPr/>
        </p:nvSpPr>
        <p:spPr>
          <a:xfrm>
            <a:off x="299971" y="2403283"/>
            <a:ext cx="8885600" cy="65373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37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6F64-2FB6-075B-49CE-C369AB25B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 (Considerações Finais)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A42FF25-6725-2CFE-5D6D-0240C9D11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06" y="3232941"/>
            <a:ext cx="11354294" cy="3124333"/>
          </a:xfrm>
        </p:spPr>
        <p:txBody>
          <a:bodyPr/>
          <a:lstStyle/>
          <a:p>
            <a:r>
              <a:rPr lang="pt-BR" noProof="0" dirty="0"/>
              <a:t>Outro problema do segundo algoritmo é a propagação de erros</a:t>
            </a:r>
          </a:p>
          <a:p>
            <a:pPr lvl="1"/>
            <a:r>
              <a:rPr lang="pt-BR" noProof="0" dirty="0"/>
              <a:t>Operações em ponto flutuante podem conduzir a erros</a:t>
            </a:r>
          </a:p>
          <a:p>
            <a:pPr lvl="2"/>
            <a:r>
              <a:rPr lang="pt-BR" noProof="0" dirty="0"/>
              <a:t>Um </a:t>
            </a:r>
            <a:r>
              <a:rPr lang="pt-BR" sz="2400" noProof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float</a:t>
            </a:r>
            <a:r>
              <a:rPr lang="pt-BR" noProof="0" dirty="0"/>
              <a:t> em Python possui 64 bits</a:t>
            </a:r>
          </a:p>
          <a:p>
            <a:pPr lvl="1"/>
            <a:r>
              <a:rPr lang="pt-BR" noProof="0" dirty="0"/>
              <a:t>Portanto, deve-se minimizar o número de operações, quando possível</a:t>
            </a:r>
          </a:p>
          <a:p>
            <a:pPr lvl="2"/>
            <a:r>
              <a:rPr lang="pt-BR" noProof="0" dirty="0"/>
              <a:t>Na 1ª versão, a multiplicação por </a:t>
            </a:r>
            <a:r>
              <a:rPr lang="pt-BR" noProof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1-discount_rate</a:t>
            </a:r>
            <a:r>
              <a:rPr lang="pt-BR" b="1" noProof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</a:t>
            </a:r>
            <a:r>
              <a:rPr lang="pt-BR" noProof="0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100 </a:t>
            </a:r>
            <a:r>
              <a:rPr lang="pt-BR" noProof="0" dirty="0">
                <a:highlight>
                  <a:srgbClr val="FFFFFF"/>
                </a:highlight>
              </a:rPr>
              <a:t>acontece 1 vez, enquanto na 2ª versão acontece N vezes (N sendo o número de itens)</a:t>
            </a:r>
            <a:endParaRPr lang="pt-BR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ACBABA-3C26-BAD8-6310-4E54A4EBC7EB}"/>
              </a:ext>
            </a:extLst>
          </p:cNvPr>
          <p:cNvSpPr txBox="1"/>
          <p:nvPr/>
        </p:nvSpPr>
        <p:spPr>
          <a:xfrm>
            <a:off x="257297" y="2364862"/>
            <a:ext cx="97219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item </a:t>
            </a:r>
            <a:r>
              <a:rPr lang="en-US" sz="18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shopping_cart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endParaRPr lang="en-US" sz="1800" b="1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1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total_price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+=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item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sz="180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"price"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]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*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80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-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discount_rate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/</a:t>
            </a:r>
            <a:r>
              <a:rPr lang="en-US" sz="180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100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45F5E2-6429-40EF-6D43-70ABB2512716}"/>
              </a:ext>
            </a:extLst>
          </p:cNvPr>
          <p:cNvSpPr txBox="1"/>
          <p:nvPr/>
        </p:nvSpPr>
        <p:spPr>
          <a:xfrm>
            <a:off x="296883" y="111123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item </a:t>
            </a:r>
            <a:r>
              <a:rPr lang="en-US" sz="18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in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shopping_cart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</a:p>
          <a:p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   total_price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+=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item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sz="180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"price"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]</a:t>
            </a:r>
            <a:endParaRPr lang="en-US" sz="1800" b="1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1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total_price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*=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80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-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 discount_rate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/</a:t>
            </a:r>
            <a:r>
              <a:rPr lang="en-US" sz="180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100</a:t>
            </a:r>
            <a:r>
              <a:rPr lang="en-US" sz="18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en-US" sz="1800" b="1">
              <a:solidFill>
                <a:srgbClr val="000000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FD3A20-B5C6-A680-9ED2-F02ECDCAA777}"/>
              </a:ext>
            </a:extLst>
          </p:cNvPr>
          <p:cNvSpPr/>
          <p:nvPr/>
        </p:nvSpPr>
        <p:spPr>
          <a:xfrm>
            <a:off x="343506" y="1121558"/>
            <a:ext cx="5867288" cy="9130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08409E-DDBA-4ED0-47DD-FB4D27AE9D68}"/>
              </a:ext>
            </a:extLst>
          </p:cNvPr>
          <p:cNvSpPr/>
          <p:nvPr/>
        </p:nvSpPr>
        <p:spPr>
          <a:xfrm>
            <a:off x="299971" y="2403283"/>
            <a:ext cx="8885600" cy="65373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7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 animBg="1"/>
      <p:bldP spid="2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CC6F-D94C-63C9-9A14-580C6947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 (Considerações Finais)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A429C-A65F-189D-3745-66563B988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Se os descontos tivessem um máximo de 1 casa decimal, esse problema poderia ocorrer?</a:t>
            </a:r>
          </a:p>
          <a:p>
            <a:pPr lvl="1"/>
            <a:r>
              <a:rPr lang="pt-BR" noProof="0" dirty="0"/>
              <a:t>Sim. Devemos lembrar que os números são armazenados em binário no computador.</a:t>
            </a:r>
          </a:p>
          <a:p>
            <a:pPr lvl="1"/>
            <a:r>
              <a:rPr lang="pt-BR" noProof="0" dirty="0"/>
              <a:t>Um desconto de 10%, resulta em uma multiplicação por 0.9. E em binário 0.9 é uma dízima periódica:</a:t>
            </a:r>
          </a:p>
          <a:p>
            <a:pPr lvl="2"/>
            <a:r>
              <a:rPr lang="pt-BR" noProof="0" dirty="0"/>
              <a:t>(0.9)</a:t>
            </a:r>
            <a:r>
              <a:rPr lang="pt-BR" baseline="-25000" noProof="0" dirty="0"/>
              <a:t>10</a:t>
            </a:r>
            <a:r>
              <a:rPr lang="pt-BR" noProof="0" dirty="0"/>
              <a:t> = (0.111001100110011...)</a:t>
            </a:r>
            <a:r>
              <a:rPr lang="pt-BR" baseline="-25000" noProof="0" dirty="0"/>
              <a:t>2</a:t>
            </a:r>
          </a:p>
          <a:p>
            <a:pPr marL="344487" lvl="1" indent="0"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3231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5844-7AD7-7730-C880-0D97D93F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 (Considerações Finais)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25E86-23EC-701C-0BA3-55B0BA7AE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5308599"/>
          </a:xfrm>
        </p:spPr>
        <p:txBody>
          <a:bodyPr/>
          <a:lstStyle/>
          <a:p>
            <a:r>
              <a:rPr lang="pt-BR" dirty="0"/>
              <a:t>Paradigmas de programação não são receitas inflexíveis. Programação procedural é focada em funções e algoritmos e, como segundo passo, a estrutura de dados. Entretanto, à medida que se estrutura os algoritmos, a estrutura de dados começa se revelar como consequência </a:t>
            </a:r>
            <a:r>
              <a:rPr lang="pt-BR"/>
              <a:t>natural. Ou seja, o segundo passo pode, em dado momento, começar a correr em paralelo a montagem do algoritmo.</a:t>
            </a:r>
            <a:endParaRPr lang="pt-BR" dirty="0"/>
          </a:p>
          <a:p>
            <a:r>
              <a:rPr lang="pt-BR" dirty="0"/>
              <a:t>Não devemos, em programação, tentar impor um paradigma aos problemas. São os paradigmas que devem se adaptar ao mundo real. É necessário pragmatismo.</a:t>
            </a:r>
          </a:p>
        </p:txBody>
      </p:sp>
    </p:spTree>
    <p:extLst>
      <p:ext uri="{BB962C8B-B14F-4D97-AF65-F5344CB8AC3E}">
        <p14:creationId xmlns:p14="http://schemas.microsoft.com/office/powerpoint/2010/main" val="215535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10336</TotalTime>
  <Words>2414</Words>
  <Application>Microsoft Office PowerPoint</Application>
  <PresentationFormat>Widescreen</PresentationFormat>
  <Paragraphs>396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Courier New</vt:lpstr>
      <vt:lpstr>Garamond</vt:lpstr>
      <vt:lpstr>Times New Roman</vt:lpstr>
      <vt:lpstr>Wingdings</vt:lpstr>
      <vt:lpstr>Tema Padrão</vt:lpstr>
      <vt:lpstr>02 – Paradigmas de Programação e Programação Procedural  </vt:lpstr>
      <vt:lpstr>Paradigmas de Programação</vt:lpstr>
      <vt:lpstr>Programação Procedural</vt:lpstr>
      <vt:lpstr>Exemplo 1 (Questão)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 (Considerações Finais)</vt:lpstr>
      <vt:lpstr>Exemplo 1 (Considerações Finais)</vt:lpstr>
      <vt:lpstr>Exemplo 1 (Considerações Finais)</vt:lpstr>
      <vt:lpstr>Exemplo 1 (Considerações Finais)</vt:lpstr>
      <vt:lpstr>Exemplo 1 (Considerações Finais)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</cp:lastModifiedBy>
  <cp:revision>571</cp:revision>
  <dcterms:created xsi:type="dcterms:W3CDTF">2017-06-20T21:36:17Z</dcterms:created>
  <dcterms:modified xsi:type="dcterms:W3CDTF">2024-08-18T18:26:45Z</dcterms:modified>
</cp:coreProperties>
</file>