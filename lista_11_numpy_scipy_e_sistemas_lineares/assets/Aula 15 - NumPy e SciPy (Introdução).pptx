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311" r:id="rId3"/>
    <p:sldId id="312" r:id="rId4"/>
    <p:sldId id="314" r:id="rId5"/>
    <p:sldId id="313" r:id="rId6"/>
    <p:sldId id="299" r:id="rId7"/>
    <p:sldId id="315" r:id="rId8"/>
    <p:sldId id="316" r:id="rId9"/>
    <p:sldId id="317" r:id="rId10"/>
    <p:sldId id="318" r:id="rId11"/>
    <p:sldId id="306" r:id="rId12"/>
    <p:sldId id="320" r:id="rId13"/>
    <p:sldId id="322" r:id="rId14"/>
    <p:sldId id="309" r:id="rId15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0CD1"/>
    <a:srgbClr val="EE0000"/>
    <a:srgbClr val="C60AAB"/>
    <a:srgbClr val="B4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11" autoAdjust="0"/>
    <p:restoredTop sz="78778" autoAdjust="0"/>
  </p:normalViewPr>
  <p:slideViewPr>
    <p:cSldViewPr snapToGrid="0">
      <p:cViewPr varScale="1">
        <p:scale>
          <a:sx n="142" d="100"/>
          <a:sy n="142" d="100"/>
        </p:scale>
        <p:origin x="391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988D68-4F99-9897-2557-7FAECD4DA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DEEC-0B42-A9F3-3777-C0EA477BF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5FA2A-DBCD-493C-9076-F445FB125593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AC39A-6257-8199-1F59-3BEB2B790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E1CD6-5B5B-8C1F-E3BC-E3CD777457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7B1E4-7D48-4B42-B482-E0FA798597D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681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31 – Numpy e SciPy</a:t>
            </a:r>
            <a:br>
              <a:rPr lang="pt-BR"/>
            </a:br>
            <a:r>
              <a:rPr lang="pt-BR"/>
              <a:t>(I – Introdução)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501" y="5165043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4F0F-DF17-2623-938E-2670C101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Bibliografia – Livros 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4579-F1E9-9A04-249D-F2590B7A9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Numerical Python: Scientific Computing and Data Science Applications with Numpy, SciPy and Matplotlib</a:t>
            </a:r>
          </a:p>
          <a:p>
            <a:pPr lvl="1"/>
            <a:r>
              <a:rPr lang="pt-BR"/>
              <a:t>Autor: Robert Johansson</a:t>
            </a:r>
            <a:endParaRPr lang="en-US" i="1"/>
          </a:p>
          <a:p>
            <a:r>
              <a:rPr lang="en-US" i="1"/>
              <a:t>Data Analysis: Numpy, Matplotlib and Pandas</a:t>
            </a:r>
          </a:p>
          <a:p>
            <a:pPr lvl="1"/>
            <a:r>
              <a:rPr lang="pt-BR"/>
              <a:t>Autor: Bernd Klein</a:t>
            </a:r>
            <a:endParaRPr lang="en-US" i="1"/>
          </a:p>
          <a:p>
            <a:pPr lvl="1"/>
            <a:r>
              <a:rPr lang="en-US"/>
              <a:t>Disponível em:</a:t>
            </a:r>
          </a:p>
          <a:p>
            <a:pPr marL="344487" lvl="1" indent="0">
              <a:buNone/>
            </a:pPr>
            <a:r>
              <a:rPr lang="en-US" sz="2400"/>
              <a:t>    https://python-course.eu/books/bernd_klein_python_data_analysis_a4.pdf</a:t>
            </a: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93556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3B41-9FC6-A514-F55A-568D48E0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Vídeos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BE64A-3570-FFD8-58C1-DB5AF7565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NumPy Tutorial (2022): For Physicists, Engineers, and Mathematicians</a:t>
            </a:r>
          </a:p>
          <a:p>
            <a:pPr lvl="1"/>
            <a:r>
              <a:rPr lang="en-US"/>
              <a:t>https://www.youtube.com/watch?v=DcfYgePyedMaa</a:t>
            </a:r>
          </a:p>
        </p:txBody>
      </p:sp>
    </p:spTree>
    <p:extLst>
      <p:ext uri="{BB962C8B-B14F-4D97-AF65-F5344CB8AC3E}">
        <p14:creationId xmlns:p14="http://schemas.microsoft.com/office/powerpoint/2010/main" val="53461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6C59C-24DF-5C3A-C954-77C3A2C0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Bibliografia – Tutoriais (Oficiais) 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47730-D3A6-EB6A-F202-ECA38C9C7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NumPy: the absolute basics for beginners</a:t>
            </a:r>
          </a:p>
          <a:p>
            <a:pPr lvl="1"/>
            <a:r>
              <a:rPr lang="pt-BR"/>
              <a:t>https://numpy.org/doc/stable/user/absolute_beginners.html</a:t>
            </a:r>
          </a:p>
          <a:p>
            <a:r>
              <a:rPr lang="en-US"/>
              <a:t>NumPy: User Guide</a:t>
            </a:r>
          </a:p>
          <a:p>
            <a:pPr lvl="1"/>
            <a:r>
              <a:rPr lang="en-US"/>
              <a:t>https://numpy.org/doc/stable/user/index.html#user</a:t>
            </a:r>
          </a:p>
          <a:p>
            <a:r>
              <a:rPr lang="en-US"/>
              <a:t>SciPy: User Guide</a:t>
            </a:r>
          </a:p>
          <a:p>
            <a:pPr lvl="1"/>
            <a:r>
              <a:rPr lang="en-US"/>
              <a:t>https://docs.scipy.org/doc/scipy/tutorial/index.html</a:t>
            </a:r>
          </a:p>
        </p:txBody>
      </p:sp>
    </p:spTree>
    <p:extLst>
      <p:ext uri="{BB962C8B-B14F-4D97-AF65-F5344CB8AC3E}">
        <p14:creationId xmlns:p14="http://schemas.microsoft.com/office/powerpoint/2010/main" val="64623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4866-D88D-E9B8-02C8-53872D27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Bibliografia – Reference 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AC24A-D815-E6B9-B6D6-6465770BC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NumPy</a:t>
            </a:r>
          </a:p>
          <a:p>
            <a:pPr lvl="1"/>
            <a:r>
              <a:rPr lang="pt-BR"/>
              <a:t>https://numpy.org/doc/stable/reference/index.html#reference</a:t>
            </a:r>
          </a:p>
          <a:p>
            <a:r>
              <a:rPr lang="en-US"/>
              <a:t>SciPy</a:t>
            </a:r>
          </a:p>
          <a:p>
            <a:pPr lvl="1"/>
            <a:r>
              <a:rPr lang="en-US"/>
              <a:t>https://docs.scipy.org/doc/scipy/reference/index.html</a:t>
            </a:r>
          </a:p>
        </p:txBody>
      </p:sp>
    </p:spTree>
    <p:extLst>
      <p:ext uri="{BB962C8B-B14F-4D97-AF65-F5344CB8AC3E}">
        <p14:creationId xmlns:p14="http://schemas.microsoft.com/office/powerpoint/2010/main" val="189755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1EC5-0B9F-C1BC-A114-598A78F5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BC80-11D0-FB26-CEDB-B7C8EEBE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78396"/>
          </a:xfrm>
        </p:spPr>
        <p:txBody>
          <a:bodyPr/>
          <a:lstStyle/>
          <a:p>
            <a:r>
              <a:rPr lang="en-US"/>
              <a:t>Numpy é uma biblioteca para computação científica em Python</a:t>
            </a:r>
          </a:p>
          <a:p>
            <a:pPr lvl="1"/>
            <a:r>
              <a:rPr lang="en-US"/>
              <a:t>Baseada em C</a:t>
            </a:r>
          </a:p>
          <a:p>
            <a:pPr lvl="2"/>
            <a:r>
              <a:rPr lang="en-US"/>
              <a:t>Obtém um desempenho próximo de uma linguagem de baixo nível...</a:t>
            </a:r>
          </a:p>
          <a:p>
            <a:pPr lvl="2"/>
            <a:r>
              <a:rPr lang="en-US"/>
              <a:t>preservando a simplicidade do Python</a:t>
            </a:r>
            <a:endParaRPr lang="pt-BR"/>
          </a:p>
          <a:p>
            <a:r>
              <a:rPr lang="en-US"/>
              <a:t>SciPy é uma coleção de algoritmos que expande as ferramentas do NumPy</a:t>
            </a:r>
          </a:p>
          <a:p>
            <a:pPr lvl="1"/>
            <a:r>
              <a:rPr lang="en-US"/>
              <a:t>Operações com matrizes esparsas</a:t>
            </a:r>
          </a:p>
          <a:p>
            <a:pPr lvl="1"/>
            <a:r>
              <a:rPr lang="en-US"/>
              <a:t>Solução de EDO</a:t>
            </a:r>
          </a:p>
        </p:txBody>
      </p:sp>
    </p:spTree>
    <p:extLst>
      <p:ext uri="{BB962C8B-B14F-4D97-AF65-F5344CB8AC3E}">
        <p14:creationId xmlns:p14="http://schemas.microsoft.com/office/powerpoint/2010/main" val="370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AF2D-1D2E-04E2-D760-9213FB98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B07D-A441-4797-6FA7-772B8862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Vetorização (</a:t>
            </a:r>
            <a:r>
              <a:rPr lang="en-US" i="1"/>
              <a:t>Vectorization</a:t>
            </a:r>
            <a:r>
              <a:rPr lang="en-US"/>
              <a:t>)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BCE8-9037-129C-7609-291AD4A46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78396"/>
          </a:xfrm>
        </p:spPr>
        <p:txBody>
          <a:bodyPr/>
          <a:lstStyle/>
          <a:p>
            <a:r>
              <a:rPr lang="en-US"/>
              <a:t>Uma das principais características do NumPy</a:t>
            </a:r>
          </a:p>
          <a:p>
            <a:pPr lvl="1"/>
            <a:r>
              <a:rPr lang="en-US"/>
              <a:t>Eliminação de loops e indexação explícitas </a:t>
            </a:r>
          </a:p>
          <a:p>
            <a:pPr lvl="1"/>
            <a:endParaRPr lang="en-US"/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20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5233-E331-3943-6274-6FED9226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1E72-2CA0-7E96-3396-1CA095F5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Vetorização (</a:t>
            </a:r>
            <a:r>
              <a:rPr lang="en-US" i="1"/>
              <a:t>Vectorization</a:t>
            </a:r>
            <a:r>
              <a:rPr lang="en-US"/>
              <a:t>) – 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5113-9507-088C-5AE3-76F98AD5E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78396"/>
          </a:xfrm>
        </p:spPr>
        <p:txBody>
          <a:bodyPr/>
          <a:lstStyle/>
          <a:p>
            <a:r>
              <a:rPr lang="en-US"/>
              <a:t>Vamos escrever um código que some duas listas sem usar NumPy</a:t>
            </a:r>
          </a:p>
          <a:p>
            <a:endParaRPr lang="en-US"/>
          </a:p>
          <a:p>
            <a:pPr lvl="1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146E51-5A02-EA3B-8641-3313F2D8E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3275"/>
              </p:ext>
            </p:extLst>
          </p:nvPr>
        </p:nvGraphicFramePr>
        <p:xfrm>
          <a:off x="151623" y="2470639"/>
          <a:ext cx="11363384" cy="2827504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82750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20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list1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list2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"Sem vetorização:"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result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[11, 22, 33, 44, 55]</a:t>
                      </a:r>
                      <a:endParaRPr lang="pt-BR" sz="18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872BF6B-96A7-5271-FB25-7FA93E804D1F}"/>
              </a:ext>
            </a:extLst>
          </p:cNvPr>
          <p:cNvSpPr/>
          <p:nvPr/>
        </p:nvSpPr>
        <p:spPr>
          <a:xfrm>
            <a:off x="609600" y="3807442"/>
            <a:ext cx="4992061" cy="65314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695792-28B4-9EA4-5232-63656BC0B2E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601661" y="4134013"/>
            <a:ext cx="17781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B3963E-D651-1361-5FE3-9427500E4C9A}"/>
              </a:ext>
            </a:extLst>
          </p:cNvPr>
          <p:cNvSpPr txBox="1"/>
          <p:nvPr/>
        </p:nvSpPr>
        <p:spPr>
          <a:xfrm>
            <a:off x="7379836" y="3949347"/>
            <a:ext cx="1095653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351369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BC32-2965-9EFB-DB79-EF1F5FC0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0A0EB1-A5F6-F506-9CD0-316C8DE72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818475"/>
              </p:ext>
            </p:extLst>
          </p:nvPr>
        </p:nvGraphicFramePr>
        <p:xfrm>
          <a:off x="151623" y="2470639"/>
          <a:ext cx="11363384" cy="2827504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82750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20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list1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list2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"Sem vetorização:"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result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[11, 22, 33, 44, 55]</a:t>
                      </a:r>
                      <a:endParaRPr lang="pt-BR" sz="18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3C263F7-A14A-E926-185F-5193659A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Vetorização (</a:t>
            </a:r>
            <a:r>
              <a:rPr lang="en-US" i="1"/>
              <a:t>Vectorization</a:t>
            </a:r>
            <a:r>
              <a:rPr lang="en-US"/>
              <a:t>) – 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B2C8-FCDC-55CA-64B3-7B660241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78396"/>
          </a:xfrm>
        </p:spPr>
        <p:txBody>
          <a:bodyPr/>
          <a:lstStyle/>
          <a:p>
            <a:r>
              <a:rPr lang="en-US"/>
              <a:t>Vamos escrever um código que some duas listas sem usar NumPy</a:t>
            </a:r>
          </a:p>
          <a:p>
            <a:pPr lvl="1"/>
            <a:endParaRPr lang="en-US"/>
          </a:p>
          <a:p>
            <a:pPr lvl="1"/>
            <a:endParaRPr lang="pt-B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E74945-DECF-EA35-4DBC-49836F48EBBA}"/>
              </a:ext>
            </a:extLst>
          </p:cNvPr>
          <p:cNvCxnSpPr>
            <a:cxnSpLocks/>
          </p:cNvCxnSpPr>
          <p:nvPr/>
        </p:nvCxnSpPr>
        <p:spPr>
          <a:xfrm>
            <a:off x="2119512" y="4646677"/>
            <a:ext cx="4893620" cy="172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0056EE-0588-F9A3-E570-8FE59C2CC580}"/>
              </a:ext>
            </a:extLst>
          </p:cNvPr>
          <p:cNvSpPr txBox="1"/>
          <p:nvPr/>
        </p:nvSpPr>
        <p:spPr>
          <a:xfrm>
            <a:off x="7013132" y="4502314"/>
            <a:ext cx="1448510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Indexação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F48EB-EC18-DFCB-0695-9B3ADD940089}"/>
              </a:ext>
            </a:extLst>
          </p:cNvPr>
          <p:cNvSpPr/>
          <p:nvPr/>
        </p:nvSpPr>
        <p:spPr>
          <a:xfrm>
            <a:off x="3366644" y="4100514"/>
            <a:ext cx="463847" cy="3178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3FE108-6FF2-2DE0-1284-5CC0638F745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119512" y="4427363"/>
            <a:ext cx="0" cy="246691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E4762-9D8A-6EDF-5CD0-590C98A0A9B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598568" y="4418322"/>
            <a:ext cx="0" cy="228355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276BBD-523F-28A3-E36C-580570A9708A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096119" y="4415838"/>
            <a:ext cx="0" cy="24809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CE5F3BD-1DDF-2BA2-3919-0918B811108E}"/>
              </a:ext>
            </a:extLst>
          </p:cNvPr>
          <p:cNvSpPr/>
          <p:nvPr/>
        </p:nvSpPr>
        <p:spPr>
          <a:xfrm>
            <a:off x="1887588" y="4109555"/>
            <a:ext cx="463847" cy="3178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B76D02-B2D0-BDE8-BFDC-9865525042D6}"/>
              </a:ext>
            </a:extLst>
          </p:cNvPr>
          <p:cNvSpPr/>
          <p:nvPr/>
        </p:nvSpPr>
        <p:spPr>
          <a:xfrm>
            <a:off x="4898328" y="4098030"/>
            <a:ext cx="395581" cy="3178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9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8C02-CE97-EB79-51EF-943DACDC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A60B-92EE-F996-7C21-7AAB6AB19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78396"/>
          </a:xfrm>
        </p:spPr>
        <p:txBody>
          <a:bodyPr/>
          <a:lstStyle/>
          <a:p>
            <a:r>
              <a:rPr lang="en-US"/>
              <a:t>Agora, vamos reescrever o código usando NumPy</a:t>
            </a:r>
          </a:p>
          <a:p>
            <a:endParaRPr lang="en-US"/>
          </a:p>
          <a:p>
            <a:pPr lvl="1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7A791-BE7A-B60A-E7F5-A1D66BB5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Vetorização (</a:t>
            </a:r>
            <a:r>
              <a:rPr lang="en-US" i="1"/>
              <a:t>Vectorization</a:t>
            </a:r>
            <a:r>
              <a:rPr lang="en-US"/>
              <a:t>) – Exemplo 1</a:t>
            </a:r>
            <a:endParaRPr lang="pt-BR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AA6F55B-4948-180C-FAE9-344F7D601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468737"/>
              </p:ext>
            </p:extLst>
          </p:nvPr>
        </p:nvGraphicFramePr>
        <p:xfrm>
          <a:off x="151623" y="2470639"/>
          <a:ext cx="11363384" cy="2589041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58904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kern="1200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import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numpy </a:t>
                      </a:r>
                      <a:r>
                        <a:rPr lang="pt-BR" sz="1800" b="1" kern="1200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as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np</a:t>
                      </a: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>
                        <a:effectLst/>
                      </a:endParaRP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array1 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np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array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3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4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5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])</a:t>
                      </a:r>
                      <a:endParaRPr lang="pt-BR">
                        <a:effectLst/>
                      </a:endParaRP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array2 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np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array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([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10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20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30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40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50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])</a:t>
                      </a: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</a:t>
                      </a:r>
                      <a:endParaRPr lang="pt-BR">
                        <a:effectLst/>
                      </a:endParaRP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result 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array1 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+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array2</a:t>
                      </a: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>
                        <a:effectLst/>
                      </a:endParaRP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kern="1200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800" kern="12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"Resultado com vetorização:"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kern="12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 result</a:t>
                      </a:r>
                      <a:r>
                        <a:rPr lang="pt-BR" sz="1800" b="1" kern="120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</a:t>
                      </a:r>
                      <a:endParaRPr lang="pt-BR">
                        <a:effectLst/>
                      </a:endParaRPr>
                    </a:p>
                    <a:p>
                      <a:pPr marL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kern="12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# Output: [11, 22, 33, 44, 55]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964F6CA-E80D-BB5C-CA65-9271343ACA13}"/>
              </a:ext>
            </a:extLst>
          </p:cNvPr>
          <p:cNvSpPr/>
          <p:nvPr/>
        </p:nvSpPr>
        <p:spPr>
          <a:xfrm>
            <a:off x="609601" y="3818710"/>
            <a:ext cx="3497516" cy="35730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096E31-4CA5-65D5-142A-CBBAFE4C09C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4107117" y="3997363"/>
            <a:ext cx="307890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67579A-7BBA-73D0-A759-949D0BEAD8C1}"/>
              </a:ext>
            </a:extLst>
          </p:cNvPr>
          <p:cNvSpPr txBox="1"/>
          <p:nvPr/>
        </p:nvSpPr>
        <p:spPr>
          <a:xfrm>
            <a:off x="7186022" y="3812697"/>
            <a:ext cx="3759883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Não usamos loops ou indexações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CD7799-7135-3488-CE26-71014094C338}"/>
              </a:ext>
            </a:extLst>
          </p:cNvPr>
          <p:cNvSpPr/>
          <p:nvPr/>
        </p:nvSpPr>
        <p:spPr>
          <a:xfrm>
            <a:off x="609600" y="2966021"/>
            <a:ext cx="5421085" cy="66802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7192BB-B577-9D45-E622-B42FC767F810}"/>
              </a:ext>
            </a:extLst>
          </p:cNvPr>
          <p:cNvSpPr txBox="1"/>
          <p:nvPr/>
        </p:nvSpPr>
        <p:spPr>
          <a:xfrm>
            <a:off x="7730308" y="2218338"/>
            <a:ext cx="4169955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Não usamos mais listas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/>
              <a:t>), mas objetos do tipo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, criados usando a função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E46A917-F685-DA7F-59DF-6302A4E5BB82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 flipV="1">
            <a:off x="6030685" y="2680003"/>
            <a:ext cx="1699623" cy="62003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26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21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1EC5-0B9F-C1BC-A114-598A78F5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ndarray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BC80-11D0-FB26-CEDB-B7C8EEBE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397392"/>
          </a:xfrm>
        </p:spPr>
        <p:txBody>
          <a:bodyPr/>
          <a:lstStyle/>
          <a:p>
            <a:r>
              <a:rPr lang="en-US"/>
              <a:t>O NumPy se fundamenta no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, visto no Exemplo 1, que é um array com as seguintes características:</a:t>
            </a:r>
          </a:p>
          <a:p>
            <a:pPr lvl="1"/>
            <a:r>
              <a:rPr lang="en-US"/>
              <a:t>Multidimensional</a:t>
            </a:r>
          </a:p>
          <a:p>
            <a:pPr lvl="1"/>
            <a:r>
              <a:rPr lang="en-US"/>
              <a:t>Tamanho fixo</a:t>
            </a:r>
          </a:p>
          <a:p>
            <a:pPr lvl="1"/>
            <a:r>
              <a:rPr lang="en-US"/>
              <a:t>Elementos homonogêneos (mesmo tipo)</a:t>
            </a:r>
          </a:p>
          <a:p>
            <a:r>
              <a:rPr lang="pt-BR"/>
              <a:t>Observação</a:t>
            </a:r>
          </a:p>
          <a:p>
            <a:pPr lvl="1"/>
            <a:r>
              <a:rPr lang="pt-BR"/>
              <a:t>É comum se referir ao objeto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pt-BR"/>
              <a:t> apenas como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62500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594FB9-9ABA-546B-4CC7-D749B404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9CD1-BFA7-D0BC-0FC3-415DD1EF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ndarray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8CEAF-A880-2F78-CEA7-31564956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397392"/>
          </a:xfrm>
        </p:spPr>
        <p:txBody>
          <a:bodyPr/>
          <a:lstStyle/>
          <a:p>
            <a:r>
              <a:rPr lang="en-US"/>
              <a:t>Uma vez que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 é homogêneo faz sentido se referir ao tipo dos elementos 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. O tipo é dado pelo atributo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/>
              <a:t>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. Os principais tipos usados são:</a:t>
            </a:r>
          </a:p>
          <a:p>
            <a:pPr lvl="1"/>
            <a:r>
              <a:rPr lang="en-US"/>
              <a:t>int</a:t>
            </a:r>
          </a:p>
          <a:p>
            <a:pPr lvl="2"/>
            <a:r>
              <a:rPr lang="en-US"/>
              <a:t>Podemos especificar como int8, int16, int32 e int64</a:t>
            </a:r>
          </a:p>
          <a:p>
            <a:pPr lvl="1"/>
            <a:r>
              <a:rPr lang="en-US"/>
              <a:t>float</a:t>
            </a:r>
          </a:p>
          <a:p>
            <a:pPr lvl="2"/>
            <a:r>
              <a:rPr lang="en-US"/>
              <a:t>Podemos especificar como float16, float32, float64 e int128</a:t>
            </a:r>
          </a:p>
          <a:p>
            <a:pPr lvl="2"/>
            <a:endParaRPr lang="en-US"/>
          </a:p>
          <a:p>
            <a:pPr lvl="1"/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40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CC81-614C-13CC-F869-15B7972C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Criando Ndarrays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C38F-D74F-3A38-287B-9D409B434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função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np.array </a:t>
            </a:r>
            <a:r>
              <a:rPr lang="en-US"/>
              <a:t>permite criar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. Porém, há outras formas:</a:t>
            </a:r>
          </a:p>
          <a:p>
            <a:pPr lvl="1"/>
            <a:r>
              <a:rPr lang="en-US"/>
              <a:t>np.zeros</a:t>
            </a:r>
          </a:p>
          <a:p>
            <a:pPr lvl="1"/>
            <a:r>
              <a:rPr lang="en-US"/>
              <a:t>np.ones</a:t>
            </a:r>
          </a:p>
          <a:p>
            <a:pPr lvl="1"/>
            <a:r>
              <a:rPr lang="en-US"/>
              <a:t>np.linspace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359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1EC5-0B9F-C1BC-A114-598A78F5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Características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BC80-11D0-FB26-CEDB-B7C8EEBE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78396"/>
          </a:xfrm>
        </p:spPr>
        <p:txBody>
          <a:bodyPr/>
          <a:lstStyle/>
          <a:p>
            <a:r>
              <a:rPr lang="en-US" i="1"/>
              <a:t>Broadcasting</a:t>
            </a:r>
          </a:p>
          <a:p>
            <a:pPr lvl="1"/>
            <a:r>
              <a:rPr lang="en-US"/>
              <a:t>As operações em NumPy geralmente acontecem elemento a elemento</a:t>
            </a:r>
          </a:p>
          <a:p>
            <a:pPr lvl="2"/>
            <a:r>
              <a:rPr lang="en-US"/>
              <a:t>Exemplo anterior</a:t>
            </a:r>
          </a:p>
          <a:p>
            <a:pPr lvl="1"/>
            <a:r>
              <a:rPr lang="en-US" i="1"/>
              <a:t>Broadcasting</a:t>
            </a:r>
            <a:r>
              <a:rPr lang="en-US"/>
              <a:t>  é o mecanismo baseado em um conjunto de regras que permite que isso aconteça mesmo que os arrays sejam de tamanhos diferentes</a:t>
            </a:r>
          </a:p>
          <a:p>
            <a:pPr lvl="1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9AC66-54D3-6C4F-F4F9-8E1D2636BF74}"/>
              </a:ext>
            </a:extLst>
          </p:cNvPr>
          <p:cNvSpPr txBox="1"/>
          <p:nvPr/>
        </p:nvSpPr>
        <p:spPr>
          <a:xfrm>
            <a:off x="3952154" y="5076657"/>
            <a:ext cx="4233902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Veremos os detalhes mais à frente</a:t>
            </a:r>
          </a:p>
        </p:txBody>
      </p:sp>
    </p:spTree>
    <p:extLst>
      <p:ext uri="{BB962C8B-B14F-4D97-AF65-F5344CB8AC3E}">
        <p14:creationId xmlns:p14="http://schemas.microsoft.com/office/powerpoint/2010/main" val="71712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8887</TotalTime>
  <Words>777</Words>
  <Application>Microsoft Office PowerPoint</Application>
  <PresentationFormat>Widescreen</PresentationFormat>
  <Paragraphs>128</Paragraphs>
  <Slides>14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Garamond</vt:lpstr>
      <vt:lpstr>Wingdings</vt:lpstr>
      <vt:lpstr>Tema Padrão</vt:lpstr>
      <vt:lpstr>31 – Numpy e SciPy (I – Introdução)  </vt:lpstr>
      <vt:lpstr>Bibliografia – Livros </vt:lpstr>
      <vt:lpstr>Vídeos</vt:lpstr>
      <vt:lpstr>Bibliografia – Tutoriais (Oficiais) </vt:lpstr>
      <vt:lpstr>Bibliografia – Reference </vt:lpstr>
      <vt:lpstr>Definição</vt:lpstr>
      <vt:lpstr>Vetorização (Vectorization)</vt:lpstr>
      <vt:lpstr>Vetorização (Vectorization) – Exemplo 1</vt:lpstr>
      <vt:lpstr>Vetorização (Vectorization) – Exemplo 1</vt:lpstr>
      <vt:lpstr>Vetorização (Vectorization) – Exemplo 1</vt:lpstr>
      <vt:lpstr>ndarray</vt:lpstr>
      <vt:lpstr>ndarray</vt:lpstr>
      <vt:lpstr>Criando Ndarrays</vt:lpstr>
      <vt:lpstr>Características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540</cp:revision>
  <dcterms:created xsi:type="dcterms:W3CDTF">2017-06-20T21:36:17Z</dcterms:created>
  <dcterms:modified xsi:type="dcterms:W3CDTF">2024-10-30T15:47:37Z</dcterms:modified>
</cp:coreProperties>
</file>