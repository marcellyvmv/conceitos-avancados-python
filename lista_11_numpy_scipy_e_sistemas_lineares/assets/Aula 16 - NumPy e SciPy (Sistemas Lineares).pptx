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handoutMasterIdLst>
    <p:handoutMasterId r:id="rId22"/>
  </p:handoutMasterIdLst>
  <p:sldIdLst>
    <p:sldId id="256" r:id="rId2"/>
    <p:sldId id="311" r:id="rId3"/>
    <p:sldId id="323" r:id="rId4"/>
    <p:sldId id="324" r:id="rId5"/>
    <p:sldId id="325" r:id="rId6"/>
    <p:sldId id="338" r:id="rId7"/>
    <p:sldId id="341" r:id="rId8"/>
    <p:sldId id="342" r:id="rId9"/>
    <p:sldId id="343" r:id="rId10"/>
    <p:sldId id="344" r:id="rId11"/>
    <p:sldId id="345" r:id="rId12"/>
    <p:sldId id="326" r:id="rId13"/>
    <p:sldId id="327" r:id="rId14"/>
    <p:sldId id="346" r:id="rId15"/>
    <p:sldId id="334" r:id="rId16"/>
    <p:sldId id="335" r:id="rId17"/>
    <p:sldId id="332" r:id="rId18"/>
    <p:sldId id="336" r:id="rId19"/>
    <p:sldId id="328" r:id="rId20"/>
  </p:sldIdLst>
  <p:sldSz cx="12192000" cy="6858000"/>
  <p:notesSz cx="6858000" cy="9144000"/>
  <p:defaultTextStyle>
    <a:defPPr>
      <a:defRPr lang="pt-B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uario" initials="U" lastIdx="3" clrIdx="0">
    <p:extLst>
      <p:ext uri="{19B8F6BF-5375-455C-9EA6-DF929625EA0E}">
        <p15:presenceInfo xmlns:p15="http://schemas.microsoft.com/office/powerpoint/2012/main" userId="Usuario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0CD1"/>
    <a:srgbClr val="EE0000"/>
    <a:srgbClr val="C60AAB"/>
    <a:srgbClr val="B4CCFF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511" autoAdjust="0"/>
    <p:restoredTop sz="78778" autoAdjust="0"/>
  </p:normalViewPr>
  <p:slideViewPr>
    <p:cSldViewPr snapToGrid="0">
      <p:cViewPr varScale="1">
        <p:scale>
          <a:sx n="142" d="100"/>
          <a:sy n="142" d="100"/>
        </p:scale>
        <p:origin x="391" y="8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A988D68-4F99-9897-2557-7FAECD4DA17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5ADEEC-0B42-A9F3-3777-C0EA477BFE3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85FA2A-DBCD-493C-9076-F445FB125593}" type="datetimeFigureOut">
              <a:rPr lang="pt-BR" smtClean="0"/>
              <a:t>30/10/2024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BAC39A-6257-8199-1F59-3BEB2B790FE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pt-BR"/>
              <a:t>https://docs.python.org/3/library/math.html#math.fmod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3E1CD6-5B5B-8C1F-E3BC-E3CD7774578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17B1E4-7D48-4B42-B482-E0FA798597D7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84681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31D8E3-36AB-4247-954E-CA64B1535725}" type="datetimeFigureOut">
              <a:rPr lang="pt-BR" smtClean="0"/>
              <a:t>30/10/2024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pt-BR"/>
              <a:t>https://docs.python.org/3/library/math.html#math.fmod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1E881F-58A7-46F2-AC34-A982B63F0CA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922759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1E881F-58A7-46F2-AC34-A982B63F0CAE}" type="slidenum">
              <a:rPr lang="pt-BR" smtClean="0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648355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/>
          <p:cNvSpPr>
            <a:spLocks noChangeArrowheads="1"/>
          </p:cNvSpPr>
          <p:nvPr/>
        </p:nvSpPr>
        <p:spPr bwMode="auto">
          <a:xfrm>
            <a:off x="812800" y="1964432"/>
            <a:ext cx="10566400" cy="914400"/>
          </a:xfrm>
          <a:custGeom>
            <a:avLst/>
            <a:gdLst>
              <a:gd name="T0" fmla="*/ 0 w 1000"/>
              <a:gd name="T1" fmla="*/ 2147483647 h 1000"/>
              <a:gd name="T2" fmla="*/ 0 w 1000"/>
              <a:gd name="T3" fmla="*/ 0 h 1000"/>
              <a:gd name="T4" fmla="*/ 2147483647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317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2641601" y="3962400"/>
            <a:ext cx="8682567" cy="0"/>
          </a:xfrm>
          <a:prstGeom prst="line">
            <a:avLst/>
          </a:prstGeom>
          <a:noFill/>
          <a:ln w="317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276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14967" y="2326941"/>
            <a:ext cx="10164233" cy="1752600"/>
          </a:xfrm>
        </p:spPr>
        <p:txBody>
          <a:bodyPr/>
          <a:lstStyle>
            <a:lvl1pPr>
              <a:defRPr sz="5000"/>
            </a:lvl1pPr>
          </a:lstStyle>
          <a:p>
            <a:r>
              <a:rPr lang="pt-BR" altLang="en-US"/>
              <a:t>Clique para editar o título mestre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641600" y="4196680"/>
            <a:ext cx="87376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pt-BR" altLang="en-US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03629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87829" y="332657"/>
            <a:ext cx="10972800" cy="749384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09600" y="1295401"/>
            <a:ext cx="10972800" cy="4530725"/>
          </a:xfrm>
        </p:spPr>
        <p:txBody>
          <a:bodyPr/>
          <a:lstStyle>
            <a:lvl1pPr>
              <a:spcBef>
                <a:spcPts val="4200"/>
              </a:spcBef>
              <a:defRPr/>
            </a:lvl1pPr>
            <a:lvl2pPr>
              <a:spcBef>
                <a:spcPts val="1800"/>
              </a:spcBef>
              <a:defRPr/>
            </a:lvl2pPr>
            <a:lvl3pPr marL="1022350" indent="-350838">
              <a:spcBef>
                <a:spcPts val="1000"/>
              </a:spcBef>
              <a:buClr>
                <a:schemeClr val="accent2"/>
              </a:buClr>
              <a:buSzPct val="120000"/>
              <a:buFont typeface="Arial" panose="020B0604020202020204" pitchFamily="34" charset="0"/>
              <a:buChar char="•"/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097932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</p:spTree>
    <p:extLst>
      <p:ext uri="{BB962C8B-B14F-4D97-AF65-F5344CB8AC3E}">
        <p14:creationId xmlns:p14="http://schemas.microsoft.com/office/powerpoint/2010/main" val="171862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108950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832008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413590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360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</p:spTree>
    <p:extLst>
      <p:ext uri="{BB962C8B-B14F-4D97-AF65-F5344CB8AC3E}">
        <p14:creationId xmlns:p14="http://schemas.microsoft.com/office/powerpoint/2010/main" val="1371769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pt-BR" noProof="0"/>
              <a:t>Clique no ícone para adicionar uma imagem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</p:spTree>
    <p:extLst>
      <p:ext uri="{BB962C8B-B14F-4D97-AF65-F5344CB8AC3E}">
        <p14:creationId xmlns:p14="http://schemas.microsoft.com/office/powerpoint/2010/main" val="2010344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071390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839200" y="277813"/>
            <a:ext cx="2743200" cy="5853112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09600" y="277813"/>
            <a:ext cx="8026400" cy="5853112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3221922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ítulo e 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abela 2"/>
          <p:cNvSpPr>
            <a:spLocks noGrp="1"/>
          </p:cNvSpPr>
          <p:nvPr>
            <p:ph type="tbl" idx="1"/>
          </p:nvPr>
        </p:nvSpPr>
        <p:spPr>
          <a:xfrm>
            <a:off x="609600" y="1600201"/>
            <a:ext cx="10972800" cy="4530725"/>
          </a:xfrm>
        </p:spPr>
        <p:txBody>
          <a:bodyPr/>
          <a:lstStyle/>
          <a:p>
            <a:pPr lvl="0"/>
            <a:r>
              <a:rPr lang="pt-BR" noProof="0"/>
              <a:t>Clique no ícone para adicionar tabela</a:t>
            </a:r>
          </a:p>
        </p:txBody>
      </p:sp>
    </p:spTree>
    <p:extLst>
      <p:ext uri="{BB962C8B-B14F-4D97-AF65-F5344CB8AC3E}">
        <p14:creationId xmlns:p14="http://schemas.microsoft.com/office/powerpoint/2010/main" val="23729784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ítulo, text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30725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30725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2185096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ítulo e 4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sz="quarter"/>
          </p:nvPr>
        </p:nvSpPr>
        <p:spPr>
          <a:xfrm>
            <a:off x="609600" y="277814"/>
            <a:ext cx="10972800" cy="1139825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09600" y="1600201"/>
            <a:ext cx="5384800" cy="2189163"/>
          </a:xfrm>
        </p:spPr>
        <p:txBody>
          <a:bodyPr/>
          <a:lstStyle/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2"/>
          </p:nvPr>
        </p:nvSpPr>
        <p:spPr>
          <a:xfrm>
            <a:off x="6197600" y="1600201"/>
            <a:ext cx="5384800" cy="2189163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3"/>
          </p:nvPr>
        </p:nvSpPr>
        <p:spPr>
          <a:xfrm>
            <a:off x="609600" y="3941763"/>
            <a:ext cx="5384800" cy="2189162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97600" y="3941763"/>
            <a:ext cx="5384800" cy="2189162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3446323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ítulo e texto e 2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30725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2"/>
          </p:nvPr>
        </p:nvSpPr>
        <p:spPr>
          <a:xfrm>
            <a:off x="6197600" y="1600201"/>
            <a:ext cx="5384800" cy="2189163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3"/>
          </p:nvPr>
        </p:nvSpPr>
        <p:spPr>
          <a:xfrm>
            <a:off x="6197600" y="3941763"/>
            <a:ext cx="5384800" cy="2189162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474052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7814"/>
            <a:ext cx="10972800" cy="113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en-US"/>
              <a:t>Clique para editar o estilo do título mestre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en-US" dirty="0"/>
              <a:t>Clique para editar os estilos do texto mestre</a:t>
            </a:r>
          </a:p>
          <a:p>
            <a:pPr lvl="1"/>
            <a:r>
              <a:rPr lang="pt-BR" altLang="en-US" dirty="0"/>
              <a:t>Segundo nível</a:t>
            </a:r>
          </a:p>
          <a:p>
            <a:pPr lvl="2"/>
            <a:r>
              <a:rPr lang="pt-BR" altLang="en-US" dirty="0"/>
              <a:t>Terceiro nível</a:t>
            </a:r>
          </a:p>
          <a:p>
            <a:pPr lvl="3"/>
            <a:r>
              <a:rPr lang="pt-BR" altLang="en-US" dirty="0"/>
              <a:t>Quarto nível</a:t>
            </a:r>
          </a:p>
          <a:p>
            <a:pPr lvl="4"/>
            <a:r>
              <a:rPr lang="pt-BR" altLang="en-US" dirty="0"/>
              <a:t>Quinto nível</a:t>
            </a:r>
          </a:p>
        </p:txBody>
      </p:sp>
      <p:sp>
        <p:nvSpPr>
          <p:cNvPr id="1028" name="Freeform 7"/>
          <p:cNvSpPr>
            <a:spLocks noChangeArrowheads="1"/>
          </p:cNvSpPr>
          <p:nvPr/>
        </p:nvSpPr>
        <p:spPr bwMode="auto">
          <a:xfrm>
            <a:off x="508000" y="228600"/>
            <a:ext cx="10972800" cy="609600"/>
          </a:xfrm>
          <a:custGeom>
            <a:avLst/>
            <a:gdLst>
              <a:gd name="T0" fmla="*/ 0 w 1000"/>
              <a:gd name="T1" fmla="*/ 2147483647 h 1000"/>
              <a:gd name="T2" fmla="*/ 0 w 1000"/>
              <a:gd name="T3" fmla="*/ 0 h 1000"/>
              <a:gd name="T4" fmla="*/ 2147483647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317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470931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200" u="sng">
          <a:solidFill>
            <a:schemeClr val="tx2"/>
          </a:solidFill>
          <a:latin typeface="Garamond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200" u="sng">
          <a:solidFill>
            <a:schemeClr val="tx2"/>
          </a:solidFill>
          <a:latin typeface="Garamond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200" u="sng">
          <a:solidFill>
            <a:schemeClr val="tx2"/>
          </a:solidFill>
          <a:latin typeface="Garamond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200" u="sng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just" rtl="0" eaLnBrk="1" fontAlgn="base" hangingPunct="1">
        <a:spcBef>
          <a:spcPts val="42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just" rtl="0" eaLnBrk="1" fontAlgn="base" hangingPunct="1">
        <a:spcBef>
          <a:spcPts val="18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600">
          <a:solidFill>
            <a:schemeClr val="tx1"/>
          </a:solidFill>
          <a:latin typeface="+mn-lt"/>
        </a:defRPr>
      </a:lvl2pPr>
      <a:lvl3pPr marL="1022350" indent="-350838" algn="just" rtl="0" eaLnBrk="1" fontAlgn="base" hangingPunct="1">
        <a:spcBef>
          <a:spcPts val="1000"/>
        </a:spcBef>
        <a:spcAft>
          <a:spcPct val="0"/>
        </a:spcAft>
        <a:buClr>
          <a:schemeClr val="accent2"/>
        </a:buClr>
        <a:buSzPct val="120000"/>
        <a:buFont typeface="Arial" panose="020B0604020202020204" pitchFamily="34" charset="0"/>
        <a:buChar char="•"/>
        <a:defRPr sz="2200">
          <a:solidFill>
            <a:schemeClr val="tx1"/>
          </a:solidFill>
          <a:latin typeface="+mn-lt"/>
        </a:defRPr>
      </a:lvl3pPr>
      <a:lvl4pPr marL="1339850" indent="-315913" algn="just" rtl="0" eaLnBrk="1" fontAlgn="base" hangingPunct="1">
        <a:spcBef>
          <a:spcPts val="1000"/>
        </a:spcBef>
        <a:spcAft>
          <a:spcPct val="0"/>
        </a:spcAft>
        <a:buClr>
          <a:schemeClr val="accent2"/>
        </a:buClr>
        <a:buSzPct val="120000"/>
        <a:buFont typeface="Arial" panose="020B0604020202020204" pitchFamily="34" charset="0"/>
        <a:buChar char="-"/>
        <a:defRPr sz="2000">
          <a:solidFill>
            <a:schemeClr val="tx1"/>
          </a:solidFill>
          <a:latin typeface="+mn-lt"/>
        </a:defRPr>
      </a:lvl4pPr>
      <a:lvl5pPr marL="1681163" indent="-339725" algn="just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138363" indent="-339725" algn="just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95563" indent="-339725" algn="just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052763" indent="-339725" algn="just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509963" indent="-339725" algn="just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7.png"/><Relationship Id="rId5" Type="http://schemas.openxmlformats.org/officeDocument/2006/relationships/image" Target="../media/image11.png"/><Relationship Id="rId10" Type="http://schemas.openxmlformats.org/officeDocument/2006/relationships/image" Target="../media/image17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0.png"/><Relationship Id="rId4" Type="http://schemas.openxmlformats.org/officeDocument/2006/relationships/image" Target="../media/image12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3D37FA-D22C-449F-A66B-FA568AD31E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pt-BR"/>
              <a:t>31 – Numpy</a:t>
            </a:r>
            <a:br>
              <a:rPr lang="pt-BR"/>
            </a:br>
            <a:r>
              <a:rPr lang="pt-BR"/>
              <a:t>(II – Sistemas Lineares)</a:t>
            </a:r>
            <a:br>
              <a:rPr lang="pt-BR" dirty="0"/>
            </a:br>
            <a:br>
              <a:rPr lang="pt-BR" dirty="0"/>
            </a:b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A465CA0-DCD8-4A81-AE6A-E7898D94A5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01501" y="5165043"/>
            <a:ext cx="3191164" cy="600135"/>
          </a:xfrm>
        </p:spPr>
        <p:txBody>
          <a:bodyPr/>
          <a:lstStyle/>
          <a:p>
            <a:r>
              <a:rPr lang="pt-BR" sz="3600" dirty="0"/>
              <a:t>Thiago Rocha</a:t>
            </a:r>
          </a:p>
        </p:txBody>
      </p:sp>
    </p:spTree>
    <p:extLst>
      <p:ext uri="{BB962C8B-B14F-4D97-AF65-F5344CB8AC3E}">
        <p14:creationId xmlns:p14="http://schemas.microsoft.com/office/powerpoint/2010/main" val="3853356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E4F0F-DF17-2623-938E-2670C101D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Introdução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5B4579-F1E9-9A04-249D-F2590B7A95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/>
              <a:t>Um sistema linear de equações de dimensões m x n pode ser escrito como:</a:t>
            </a:r>
          </a:p>
          <a:p>
            <a:endParaRPr lang="en-US" sz="2400"/>
          </a:p>
          <a:p>
            <a:endParaRPr lang="en-US" sz="2400"/>
          </a:p>
          <a:p>
            <a:r>
              <a:rPr lang="en-US" sz="2400"/>
              <a:t>Ou em sua matricial:</a:t>
            </a:r>
            <a:endParaRPr lang="pt-BR" sz="2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4147F9-2FC1-B240-D52B-EE3620D454BD}"/>
              </a:ext>
            </a:extLst>
          </p:cNvPr>
          <p:cNvSpPr txBox="1"/>
          <p:nvPr/>
        </p:nvSpPr>
        <p:spPr>
          <a:xfrm>
            <a:off x="5638159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FD32F3B-FA5A-4CA3-1DE0-8B75843EB5F4}"/>
                  </a:ext>
                </a:extLst>
              </p:cNvPr>
              <p:cNvSpPr txBox="1"/>
              <p:nvPr/>
            </p:nvSpPr>
            <p:spPr>
              <a:xfrm>
                <a:off x="3574588" y="2181655"/>
                <a:ext cx="4588051" cy="15262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…+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+…+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+…+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pt-BR" sz="220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FD32F3B-FA5A-4CA3-1DE0-8B75843EB5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4588" y="2181655"/>
                <a:ext cx="4588051" cy="152625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0C254CE-173D-1D52-6638-89A68C4378F9}"/>
                  </a:ext>
                </a:extLst>
              </p:cNvPr>
              <p:cNvSpPr txBox="1"/>
              <p:nvPr/>
            </p:nvSpPr>
            <p:spPr>
              <a:xfrm>
                <a:off x="3199286" y="4974218"/>
                <a:ext cx="4618380" cy="16404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pt-BR" sz="2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2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pt-BR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pt-BR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pt-BR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pt-BR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pt-BR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pt-BR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pt-BR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pt-BR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pt-BR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𝑚𝑛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pt-BR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2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pt-BR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pt-BR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pt-BR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sz="22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2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pt-BR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pt-BR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pt-BR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sz="2200"/>
              </a:p>
              <a:p>
                <a:endParaRPr lang="pt-BR" sz="220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0C254CE-173D-1D52-6638-89A68C4378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9286" y="4974218"/>
                <a:ext cx="4618380" cy="164044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5562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C5843-6FBA-E94A-02B6-19311BEBA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Introdução</a:t>
            </a:r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EB7ABFB-08B9-A647-3A1E-53D123246E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Relações entre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/>
                  <a:t> 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/>
                  <a:t>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/>
              </a:p>
              <a:p>
                <a:pPr lvl="2"/>
                <a:r>
                  <a:rPr lang="en-US"/>
                  <a:t>Equações &gt; Variáveis </a:t>
                </a:r>
                <a:r>
                  <a:rPr lang="en-US">
                    <a:sym typeface="Wingdings" panose="05000000000000000000" pitchFamily="2" charset="2"/>
                  </a:rPr>
                  <a:t> Geralmente conduz a sistemas sem solução (inconsistentes)</a:t>
                </a:r>
                <a:endParaRPr lang="en-US"/>
              </a:p>
              <a:p>
                <a:pPr lvl="1"/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/>
              </a:p>
              <a:p>
                <a:pPr lvl="2"/>
                <a:r>
                  <a:rPr lang="en-US"/>
                  <a:t>Equações &lt; Variáveis </a:t>
                </a:r>
                <a:r>
                  <a:rPr lang="en-US">
                    <a:sym typeface="Wingdings" panose="05000000000000000000" pitchFamily="2" charset="2"/>
                  </a:rPr>
                  <a:t> São indeterminados (infinitas soluções)</a:t>
                </a:r>
                <a:endParaRPr lang="en-US"/>
              </a:p>
              <a:p>
                <a:pPr lvl="1"/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/>
              </a:p>
              <a:p>
                <a:pPr lvl="2"/>
                <a:r>
                  <a:rPr lang="en-US"/>
                  <a:t>Equações = Variáveis  </a:t>
                </a:r>
                <a:r>
                  <a:rPr lang="en-US">
                    <a:sym typeface="Wingdings" panose="05000000000000000000" pitchFamily="2" charset="2"/>
                  </a:rPr>
                  <a:t> Geralmente possuem solução única </a:t>
                </a:r>
                <a:endParaRPr lang="pt-BR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EB7ABFB-08B9-A647-3A1E-53D123246E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44" t="-1750" r="-7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44B95C8-183D-820D-B66E-2723D4D533B1}"/>
                  </a:ext>
                </a:extLst>
              </p:cNvPr>
              <p:cNvSpPr txBox="1"/>
              <p:nvPr/>
            </p:nvSpPr>
            <p:spPr>
              <a:xfrm>
                <a:off x="6215266" y="635871"/>
                <a:ext cx="4618380" cy="16404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pt-BR" sz="2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2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pt-BR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pt-BR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pt-BR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pt-BR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pt-BR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pt-BR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pt-BR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pt-BR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pt-BR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𝑚𝑛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pt-BR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2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pt-BR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pt-BR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pt-BR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sz="22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2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pt-BR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pt-BR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pt-BR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sz="2200"/>
              </a:p>
              <a:p>
                <a:endParaRPr lang="pt-BR" sz="220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44B95C8-183D-820D-B66E-2723D4D533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5266" y="635871"/>
                <a:ext cx="4618380" cy="164044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6796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E2476-B609-DC7E-50B4-59D2F3912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Exemplo 1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BA1392-DEA3-EA38-35DA-04B00428AB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Vamos resolver o seguinte Sistema Linear:</a:t>
            </a:r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F5BEC30-4227-A1E2-F6E9-17327FBF9F05}"/>
                  </a:ext>
                </a:extLst>
              </p:cNvPr>
              <p:cNvSpPr txBox="1"/>
              <p:nvPr/>
            </p:nvSpPr>
            <p:spPr>
              <a:xfrm>
                <a:off x="4389539" y="2418126"/>
                <a:ext cx="3552576" cy="13756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+3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=8</m:t>
                              </m:r>
                            </m:e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=−11</m:t>
                              </m:r>
                            </m:e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=−3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pt-BR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F5BEC30-4227-A1E2-F6E9-17327FBF9F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9539" y="2418126"/>
                <a:ext cx="3552576" cy="137563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5399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A03D8-76E4-FD87-B6B2-835BE43EA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Exemplo 1</a:t>
            </a:r>
            <a:endParaRPr lang="pt-BR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43E2D73-DE01-D2DD-EF46-042D58BA78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5448726"/>
              </p:ext>
            </p:extLst>
          </p:nvPr>
        </p:nvGraphicFramePr>
        <p:xfrm>
          <a:off x="248117" y="2787805"/>
          <a:ext cx="11740172" cy="3614081"/>
        </p:xfrm>
        <a:graphic>
          <a:graphicData uri="http://schemas.openxmlformats.org/drawingml/2006/table">
            <a:tbl>
              <a:tblPr firstRow="1" firstCol="1" bandRow="1"/>
              <a:tblGrid>
                <a:gridCol w="459509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1280663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3614081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12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13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import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numpy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as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np</a:t>
                      </a:r>
                    </a:p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from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scipy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import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linalg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as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la</a:t>
                      </a:r>
                    </a:p>
                    <a:p>
                      <a:endParaRPr lang="pt-BR" sz="18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np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array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([[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2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3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-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1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],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       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[-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3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-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1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2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],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       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[-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2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1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2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]])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b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np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array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([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8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-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11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-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3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])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endParaRPr lang="pt-BR" sz="18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solution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la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solve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b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x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y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z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solution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round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2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>
                        <a:effectLst/>
                      </a:endParaRP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f"Solução:\nx = {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x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}\ny = {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y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}\nz = {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z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}"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8592C7D9-7230-B2B3-B75C-BB1DB9C98354}"/>
              </a:ext>
            </a:extLst>
          </p:cNvPr>
          <p:cNvSpPr/>
          <p:nvPr/>
        </p:nvSpPr>
        <p:spPr>
          <a:xfrm>
            <a:off x="727046" y="3059388"/>
            <a:ext cx="4163736" cy="293102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3D59D70-CA6E-F288-AB01-BFFF5D9B1B62}"/>
              </a:ext>
            </a:extLst>
          </p:cNvPr>
          <p:cNvCxnSpPr>
            <a:cxnSpLocks/>
            <a:stCxn id="5" idx="3"/>
            <a:endCxn id="9" idx="1"/>
          </p:cNvCxnSpPr>
          <p:nvPr/>
        </p:nvCxnSpPr>
        <p:spPr>
          <a:xfrm>
            <a:off x="4890782" y="3205939"/>
            <a:ext cx="1640899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95513EB-A6D0-0300-4D78-F33A4E8A28F5}"/>
              </a:ext>
            </a:extLst>
          </p:cNvPr>
          <p:cNvSpPr txBox="1"/>
          <p:nvPr/>
        </p:nvSpPr>
        <p:spPr>
          <a:xfrm>
            <a:off x="6531681" y="2882773"/>
            <a:ext cx="4034253" cy="646331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Importamos o módulo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linalg</a:t>
            </a:r>
            <a:r>
              <a:rPr lang="en-US"/>
              <a:t> do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SciPy</a:t>
            </a:r>
            <a:r>
              <a:rPr lang="en-US"/>
              <a:t>, que também é um módulo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00E464-4F06-652A-F222-6B871B78FBB8}"/>
              </a:ext>
            </a:extLst>
          </p:cNvPr>
          <p:cNvSpPr/>
          <p:nvPr/>
        </p:nvSpPr>
        <p:spPr>
          <a:xfrm>
            <a:off x="727045" y="4981867"/>
            <a:ext cx="3517783" cy="293102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4E64908-C525-FA36-B9BE-E0C5BF175D60}"/>
                  </a:ext>
                </a:extLst>
              </p:cNvPr>
              <p:cNvSpPr txBox="1"/>
              <p:nvPr/>
            </p:nvSpPr>
            <p:spPr>
              <a:xfrm>
                <a:off x="4089862" y="1080244"/>
                <a:ext cx="3552576" cy="13756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+3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=8</m:t>
                              </m:r>
                            </m:e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=−11</m:t>
                              </m:r>
                            </m:e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=−3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pt-BR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4E64908-C525-FA36-B9BE-E0C5BF175D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9862" y="1080244"/>
                <a:ext cx="3552576" cy="137563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1591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11" grpId="0" animBg="1"/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04761-C6D3-2F80-CE8E-0EEB15F4D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Exemplo 2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C499B2-0E95-6776-099A-235A7C718F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Encontre as tensões V</a:t>
            </a:r>
            <a:r>
              <a:rPr lang="en-US" baseline="-25000"/>
              <a:t>1</a:t>
            </a:r>
            <a:r>
              <a:rPr lang="en-US"/>
              <a:t>, V</a:t>
            </a:r>
            <a:r>
              <a:rPr lang="en-US" baseline="-25000"/>
              <a:t>2</a:t>
            </a:r>
            <a:r>
              <a:rPr lang="en-US"/>
              <a:t> e V</a:t>
            </a:r>
            <a:r>
              <a:rPr lang="en-US" baseline="-25000"/>
              <a:t>3</a:t>
            </a:r>
            <a:endParaRPr lang="pt-BR" baseline="-25000"/>
          </a:p>
        </p:txBody>
      </p:sp>
      <p:pic>
        <p:nvPicPr>
          <p:cNvPr id="4" name="Picture 18">
            <a:extLst>
              <a:ext uri="{FF2B5EF4-FFF2-40B4-BE49-F238E27FC236}">
                <a16:creationId xmlns:a16="http://schemas.microsoft.com/office/drawing/2014/main" id="{B9A758E6-3EE2-EC2F-0B12-EB85F47A31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5653" y="2205318"/>
            <a:ext cx="9937151" cy="4134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8394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17C6-CDBF-80AA-B124-6694991A8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255F1-6239-FFC3-89BF-2A7ACA2B9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Exemplo 2</a:t>
            </a:r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93760E-DCBB-4CE3-C7F9-41587DDFC66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619209"/>
                <a:ext cx="10972800" cy="4530725"/>
              </a:xfrm>
            </p:spPr>
            <p:txBody>
              <a:bodyPr/>
              <a:lstStyle/>
              <a:p>
                <a:endParaRPr lang="en-US"/>
              </a:p>
              <a:p>
                <a:endParaRPr lang="pt-BR"/>
              </a:p>
              <a:p>
                <a:endParaRPr lang="pt-BR"/>
              </a:p>
              <a:p>
                <a:r>
                  <a:rPr lang="pt-BR"/>
                  <a:t>Lei de Ohm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lang="pt-BR"/>
              </a:p>
              <a:p>
                <a:r>
                  <a:rPr lang="pt-BR"/>
                  <a:t>Lei dos Nós</a:t>
                </a:r>
              </a:p>
              <a:p>
                <a:pPr lvl="1"/>
                <a:r>
                  <a:rPr lang="pt-BR"/>
                  <a:t>A soma das correntes que entram em um nó é igual a soma das correntes que saem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93760E-DCBB-4CE3-C7F9-41587DDFC6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619209"/>
                <a:ext cx="10972800" cy="4530725"/>
              </a:xfrm>
              <a:blipFill>
                <a:blip r:embed="rId2"/>
                <a:stretch>
                  <a:fillRect l="-444" r="-1000" b="-393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18">
            <a:extLst>
              <a:ext uri="{FF2B5EF4-FFF2-40B4-BE49-F238E27FC236}">
                <a16:creationId xmlns:a16="http://schemas.microsoft.com/office/drawing/2014/main" id="{0CA0E0F8-F605-4B3A-2719-BC12E016FD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6909" y="847789"/>
            <a:ext cx="8425684" cy="3505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5676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324FE-CDF8-6EF4-2E03-53DA866F9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35DA6-8728-3F00-07BB-B725989FC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Exemplo 2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A34E3-7404-E878-3B7D-6FCF5D6282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619210"/>
            <a:ext cx="10972800" cy="3261228"/>
          </a:xfrm>
        </p:spPr>
        <p:txBody>
          <a:bodyPr/>
          <a:lstStyle/>
          <a:p>
            <a:endParaRPr lang="en-US"/>
          </a:p>
          <a:p>
            <a:endParaRPr lang="pt-BR"/>
          </a:p>
          <a:p>
            <a:endParaRPr lang="pt-B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C55A1AB-0248-4DB0-FD0F-C7C2C7D2DB36}"/>
                  </a:ext>
                </a:extLst>
              </p:cNvPr>
              <p:cNvSpPr txBox="1"/>
              <p:nvPr/>
            </p:nvSpPr>
            <p:spPr>
              <a:xfrm>
                <a:off x="1204792" y="4815586"/>
                <a:ext cx="163948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pt-BR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C55A1AB-0248-4DB0-FD0F-C7C2C7D2DB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4792" y="4815586"/>
                <a:ext cx="1639488" cy="276999"/>
              </a:xfrm>
              <a:prstGeom prst="rect">
                <a:avLst/>
              </a:prstGeom>
              <a:blipFill>
                <a:blip r:embed="rId2"/>
                <a:stretch>
                  <a:fillRect l="-2974" r="-372" b="-1777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2358CF5-C6E9-65A3-C954-AF88A66D8EDD}"/>
                  </a:ext>
                </a:extLst>
              </p:cNvPr>
              <p:cNvSpPr txBox="1"/>
              <p:nvPr/>
            </p:nvSpPr>
            <p:spPr>
              <a:xfrm>
                <a:off x="343178" y="5349971"/>
                <a:ext cx="3362715" cy="5204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15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pt-BR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2358CF5-C6E9-65A3-C954-AF88A66D8E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178" y="5349971"/>
                <a:ext cx="3362715" cy="5204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9D0E2ED-8E61-F8F0-9A39-4AD1171B7E81}"/>
                  </a:ext>
                </a:extLst>
              </p:cNvPr>
              <p:cNvSpPr txBox="1"/>
              <p:nvPr/>
            </p:nvSpPr>
            <p:spPr>
              <a:xfrm>
                <a:off x="724339" y="6204741"/>
                <a:ext cx="2600391" cy="320601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ts val="25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−2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−15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9D0E2ED-8E61-F8F0-9A39-4AD1171B7E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339" y="6204741"/>
                <a:ext cx="2600391" cy="320601"/>
              </a:xfrm>
              <a:prstGeom prst="rect">
                <a:avLst/>
              </a:prstGeom>
              <a:blipFill>
                <a:blip r:embed="rId4"/>
                <a:stretch>
                  <a:fillRect l="-1160" r="-928" b="-1754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CA3D9B4-4C6D-E7AE-05A4-16FF0994AD7A}"/>
              </a:ext>
            </a:extLst>
          </p:cNvPr>
          <p:cNvCxnSpPr/>
          <p:nvPr/>
        </p:nvCxnSpPr>
        <p:spPr>
          <a:xfrm>
            <a:off x="4068696" y="4626193"/>
            <a:ext cx="0" cy="2074689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ADDD689-F523-40B9-D558-D1D971D2C4DB}"/>
                  </a:ext>
                </a:extLst>
              </p:cNvPr>
              <p:cNvSpPr txBox="1"/>
              <p:nvPr/>
            </p:nvSpPr>
            <p:spPr>
              <a:xfrm>
                <a:off x="5368379" y="4742781"/>
                <a:ext cx="118712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pt-BR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ADDD689-F523-40B9-D558-D1D971D2C4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8379" y="4742781"/>
                <a:ext cx="1187120" cy="276999"/>
              </a:xfrm>
              <a:prstGeom prst="rect">
                <a:avLst/>
              </a:prstGeom>
              <a:blipFill>
                <a:blip r:embed="rId5"/>
                <a:stretch>
                  <a:fillRect l="-4124" r="-1031" b="-20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1B5701F-82D0-B0BE-5C96-F2FA9191B021}"/>
                  </a:ext>
                </a:extLst>
              </p:cNvPr>
              <p:cNvSpPr txBox="1"/>
              <p:nvPr/>
            </p:nvSpPr>
            <p:spPr>
              <a:xfrm>
                <a:off x="4791041" y="5351766"/>
                <a:ext cx="2341795" cy="518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15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den>
                      </m:f>
                    </m:oMath>
                  </m:oMathPara>
                </a14:m>
                <a:endParaRPr lang="pt-BR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1B5701F-82D0-B0BE-5C96-F2FA9191B0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1041" y="5351766"/>
                <a:ext cx="2341795" cy="51860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27DEE71-F2CE-F075-4F57-32B9350738F2}"/>
                  </a:ext>
                </a:extLst>
              </p:cNvPr>
              <p:cNvSpPr txBox="1"/>
              <p:nvPr/>
            </p:nvSpPr>
            <p:spPr>
              <a:xfrm>
                <a:off x="4661742" y="6213237"/>
                <a:ext cx="2600392" cy="320601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ts val="25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28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123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60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pt-BR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27DEE71-F2CE-F075-4F57-32B9350738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1742" y="6213237"/>
                <a:ext cx="2600392" cy="320601"/>
              </a:xfrm>
              <a:prstGeom prst="rect">
                <a:avLst/>
              </a:prstGeom>
              <a:blipFill>
                <a:blip r:embed="rId7"/>
                <a:stretch>
                  <a:fillRect l="-1160" r="-696" b="-1724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1991F42-21BB-A6D0-C7F2-66454FC14C06}"/>
              </a:ext>
            </a:extLst>
          </p:cNvPr>
          <p:cNvCxnSpPr/>
          <p:nvPr/>
        </p:nvCxnSpPr>
        <p:spPr>
          <a:xfrm>
            <a:off x="8051584" y="4697504"/>
            <a:ext cx="0" cy="2074689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DFE8687-B24E-B44C-9868-05D068557F0E}"/>
                  </a:ext>
                </a:extLst>
              </p:cNvPr>
              <p:cNvSpPr txBox="1"/>
              <p:nvPr/>
            </p:nvSpPr>
            <p:spPr>
              <a:xfrm>
                <a:off x="9258472" y="4787576"/>
                <a:ext cx="164480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pt-BR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DFE8687-B24E-B44C-9868-05D068557F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8472" y="4787576"/>
                <a:ext cx="1644809" cy="276999"/>
              </a:xfrm>
              <a:prstGeom prst="rect">
                <a:avLst/>
              </a:prstGeom>
              <a:blipFill>
                <a:blip r:embed="rId8"/>
                <a:stretch>
                  <a:fillRect l="-2593" r="-370" b="-1739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255E6A4-1A9E-8B42-056B-CA8F4A8C0A01}"/>
                  </a:ext>
                </a:extLst>
              </p:cNvPr>
              <p:cNvSpPr txBox="1"/>
              <p:nvPr/>
            </p:nvSpPr>
            <p:spPr>
              <a:xfrm>
                <a:off x="8480765" y="5349971"/>
                <a:ext cx="3320974" cy="520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−20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pt-BR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255E6A4-1A9E-8B42-056B-CA8F4A8C0A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0765" y="5349971"/>
                <a:ext cx="3320974" cy="5203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DF8D95D-5706-C3B8-C098-2EEB13EC3147}"/>
                  </a:ext>
                </a:extLst>
              </p:cNvPr>
              <p:cNvSpPr txBox="1"/>
              <p:nvPr/>
            </p:nvSpPr>
            <p:spPr>
              <a:xfrm>
                <a:off x="8562133" y="6194070"/>
                <a:ext cx="3158237" cy="320601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ts val="25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140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40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243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560</m:t>
                      </m:r>
                    </m:oMath>
                  </m:oMathPara>
                </a14:m>
                <a:endParaRPr lang="pt-BR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DF8D95D-5706-C3B8-C098-2EEB13EC31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2133" y="6194070"/>
                <a:ext cx="3158237" cy="320601"/>
              </a:xfrm>
              <a:prstGeom prst="rect">
                <a:avLst/>
              </a:prstGeom>
              <a:blipFill>
                <a:blip r:embed="rId10"/>
                <a:stretch>
                  <a:fillRect l="-765" r="-765" b="-1724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66EF8ADE-48EE-B502-2FF8-B97CCE3BF15F}"/>
              </a:ext>
            </a:extLst>
          </p:cNvPr>
          <p:cNvSpPr txBox="1"/>
          <p:nvPr/>
        </p:nvSpPr>
        <p:spPr>
          <a:xfrm>
            <a:off x="9706345" y="4231126"/>
            <a:ext cx="749065" cy="369332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V</a:t>
            </a:r>
            <a:r>
              <a:rPr lang="en-US" baseline="-2500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02F3AE-91ED-6AAB-26D7-F9700AD0A404}"/>
              </a:ext>
            </a:extLst>
          </p:cNvPr>
          <p:cNvSpPr txBox="1"/>
          <p:nvPr/>
        </p:nvSpPr>
        <p:spPr>
          <a:xfrm>
            <a:off x="5587407" y="4220896"/>
            <a:ext cx="749065" cy="369332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V</a:t>
            </a:r>
            <a:r>
              <a:rPr lang="en-US" baseline="-2500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1D599B5-2F2C-4412-DD92-EF73E7E73B0A}"/>
              </a:ext>
            </a:extLst>
          </p:cNvPr>
          <p:cNvSpPr txBox="1"/>
          <p:nvPr/>
        </p:nvSpPr>
        <p:spPr>
          <a:xfrm>
            <a:off x="1650004" y="4256861"/>
            <a:ext cx="749065" cy="369332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V</a:t>
            </a:r>
            <a:r>
              <a:rPr lang="en-US" baseline="-25000"/>
              <a:t>1</a:t>
            </a:r>
          </a:p>
        </p:txBody>
      </p:sp>
      <p:pic>
        <p:nvPicPr>
          <p:cNvPr id="3090" name="Picture 18">
            <a:extLst>
              <a:ext uri="{FF2B5EF4-FFF2-40B4-BE49-F238E27FC236}">
                <a16:creationId xmlns:a16="http://schemas.microsoft.com/office/drawing/2014/main" id="{BE49C2BB-8B76-AAC7-61E4-BCCAE761A3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9770" y="721003"/>
            <a:ext cx="7973403" cy="3317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6879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 animBg="1"/>
      <p:bldP spid="10" grpId="0"/>
      <p:bldP spid="11" grpId="0"/>
      <p:bldP spid="12" grpId="0" animBg="1"/>
      <p:bldP spid="14" grpId="0"/>
      <p:bldP spid="15" grpId="0"/>
      <p:bldP spid="16" grpId="0" animBg="1"/>
      <p:bldP spid="17" grpId="0" animBg="1"/>
      <p:bldP spid="18" grpId="0" animBg="1"/>
      <p:bldP spid="1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452E7-FAA8-157B-62B6-B543A6598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064FE-3488-01E1-C2D5-A90A0E73E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Exemplo 2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0318EC-5AD7-909F-20D9-3F8ECA8BC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619210"/>
            <a:ext cx="10972800" cy="3261228"/>
          </a:xfrm>
        </p:spPr>
        <p:txBody>
          <a:bodyPr/>
          <a:lstStyle/>
          <a:p>
            <a:endParaRPr lang="en-US"/>
          </a:p>
          <a:p>
            <a:endParaRPr lang="pt-BR"/>
          </a:p>
          <a:p>
            <a:endParaRPr lang="pt-BR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8587BDAD-8179-86D7-C835-55AE33392C06}"/>
              </a:ext>
            </a:extLst>
          </p:cNvPr>
          <p:cNvSpPr/>
          <p:nvPr/>
        </p:nvSpPr>
        <p:spPr>
          <a:xfrm>
            <a:off x="4479791" y="4948256"/>
            <a:ext cx="1847235" cy="83371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BA2757F-EE5F-8A43-4D20-E0AE734E8619}"/>
                  </a:ext>
                </a:extLst>
              </p:cNvPr>
              <p:cNvSpPr txBox="1"/>
              <p:nvPr/>
            </p:nvSpPr>
            <p:spPr>
              <a:xfrm>
                <a:off x="6733133" y="4758338"/>
                <a:ext cx="4897559" cy="14508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pt-BR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33</m:t>
                                </m:r>
                              </m:e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28</m:t>
                                </m:r>
                              </m:e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123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60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140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40</m:t>
                                </m:r>
                              </m:e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243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pt-B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pt-BR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pt-BR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pt-BR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100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−560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pt-BR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BA2757F-EE5F-8A43-4D20-E0AE734E86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3133" y="4758338"/>
                <a:ext cx="4897559" cy="145084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18">
            <a:extLst>
              <a:ext uri="{FF2B5EF4-FFF2-40B4-BE49-F238E27FC236}">
                <a16:creationId xmlns:a16="http://schemas.microsoft.com/office/drawing/2014/main" id="{18181433-918B-3F2A-F1DC-35E837DCD4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9770" y="721003"/>
            <a:ext cx="7973403" cy="3317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C3B3A6E-8F2A-D5D4-55F8-1CE342792228}"/>
                  </a:ext>
                </a:extLst>
              </p:cNvPr>
              <p:cNvSpPr txBox="1"/>
              <p:nvPr/>
            </p:nvSpPr>
            <p:spPr>
              <a:xfrm>
                <a:off x="866183" y="4627655"/>
                <a:ext cx="2600391" cy="320601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ts val="25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−2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−15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C3B3A6E-8F2A-D5D4-55F8-1CE3427922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183" y="4627655"/>
                <a:ext cx="2600391" cy="320601"/>
              </a:xfrm>
              <a:prstGeom prst="rect">
                <a:avLst/>
              </a:prstGeom>
              <a:blipFill>
                <a:blip r:embed="rId4"/>
                <a:stretch>
                  <a:fillRect l="-926" r="-926" b="-1724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05FDC16-3AB1-F8E8-B853-254307161203}"/>
                  </a:ext>
                </a:extLst>
              </p:cNvPr>
              <p:cNvSpPr txBox="1"/>
              <p:nvPr/>
            </p:nvSpPr>
            <p:spPr>
              <a:xfrm>
                <a:off x="866183" y="5278280"/>
                <a:ext cx="2600392" cy="320601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ts val="25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28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123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60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pt-BR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05FDC16-3AB1-F8E8-B853-2543071612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183" y="5278280"/>
                <a:ext cx="2600392" cy="320601"/>
              </a:xfrm>
              <a:prstGeom prst="rect">
                <a:avLst/>
              </a:prstGeom>
              <a:blipFill>
                <a:blip r:embed="rId5"/>
                <a:stretch>
                  <a:fillRect l="-926" r="-694" b="-1754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B6F2996-3ECC-5DD7-89A6-2F2F5BD6A8EC}"/>
                  </a:ext>
                </a:extLst>
              </p:cNvPr>
              <p:cNvSpPr txBox="1"/>
              <p:nvPr/>
            </p:nvSpPr>
            <p:spPr>
              <a:xfrm>
                <a:off x="609600" y="5928905"/>
                <a:ext cx="3158237" cy="320601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ts val="25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140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40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243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560</m:t>
                      </m:r>
                    </m:oMath>
                  </m:oMathPara>
                </a14:m>
                <a:endParaRPr lang="pt-BR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B6F2996-3ECC-5DD7-89A6-2F2F5BD6A8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5928905"/>
                <a:ext cx="3158237" cy="320601"/>
              </a:xfrm>
              <a:prstGeom prst="rect">
                <a:avLst/>
              </a:prstGeom>
              <a:blipFill>
                <a:blip r:embed="rId6"/>
                <a:stretch>
                  <a:fillRect l="-574" r="-765" b="-1754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6424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1" grpId="0"/>
      <p:bldP spid="10" grpId="0" animBg="1"/>
      <p:bldP spid="11" grpId="0" animBg="1"/>
      <p:bldP spid="1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8D675-F422-6DFC-0CC0-6C0E99C2C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Exemplo 2</a:t>
            </a:r>
            <a:endParaRPr lang="pt-BR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9DCB8DF-3DD3-C9F6-8E32-7818074A51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1037413"/>
              </p:ext>
            </p:extLst>
          </p:nvPr>
        </p:nvGraphicFramePr>
        <p:xfrm>
          <a:off x="248117" y="1723571"/>
          <a:ext cx="11740172" cy="4663440"/>
        </p:xfrm>
        <a:graphic>
          <a:graphicData uri="http://schemas.openxmlformats.org/drawingml/2006/table">
            <a:tbl>
              <a:tblPr firstRow="1" firstCol="1" bandRow="1"/>
              <a:tblGrid>
                <a:gridCol w="459509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1280663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3614081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12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17</a:t>
                      </a: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import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numpy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as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np</a:t>
                      </a:r>
                    </a:p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from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scipy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import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linalg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as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la</a:t>
                      </a:r>
                    </a:p>
                    <a:p>
                      <a:endParaRPr lang="pt-BR" sz="18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np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array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([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[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33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-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2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-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15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],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pt-BR" sz="1800">
                          <a:solidFill>
                            <a:srgbClr val="008000"/>
                          </a:solidFill>
                          <a:effectLst/>
                          <a:latin typeface="Courier New" panose="02070309020205020404" pitchFamily="49" charset="0"/>
                        </a:rPr>
                        <a:t># 33𝑉1 − 2𝑉2 − 15𝑉3 = 100</a:t>
                      </a:r>
                      <a:endParaRPr lang="pt-BR" sz="18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         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[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28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-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123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60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],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008000"/>
                          </a:solidFill>
                          <a:effectLst/>
                          <a:latin typeface="Courier New" panose="02070309020205020404" pitchFamily="49" charset="0"/>
                        </a:rPr>
                        <a:t># 28𝑉1 − 123𝑉2 + 60𝑉3 = 0</a:t>
                      </a:r>
                      <a:endParaRPr lang="pt-BR" sz="18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         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[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140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40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-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243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]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</a:t>
                      </a:r>
                      <a:r>
                        <a:rPr lang="pt-BR" sz="1800">
                          <a:solidFill>
                            <a:srgbClr val="008000"/>
                          </a:solidFill>
                          <a:effectLst/>
                          <a:latin typeface="Courier New" panose="02070309020205020404" pitchFamily="49" charset="0"/>
                        </a:rPr>
                        <a:t># 140𝑉1 + 40𝑉2 − 243𝑉3 = −560</a:t>
                      </a:r>
                      <a:endParaRPr lang="pt-BR" sz="18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])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b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np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array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([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100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0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-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560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])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solution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la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solve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b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V1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V2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V3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solution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round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2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f"V1 = {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V1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}V \n V2 = {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V2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}V \n V3 = {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V3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}V"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8000"/>
                          </a:solidFill>
                          <a:effectLst/>
                          <a:latin typeface="Courier New" panose="02070309020205020404" pitchFamily="49" charset="0"/>
                        </a:rPr>
                        <a:t># Output</a:t>
                      </a:r>
                      <a:endParaRPr lang="pt-BR" sz="18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8000"/>
                          </a:solidFill>
                          <a:effectLst/>
                          <a:latin typeface="Courier New" panose="02070309020205020404" pitchFamily="49" charset="0"/>
                        </a:rPr>
                        <a:t># V1 = 6.4V</a:t>
                      </a:r>
                    </a:p>
                    <a:p>
                      <a:r>
                        <a:rPr lang="pt-BR" sz="1800">
                          <a:solidFill>
                            <a:srgbClr val="008000"/>
                          </a:solidFill>
                          <a:effectLst/>
                          <a:latin typeface="Courier New" panose="02070309020205020404" pitchFamily="49" charset="0"/>
                        </a:rPr>
                        <a:t># V2 = 4.76V</a:t>
                      </a:r>
                      <a:endParaRPr lang="pt-BR" sz="18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8000"/>
                          </a:solidFill>
                          <a:effectLst/>
                          <a:latin typeface="Courier New" panose="02070309020205020404" pitchFamily="49" charset="0"/>
                        </a:rPr>
                        <a:t># V3 = 6.77V</a:t>
                      </a:r>
                      <a:endParaRPr lang="pt-BR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1F1C5D8-5853-301E-5ED7-B07DB74101A2}"/>
                  </a:ext>
                </a:extLst>
              </p:cNvPr>
              <p:cNvSpPr txBox="1"/>
              <p:nvPr/>
            </p:nvSpPr>
            <p:spPr>
              <a:xfrm>
                <a:off x="6790763" y="272725"/>
                <a:ext cx="4897559" cy="14508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pt-BR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33</m:t>
                                </m:r>
                              </m:e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28</m:t>
                                </m:r>
                              </m:e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123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60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140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40</m:t>
                                </m:r>
                              </m:e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243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pt-B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pt-BR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pt-BR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pt-BR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100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−560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pt-BR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1F1C5D8-5853-301E-5ED7-B07DB74101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0763" y="272725"/>
                <a:ext cx="4897559" cy="145084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1899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DCB69-EA33-2F8C-0A2F-9CC8BE27F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Exemplo 2</a:t>
            </a:r>
            <a:endParaRPr lang="pt-BR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7AC8AC5-E2E3-F477-66C4-7B9AF09C6D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008" y="1414690"/>
            <a:ext cx="10673983" cy="4440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6938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6B2CC-0477-9373-51C0-B4ADB4A90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Exemplo 3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0A6812-7036-93E1-D82D-FA8444FB90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Vamos aplicar sistemas lineares à química.</a:t>
            </a:r>
          </a:p>
          <a:p>
            <a:pPr lvl="1"/>
            <a:r>
              <a:rPr lang="en-US"/>
              <a:t>Faça o balanceamento da reação química:</a:t>
            </a:r>
            <a:endParaRPr lang="pt-B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E9BDB70-9900-84BC-B7D6-7827F2B1458C}"/>
                  </a:ext>
                </a:extLst>
              </p:cNvPr>
              <p:cNvSpPr txBox="1"/>
              <p:nvPr/>
            </p:nvSpPr>
            <p:spPr>
              <a:xfrm>
                <a:off x="2238173" y="2864475"/>
                <a:ext cx="8072112" cy="655949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𝐶</m:t>
                      </m:r>
                      <m:r>
                        <a:rPr lang="en-US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𝑢</m:t>
                      </m:r>
                      <m:r>
                        <a:rPr lang="en-US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𝐻𝑁</m:t>
                      </m:r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𝐶𝑢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US" sz="28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𝑁</m:t>
                                  </m:r>
                                  <m:sSub>
                                    <m:sSubPr>
                                      <m:ctrlPr>
                                        <a:rPr lang="en-US" sz="28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𝑂</m:t>
                                      </m:r>
                                    </m:e>
                                    <m:sub>
                                      <m:r>
                                        <a:rPr lang="en-US" sz="28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𝑁𝑂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5</m:t>
                          </m:r>
                        </m:sub>
                      </m:sSub>
                      <m:sSub>
                        <m:sSubPr>
                          <m:ctrlPr>
                            <a:rPr lang="pt-B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𝑂</m:t>
                      </m:r>
                    </m:oMath>
                  </m:oMathPara>
                </a14:m>
                <a:endParaRPr lang="pt-BR" sz="2800" kern="10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E9BDB70-9900-84BC-B7D6-7827F2B145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8173" y="2864475"/>
                <a:ext cx="8072112" cy="65594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2755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552FE5B-AA09-02E4-D816-BF3C397BD3BB}"/>
                  </a:ext>
                </a:extLst>
              </p:cNvPr>
              <p:cNvSpPr txBox="1"/>
              <p:nvPr/>
            </p:nvSpPr>
            <p:spPr>
              <a:xfrm>
                <a:off x="1809591" y="2537904"/>
                <a:ext cx="8072112" cy="6559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𝐶</m:t>
                      </m:r>
                      <m:r>
                        <a:rPr lang="en-US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𝑢</m:t>
                      </m:r>
                      <m:r>
                        <a:rPr lang="en-US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𝐻𝑁</m:t>
                      </m:r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𝐶𝑢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US" sz="28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𝑁</m:t>
                                  </m:r>
                                  <m:sSub>
                                    <m:sSubPr>
                                      <m:ctrlPr>
                                        <a:rPr lang="en-US" sz="28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𝑂</m:t>
                                      </m:r>
                                    </m:e>
                                    <m:sub>
                                      <m:r>
                                        <a:rPr lang="en-US" sz="28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𝑁𝑂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5</m:t>
                          </m:r>
                        </m:sub>
                      </m:sSub>
                      <m:sSub>
                        <m:sSubPr>
                          <m:ctrlPr>
                            <a:rPr lang="pt-B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𝑂</m:t>
                      </m:r>
                    </m:oMath>
                  </m:oMathPara>
                </a14:m>
                <a:endParaRPr lang="pt-BR" sz="2800" kern="10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552FE5B-AA09-02E4-D816-BF3C397BD3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9591" y="2537904"/>
                <a:ext cx="8072112" cy="65594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5BC13B9C-9253-F27D-E824-0AFEEC2EB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Exemplo 3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6BA20-00F9-7EA5-1CF5-2E1795BBB8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2"/>
            <a:ext cx="10972800" cy="1105002"/>
          </a:xfrm>
        </p:spPr>
        <p:txBody>
          <a:bodyPr/>
          <a:lstStyle/>
          <a:p>
            <a:r>
              <a:rPr lang="en-US"/>
              <a:t>Sabemos que o número de átomos de cada um dos tipos nos produtos e nos reagentes deve ser o mesmo. Portanto:</a:t>
            </a:r>
            <a:endParaRPr lang="pt-B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3CBA8B9-2663-2ACE-82F9-FBAED275259F}"/>
              </a:ext>
            </a:extLst>
          </p:cNvPr>
          <p:cNvSpPr/>
          <p:nvPr/>
        </p:nvSpPr>
        <p:spPr>
          <a:xfrm>
            <a:off x="1944060" y="2613765"/>
            <a:ext cx="993445" cy="449222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92A4B82-3679-55B8-D601-844F1341C7FA}"/>
                  </a:ext>
                </a:extLst>
              </p:cNvPr>
              <p:cNvSpPr txBox="1"/>
              <p:nvPr/>
            </p:nvSpPr>
            <p:spPr>
              <a:xfrm>
                <a:off x="3650243" y="3664148"/>
                <a:ext cx="3661130" cy="194405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=2</m:t>
                              </m:r>
                              <m:sSub>
                                <m:sSubPr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=2</m:t>
                              </m:r>
                              <m:sSub>
                                <m:sSubPr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=6</m:t>
                              </m:r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pt-BR" sz="2800"/>
              </a:p>
              <a:p>
                <a:endParaRPr lang="pt-BR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92A4B82-3679-55B8-D601-844F1341C7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0243" y="3664148"/>
                <a:ext cx="3661130" cy="194405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ctangle 25">
            <a:extLst>
              <a:ext uri="{FF2B5EF4-FFF2-40B4-BE49-F238E27FC236}">
                <a16:creationId xmlns:a16="http://schemas.microsoft.com/office/drawing/2014/main" id="{AC2C604D-78DD-6727-43D1-1410659BD5E7}"/>
              </a:ext>
            </a:extLst>
          </p:cNvPr>
          <p:cNvSpPr/>
          <p:nvPr/>
        </p:nvSpPr>
        <p:spPr>
          <a:xfrm>
            <a:off x="4920386" y="3648780"/>
            <a:ext cx="1449677" cy="403824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4724CE3-9351-03D7-023B-085B6B1E9119}"/>
              </a:ext>
            </a:extLst>
          </p:cNvPr>
          <p:cNvCxnSpPr>
            <a:cxnSpLocks/>
            <a:stCxn id="26" idx="3"/>
            <a:endCxn id="28" idx="1"/>
          </p:cNvCxnSpPr>
          <p:nvPr/>
        </p:nvCxnSpPr>
        <p:spPr>
          <a:xfrm>
            <a:off x="6370063" y="3850692"/>
            <a:ext cx="1529251" cy="768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7974FCA6-2AE1-8937-0B51-C1CE0D2B7A4D}"/>
              </a:ext>
            </a:extLst>
          </p:cNvPr>
          <p:cNvSpPr txBox="1"/>
          <p:nvPr/>
        </p:nvSpPr>
        <p:spPr>
          <a:xfrm>
            <a:off x="7899314" y="3535210"/>
            <a:ext cx="2589676" cy="646331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Balanceamento do cobre (Cu)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435200E-B63F-C547-6A7B-E2388440A45E}"/>
              </a:ext>
            </a:extLst>
          </p:cNvPr>
          <p:cNvSpPr/>
          <p:nvPr/>
        </p:nvSpPr>
        <p:spPr>
          <a:xfrm>
            <a:off x="4984085" y="2609941"/>
            <a:ext cx="1946913" cy="449222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13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1" grpId="0" animBg="1"/>
      <p:bldP spid="23" grpId="0"/>
      <p:bldP spid="26" grpId="0" animBg="1"/>
      <p:bldP spid="28" grpId="0" animBg="1"/>
      <p:bldP spid="3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41FF1-FFB2-4B8A-A48D-FA17E999E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AC0B27B-8B8E-B5A8-DEAC-2335095D2791}"/>
                  </a:ext>
                </a:extLst>
              </p:cNvPr>
              <p:cNvSpPr txBox="1"/>
              <p:nvPr/>
            </p:nvSpPr>
            <p:spPr>
              <a:xfrm>
                <a:off x="1809591" y="2537904"/>
                <a:ext cx="8072112" cy="6559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𝐶</m:t>
                      </m:r>
                      <m:r>
                        <a:rPr lang="en-US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𝑢</m:t>
                      </m:r>
                      <m:r>
                        <a:rPr lang="en-US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𝐻𝑁</m:t>
                      </m:r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𝐶𝑢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US" sz="28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𝑁</m:t>
                                  </m:r>
                                  <m:sSub>
                                    <m:sSubPr>
                                      <m:ctrlPr>
                                        <a:rPr lang="en-US" sz="28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𝑂</m:t>
                                      </m:r>
                                    </m:e>
                                    <m:sub>
                                      <m:r>
                                        <a:rPr lang="en-US" sz="28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𝑁𝑂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5</m:t>
                          </m:r>
                        </m:sub>
                      </m:sSub>
                      <m:sSub>
                        <m:sSubPr>
                          <m:ctrlPr>
                            <a:rPr lang="pt-B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𝑂</m:t>
                      </m:r>
                    </m:oMath>
                  </m:oMathPara>
                </a14:m>
                <a:endParaRPr lang="pt-BR" sz="2800" kern="10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AC0B27B-8B8E-B5A8-DEAC-2335095D2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9591" y="2537904"/>
                <a:ext cx="8072112" cy="65594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9A602C78-71D9-516C-7982-086558732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Exemplo 3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8397C7-048E-9F19-BC11-673AA67D32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2"/>
            <a:ext cx="10972800" cy="1105002"/>
          </a:xfrm>
        </p:spPr>
        <p:txBody>
          <a:bodyPr/>
          <a:lstStyle/>
          <a:p>
            <a:r>
              <a:rPr lang="en-US"/>
              <a:t>Sabemos que o número de átomos de cada um dos tipos nos produtos e nos reagentes deve ser o mesmo. Portanto:</a:t>
            </a:r>
            <a:endParaRPr lang="pt-B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6FE78E6-2E6F-3854-1A86-146C298D5AF5}"/>
              </a:ext>
            </a:extLst>
          </p:cNvPr>
          <p:cNvSpPr/>
          <p:nvPr/>
        </p:nvSpPr>
        <p:spPr>
          <a:xfrm>
            <a:off x="1944060" y="2613765"/>
            <a:ext cx="993445" cy="449222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7260C4A-C514-EA1F-FD39-45CCC2BA3BE5}"/>
                  </a:ext>
                </a:extLst>
              </p:cNvPr>
              <p:cNvSpPr txBox="1"/>
              <p:nvPr/>
            </p:nvSpPr>
            <p:spPr>
              <a:xfrm>
                <a:off x="3650243" y="3664148"/>
                <a:ext cx="3661130" cy="194405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=2</m:t>
                              </m:r>
                              <m:sSub>
                                <m:sSubPr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=2</m:t>
                              </m:r>
                              <m:sSub>
                                <m:sSubPr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=6</m:t>
                              </m:r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pt-BR" sz="2800"/>
              </a:p>
              <a:p>
                <a:endParaRPr lang="pt-BR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7260C4A-C514-EA1F-FD39-45CCC2BA3B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0243" y="3664148"/>
                <a:ext cx="3661130" cy="194405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ctangle 25">
            <a:extLst>
              <a:ext uri="{FF2B5EF4-FFF2-40B4-BE49-F238E27FC236}">
                <a16:creationId xmlns:a16="http://schemas.microsoft.com/office/drawing/2014/main" id="{CDEFE418-C1D7-573C-FCD3-58AAD91A0EE9}"/>
              </a:ext>
            </a:extLst>
          </p:cNvPr>
          <p:cNvSpPr/>
          <p:nvPr/>
        </p:nvSpPr>
        <p:spPr>
          <a:xfrm>
            <a:off x="4920386" y="3648780"/>
            <a:ext cx="1449677" cy="403824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61748EE-9CCD-F7BE-DE88-08480FAFAB39}"/>
              </a:ext>
            </a:extLst>
          </p:cNvPr>
          <p:cNvCxnSpPr>
            <a:cxnSpLocks/>
            <a:stCxn id="26" idx="3"/>
            <a:endCxn id="28" idx="1"/>
          </p:cNvCxnSpPr>
          <p:nvPr/>
        </p:nvCxnSpPr>
        <p:spPr>
          <a:xfrm>
            <a:off x="6370063" y="3850692"/>
            <a:ext cx="1529251" cy="768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A7929EFE-5820-44C3-BB8F-2B93245581AF}"/>
              </a:ext>
            </a:extLst>
          </p:cNvPr>
          <p:cNvSpPr txBox="1"/>
          <p:nvPr/>
        </p:nvSpPr>
        <p:spPr>
          <a:xfrm>
            <a:off x="7899314" y="3535210"/>
            <a:ext cx="2589676" cy="646331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Balanceamento do cobre (Cu)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4579751-EBB5-BFF0-60B5-0D5F571AB8AF}"/>
              </a:ext>
            </a:extLst>
          </p:cNvPr>
          <p:cNvSpPr/>
          <p:nvPr/>
        </p:nvSpPr>
        <p:spPr>
          <a:xfrm>
            <a:off x="4984085" y="2609941"/>
            <a:ext cx="1946913" cy="449222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CC56AD-B2BE-6CBA-9781-860446D655FF}"/>
              </a:ext>
            </a:extLst>
          </p:cNvPr>
          <p:cNvSpPr/>
          <p:nvPr/>
        </p:nvSpPr>
        <p:spPr>
          <a:xfrm>
            <a:off x="3214487" y="2609941"/>
            <a:ext cx="1338303" cy="449222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857057-110B-B9AB-BD04-C3CF6CD5BB1D}"/>
              </a:ext>
            </a:extLst>
          </p:cNvPr>
          <p:cNvSpPr/>
          <p:nvPr/>
        </p:nvSpPr>
        <p:spPr>
          <a:xfrm>
            <a:off x="8588188" y="2581766"/>
            <a:ext cx="1128274" cy="449222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E815E9-4A20-1E98-D2E3-5394D9C9BE2B}"/>
              </a:ext>
            </a:extLst>
          </p:cNvPr>
          <p:cNvSpPr/>
          <p:nvPr/>
        </p:nvSpPr>
        <p:spPr>
          <a:xfrm>
            <a:off x="4920385" y="4067972"/>
            <a:ext cx="1449677" cy="403824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57A05BC-EF74-7345-A6A8-6A6937CDFF16}"/>
              </a:ext>
            </a:extLst>
          </p:cNvPr>
          <p:cNvCxnSpPr>
            <a:cxnSpLocks/>
            <a:stCxn id="6" idx="3"/>
            <a:endCxn id="10" idx="1"/>
          </p:cNvCxnSpPr>
          <p:nvPr/>
        </p:nvCxnSpPr>
        <p:spPr>
          <a:xfrm>
            <a:off x="6370062" y="4269884"/>
            <a:ext cx="1531543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C1BD940-7091-86BE-70C0-886FA34EBB7D}"/>
              </a:ext>
            </a:extLst>
          </p:cNvPr>
          <p:cNvSpPr txBox="1"/>
          <p:nvPr/>
        </p:nvSpPr>
        <p:spPr>
          <a:xfrm>
            <a:off x="7901605" y="3946718"/>
            <a:ext cx="2589676" cy="646331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Balanceamento do hidrogênio (H)</a:t>
            </a:r>
          </a:p>
        </p:txBody>
      </p:sp>
    </p:spTree>
    <p:extLst>
      <p:ext uri="{BB962C8B-B14F-4D97-AF65-F5344CB8AC3E}">
        <p14:creationId xmlns:p14="http://schemas.microsoft.com/office/powerpoint/2010/main" val="4004882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6" grpId="0" animBg="1"/>
      <p:bldP spid="28" grpId="0" animBg="1"/>
      <p:bldP spid="32" grpId="0" animBg="1"/>
      <p:bldP spid="6" grpId="0" animBg="1"/>
      <p:bldP spid="1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3083C1-8EFC-7CD0-6BC1-094E82C8D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69F3668-8EFD-7A34-4D62-9EFE9BB38B84}"/>
                  </a:ext>
                </a:extLst>
              </p:cNvPr>
              <p:cNvSpPr txBox="1"/>
              <p:nvPr/>
            </p:nvSpPr>
            <p:spPr>
              <a:xfrm>
                <a:off x="3650243" y="3664148"/>
                <a:ext cx="3661130" cy="194405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=2</m:t>
                              </m:r>
                              <m:sSub>
                                <m:sSubPr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=2</m:t>
                              </m:r>
                              <m:sSub>
                                <m:sSubPr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=6</m:t>
                              </m:r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pt-BR" sz="2800"/>
              </a:p>
              <a:p>
                <a:endParaRPr lang="pt-BR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69F3668-8EFD-7A34-4D62-9EFE9BB38B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0243" y="3664148"/>
                <a:ext cx="3661130" cy="194405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7A63D4B1-8C5D-AABE-D78E-29C416C3C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Exemplo 3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A94995-C80B-524A-4AF6-024F843A26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2"/>
            <a:ext cx="10972800" cy="1105002"/>
          </a:xfrm>
        </p:spPr>
        <p:txBody>
          <a:bodyPr/>
          <a:lstStyle/>
          <a:p>
            <a:r>
              <a:rPr lang="en-US"/>
              <a:t>Sabemos que o número de átomos de cada um dos tipos nos produtos e nos reagentes deve ser o mesmo. Portanto:</a:t>
            </a:r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F3FDC28-FD9C-4E02-0582-DA880E2177A5}"/>
                  </a:ext>
                </a:extLst>
              </p:cNvPr>
              <p:cNvSpPr txBox="1"/>
              <p:nvPr/>
            </p:nvSpPr>
            <p:spPr>
              <a:xfrm>
                <a:off x="1809591" y="2537904"/>
                <a:ext cx="8072112" cy="6559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𝐶</m:t>
                      </m:r>
                      <m:r>
                        <a:rPr lang="en-US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𝑢</m:t>
                      </m:r>
                      <m:r>
                        <a:rPr lang="en-US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𝐻𝑁</m:t>
                      </m:r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𝐶𝑢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US" sz="28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𝑁</m:t>
                                  </m:r>
                                  <m:sSub>
                                    <m:sSubPr>
                                      <m:ctrlPr>
                                        <a:rPr lang="en-US" sz="28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𝑂</m:t>
                                      </m:r>
                                    </m:e>
                                    <m:sub>
                                      <m:r>
                                        <a:rPr lang="en-US" sz="28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𝑁𝑂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5</m:t>
                          </m:r>
                        </m:sub>
                      </m:sSub>
                      <m:sSub>
                        <m:sSubPr>
                          <m:ctrlPr>
                            <a:rPr lang="pt-B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𝑂</m:t>
                      </m:r>
                    </m:oMath>
                  </m:oMathPara>
                </a14:m>
                <a:endParaRPr lang="pt-BR" sz="2800" kern="10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F3FDC28-FD9C-4E02-0582-DA880E2177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9591" y="2537904"/>
                <a:ext cx="8072112" cy="65594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34688D9B-4007-FF21-3854-63B7B25E34D2}"/>
              </a:ext>
            </a:extLst>
          </p:cNvPr>
          <p:cNvSpPr/>
          <p:nvPr/>
        </p:nvSpPr>
        <p:spPr>
          <a:xfrm>
            <a:off x="4878124" y="4034188"/>
            <a:ext cx="1449677" cy="403824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41E54A2-7394-6978-9FEC-AF9D02C05DFF}"/>
              </a:ext>
            </a:extLst>
          </p:cNvPr>
          <p:cNvCxnSpPr>
            <a:cxnSpLocks/>
            <a:stCxn id="4" idx="3"/>
            <a:endCxn id="8" idx="1"/>
          </p:cNvCxnSpPr>
          <p:nvPr/>
        </p:nvCxnSpPr>
        <p:spPr>
          <a:xfrm>
            <a:off x="6327801" y="4236100"/>
            <a:ext cx="1571513" cy="2141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0D556B9-51EF-09B3-22C2-AAED6BDD0711}"/>
              </a:ext>
            </a:extLst>
          </p:cNvPr>
          <p:cNvSpPr txBox="1"/>
          <p:nvPr/>
        </p:nvSpPr>
        <p:spPr>
          <a:xfrm>
            <a:off x="7899314" y="3934352"/>
            <a:ext cx="2589676" cy="646331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Balanceamento do hidrogênio (H)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631AC3C-FC92-D89A-8B58-5D5E65C63DE7}"/>
              </a:ext>
            </a:extLst>
          </p:cNvPr>
          <p:cNvSpPr/>
          <p:nvPr/>
        </p:nvSpPr>
        <p:spPr>
          <a:xfrm>
            <a:off x="3186768" y="2625899"/>
            <a:ext cx="1389074" cy="449222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12F01DB-4D42-F2E9-BF3C-19C6743056A8}"/>
              </a:ext>
            </a:extLst>
          </p:cNvPr>
          <p:cNvSpPr/>
          <p:nvPr/>
        </p:nvSpPr>
        <p:spPr>
          <a:xfrm>
            <a:off x="8599153" y="2607130"/>
            <a:ext cx="1094255" cy="449222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1F6C19-B856-0F3F-22D4-CADB3A0ED0CD}"/>
              </a:ext>
            </a:extLst>
          </p:cNvPr>
          <p:cNvSpPr/>
          <p:nvPr/>
        </p:nvSpPr>
        <p:spPr>
          <a:xfrm>
            <a:off x="5001745" y="2607130"/>
            <a:ext cx="1944621" cy="449222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C1D1FD-AC92-7B19-77AA-681A20ECCA31}"/>
              </a:ext>
            </a:extLst>
          </p:cNvPr>
          <p:cNvSpPr/>
          <p:nvPr/>
        </p:nvSpPr>
        <p:spPr>
          <a:xfrm>
            <a:off x="7280061" y="2620066"/>
            <a:ext cx="964907" cy="449222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48AE0A-0EA0-C134-A847-FE28FDA24A35}"/>
              </a:ext>
            </a:extLst>
          </p:cNvPr>
          <p:cNvSpPr/>
          <p:nvPr/>
        </p:nvSpPr>
        <p:spPr>
          <a:xfrm>
            <a:off x="4481115" y="4467055"/>
            <a:ext cx="2246256" cy="403824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16D448E-CC9B-DA43-070B-4C334C76CC02}"/>
              </a:ext>
            </a:extLst>
          </p:cNvPr>
          <p:cNvCxnSpPr>
            <a:cxnSpLocks/>
            <a:stCxn id="12" idx="3"/>
            <a:endCxn id="23" idx="1"/>
          </p:cNvCxnSpPr>
          <p:nvPr/>
        </p:nvCxnSpPr>
        <p:spPr>
          <a:xfrm>
            <a:off x="6727371" y="4668967"/>
            <a:ext cx="1171943" cy="1648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280A499C-5E1E-C832-1D6C-91E65FEF137A}"/>
              </a:ext>
            </a:extLst>
          </p:cNvPr>
          <p:cNvSpPr txBox="1"/>
          <p:nvPr/>
        </p:nvSpPr>
        <p:spPr>
          <a:xfrm>
            <a:off x="7899314" y="4362286"/>
            <a:ext cx="2589676" cy="646331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Balanceamento do nitrogênio (N)</a:t>
            </a:r>
          </a:p>
        </p:txBody>
      </p:sp>
    </p:spTree>
    <p:extLst>
      <p:ext uri="{BB962C8B-B14F-4D97-AF65-F5344CB8AC3E}">
        <p14:creationId xmlns:p14="http://schemas.microsoft.com/office/powerpoint/2010/main" val="2961549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15" grpId="0" animBg="1"/>
      <p:bldP spid="18" grpId="0" animBg="1"/>
      <p:bldP spid="7" grpId="0" animBg="1"/>
      <p:bldP spid="10" grpId="0" animBg="1"/>
      <p:bldP spid="12" grpId="0" animBg="1"/>
      <p:bldP spid="2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A8CF7-B8E5-2B0C-1708-D2334527C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34A3506-5684-D0BB-9F2A-15F0E96E6BC3}"/>
                  </a:ext>
                </a:extLst>
              </p:cNvPr>
              <p:cNvSpPr txBox="1"/>
              <p:nvPr/>
            </p:nvSpPr>
            <p:spPr>
              <a:xfrm>
                <a:off x="3650243" y="3664148"/>
                <a:ext cx="3661130" cy="194405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=2</m:t>
                              </m:r>
                              <m:sSub>
                                <m:sSubPr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=2</m:t>
                              </m:r>
                              <m:sSub>
                                <m:sSubPr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=6</m:t>
                              </m:r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pt-BR" sz="2800"/>
              </a:p>
              <a:p>
                <a:endParaRPr lang="pt-BR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34A3506-5684-D0BB-9F2A-15F0E96E6B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0243" y="3664148"/>
                <a:ext cx="3661130" cy="194405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BEE6EAC8-458D-D1CF-FB7E-26BBF8FCB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Exemplo 3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3CC335-9506-E194-C6B8-8D4D362C5D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2"/>
            <a:ext cx="10972800" cy="1105002"/>
          </a:xfrm>
        </p:spPr>
        <p:txBody>
          <a:bodyPr/>
          <a:lstStyle/>
          <a:p>
            <a:r>
              <a:rPr lang="en-US"/>
              <a:t>Sabemos que o número de átomos de cada um dos tipos nos produtos e nos reagentes deve ser o mesmo. Portanto:</a:t>
            </a:r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21AFF08-6050-79A5-56A7-A4641535B2E8}"/>
                  </a:ext>
                </a:extLst>
              </p:cNvPr>
              <p:cNvSpPr txBox="1"/>
              <p:nvPr/>
            </p:nvSpPr>
            <p:spPr>
              <a:xfrm>
                <a:off x="1809591" y="2537904"/>
                <a:ext cx="8072112" cy="6559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𝐶</m:t>
                      </m:r>
                      <m:r>
                        <a:rPr lang="en-US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𝑢</m:t>
                      </m:r>
                      <m:r>
                        <a:rPr lang="en-US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𝐻𝑁</m:t>
                      </m:r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𝐶𝑢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US" sz="28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𝑁</m:t>
                                  </m:r>
                                  <m:sSub>
                                    <m:sSubPr>
                                      <m:ctrlPr>
                                        <a:rPr lang="en-US" sz="28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𝑂</m:t>
                                      </m:r>
                                    </m:e>
                                    <m:sub>
                                      <m:r>
                                        <a:rPr lang="en-US" sz="28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𝑁𝑂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5</m:t>
                          </m:r>
                        </m:sub>
                      </m:sSub>
                      <m:sSub>
                        <m:sSubPr>
                          <m:ctrlPr>
                            <a:rPr lang="pt-B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𝑂</m:t>
                      </m:r>
                    </m:oMath>
                  </m:oMathPara>
                </a14:m>
                <a:endParaRPr lang="pt-BR" sz="2800" kern="10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21AFF08-6050-79A5-56A7-A4641535B2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9591" y="2537904"/>
                <a:ext cx="8072112" cy="65594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>
            <a:extLst>
              <a:ext uri="{FF2B5EF4-FFF2-40B4-BE49-F238E27FC236}">
                <a16:creationId xmlns:a16="http://schemas.microsoft.com/office/drawing/2014/main" id="{1BB333E2-113D-7B79-4309-CEDB85476EA0}"/>
              </a:ext>
            </a:extLst>
          </p:cNvPr>
          <p:cNvSpPr/>
          <p:nvPr/>
        </p:nvSpPr>
        <p:spPr>
          <a:xfrm>
            <a:off x="3186768" y="2625899"/>
            <a:ext cx="1389074" cy="449222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FF9DE96-4F5F-9FF9-3500-C979AF99477C}"/>
              </a:ext>
            </a:extLst>
          </p:cNvPr>
          <p:cNvSpPr/>
          <p:nvPr/>
        </p:nvSpPr>
        <p:spPr>
          <a:xfrm>
            <a:off x="8599153" y="2607130"/>
            <a:ext cx="1094255" cy="449222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CFF545-5176-307E-CAFB-D8E8A955E6EC}"/>
              </a:ext>
            </a:extLst>
          </p:cNvPr>
          <p:cNvSpPr/>
          <p:nvPr/>
        </p:nvSpPr>
        <p:spPr>
          <a:xfrm>
            <a:off x="5001745" y="2607130"/>
            <a:ext cx="1944621" cy="449222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E3B17A-9C0A-DDD0-2199-D0C03BE53D8F}"/>
              </a:ext>
            </a:extLst>
          </p:cNvPr>
          <p:cNvSpPr/>
          <p:nvPr/>
        </p:nvSpPr>
        <p:spPr>
          <a:xfrm>
            <a:off x="7280061" y="2620066"/>
            <a:ext cx="964907" cy="449222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02643AC-F549-A443-EB69-1586879A1753}"/>
              </a:ext>
            </a:extLst>
          </p:cNvPr>
          <p:cNvSpPr/>
          <p:nvPr/>
        </p:nvSpPr>
        <p:spPr>
          <a:xfrm>
            <a:off x="4481115" y="4467055"/>
            <a:ext cx="2246256" cy="403824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C8664AF-A9AC-DB31-01AF-4175A7EEB2A6}"/>
              </a:ext>
            </a:extLst>
          </p:cNvPr>
          <p:cNvCxnSpPr>
            <a:cxnSpLocks/>
            <a:stCxn id="12" idx="3"/>
            <a:endCxn id="23" idx="1"/>
          </p:cNvCxnSpPr>
          <p:nvPr/>
        </p:nvCxnSpPr>
        <p:spPr>
          <a:xfrm>
            <a:off x="6727371" y="4668967"/>
            <a:ext cx="1171943" cy="1648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18371E76-6CF1-600D-1266-142A57720453}"/>
              </a:ext>
            </a:extLst>
          </p:cNvPr>
          <p:cNvSpPr txBox="1"/>
          <p:nvPr/>
        </p:nvSpPr>
        <p:spPr>
          <a:xfrm>
            <a:off x="7899314" y="4362286"/>
            <a:ext cx="2589676" cy="646331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Balanceamento do nitrogênio (N)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64E659E-8900-7F1B-A2A6-00BBA6E1B486}"/>
              </a:ext>
            </a:extLst>
          </p:cNvPr>
          <p:cNvSpPr/>
          <p:nvPr/>
        </p:nvSpPr>
        <p:spPr>
          <a:xfrm>
            <a:off x="4027973" y="4937350"/>
            <a:ext cx="3137388" cy="403824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7FC88A3-E239-3D88-B387-4B7AEB3C6942}"/>
              </a:ext>
            </a:extLst>
          </p:cNvPr>
          <p:cNvCxnSpPr>
            <a:cxnSpLocks/>
            <a:stCxn id="9" idx="3"/>
            <a:endCxn id="19" idx="1"/>
          </p:cNvCxnSpPr>
          <p:nvPr/>
        </p:nvCxnSpPr>
        <p:spPr>
          <a:xfrm flipV="1">
            <a:off x="7165361" y="5137117"/>
            <a:ext cx="733953" cy="214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F2CBE20-2BD4-0491-88EA-20AE549D7F28}"/>
              </a:ext>
            </a:extLst>
          </p:cNvPr>
          <p:cNvSpPr txBox="1"/>
          <p:nvPr/>
        </p:nvSpPr>
        <p:spPr>
          <a:xfrm>
            <a:off x="7899314" y="4813951"/>
            <a:ext cx="2589676" cy="646331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Balanceamento do oxigênio (O)</a:t>
            </a:r>
          </a:p>
        </p:txBody>
      </p:sp>
    </p:spTree>
    <p:extLst>
      <p:ext uri="{BB962C8B-B14F-4D97-AF65-F5344CB8AC3E}">
        <p14:creationId xmlns:p14="http://schemas.microsoft.com/office/powerpoint/2010/main" val="3967602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23" grpId="0" animBg="1"/>
      <p:bldP spid="9" grpId="0" animBg="1"/>
      <p:bldP spid="1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415F5-D0E7-F9CD-074E-B405AF8B2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Exemplo 3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431231-FFB5-7B31-513C-C73A5CE8D4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  <a:p>
            <a:endParaRPr lang="pt-BR"/>
          </a:p>
          <a:p>
            <a:r>
              <a:rPr lang="pt-BR"/>
              <a:t>Notamos que existem 5 variáveis e 4 Equações</a:t>
            </a:r>
          </a:p>
          <a:p>
            <a:pPr lvl="1"/>
            <a:r>
              <a:rPr lang="pt-BR"/>
              <a:t>Isso porque o balanceamento indica apenas a proporção (os valores exatos podem variar)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DE2244D-3B99-7C7C-F939-64FE67276E61}"/>
                  </a:ext>
                </a:extLst>
              </p:cNvPr>
              <p:cNvSpPr txBox="1"/>
              <p:nvPr/>
            </p:nvSpPr>
            <p:spPr>
              <a:xfrm>
                <a:off x="4265435" y="1335886"/>
                <a:ext cx="3661130" cy="194405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=2</m:t>
                              </m:r>
                              <m:sSub>
                                <m:sSubPr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=2</m:t>
                              </m:r>
                              <m:sSub>
                                <m:sSubPr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=6</m:t>
                              </m:r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pt-BR" sz="2800"/>
              </a:p>
              <a:p>
                <a:endParaRPr lang="pt-BR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DE2244D-3B99-7C7C-F939-64FE67276E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5435" y="1335886"/>
                <a:ext cx="3661130" cy="194405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4823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AAF73-61E8-CFAF-E758-62423CB5F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12163-0FB1-362B-638B-99C0796AC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Exemplo 3</a:t>
            </a:r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EB2E52-887C-3F9E-9B5D-5DD500F4DB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295402"/>
                <a:ext cx="10972800" cy="721658"/>
              </a:xfrm>
            </p:spPr>
            <p:txBody>
              <a:bodyPr/>
              <a:lstStyle/>
              <a:p>
                <a:r>
                  <a:rPr lang="pt-BR"/>
                  <a:t>Uma possibilidade é escolher o valor de uma das variáveis. Escolhemos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/>
              </a:p>
              <a:p>
                <a:pPr lvl="1"/>
                <a:r>
                  <a:rPr lang="en-US"/>
                  <a:t>Dessa forma, podemos simplificar nosso sistema:</a:t>
                </a:r>
              </a:p>
              <a:p>
                <a:endParaRPr lang="pt-BR"/>
              </a:p>
              <a:p>
                <a:pPr marL="671512" lvl="2" indent="0">
                  <a:buNone/>
                </a:pPr>
                <a:endParaRPr lang="pt-BR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EB2E52-887C-3F9E-9B5D-5DD500F4DB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295402"/>
                <a:ext cx="10972800" cy="721658"/>
              </a:xfrm>
              <a:blipFill>
                <a:blip r:embed="rId2"/>
                <a:stretch>
                  <a:fillRect l="-444" t="-11017" r="-1278" b="-14745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B493107-024D-C000-4769-A3C3A4A9B96A}"/>
                  </a:ext>
                </a:extLst>
              </p:cNvPr>
              <p:cNvSpPr txBox="1"/>
              <p:nvPr/>
            </p:nvSpPr>
            <p:spPr>
              <a:xfrm>
                <a:off x="-81963" y="3286747"/>
                <a:ext cx="3380797" cy="16989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pt-B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pt-B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pt-B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=2</m:t>
                              </m:r>
                              <m:sSub>
                                <m:sSubPr>
                                  <m:ctrlPr>
                                    <a:rPr lang="pt-B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pt-B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=2</m:t>
                              </m:r>
                              <m:sSub>
                                <m:sSubPr>
                                  <m:ctrlPr>
                                    <a:rPr lang="pt-B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pt-B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=6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pt-BR" sz="2400"/>
              </a:p>
              <a:p>
                <a:endParaRPr lang="pt-BR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B493107-024D-C000-4769-A3C3A4A9B9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1963" y="3286747"/>
                <a:ext cx="3380797" cy="169892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Arrow: Right 5">
            <a:extLst>
              <a:ext uri="{FF2B5EF4-FFF2-40B4-BE49-F238E27FC236}">
                <a16:creationId xmlns:a16="http://schemas.microsoft.com/office/drawing/2014/main" id="{05116A8E-7B8B-54F0-E60F-9CFF7064DC7A}"/>
              </a:ext>
            </a:extLst>
          </p:cNvPr>
          <p:cNvSpPr/>
          <p:nvPr/>
        </p:nvSpPr>
        <p:spPr>
          <a:xfrm>
            <a:off x="3442448" y="3523126"/>
            <a:ext cx="1287076" cy="83371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5465CA2-2D1E-1CF9-5686-D726332555B3}"/>
                  </a:ext>
                </a:extLst>
              </p:cNvPr>
              <p:cNvSpPr txBox="1"/>
              <p:nvPr/>
            </p:nvSpPr>
            <p:spPr>
              <a:xfrm>
                <a:off x="5011912" y="3350432"/>
                <a:ext cx="2635016" cy="11791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pt-B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pt-B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=2</m:t>
                              </m:r>
                              <m:sSub>
                                <m:sSubPr>
                                  <m:ctrlPr>
                                    <a:rPr lang="pt-B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pt-B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=2+</m:t>
                              </m:r>
                              <m:sSub>
                                <m:sSubPr>
                                  <m:ctrlPr>
                                    <a:rPr lang="pt-B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  <m:sSub>
                                <m:sSubPr>
                                  <m:ctrlPr>
                                    <a:rPr lang="pt-B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=6+</m:t>
                              </m:r>
                              <m:sSub>
                                <m:sSubPr>
                                  <m:ctrlPr>
                                    <a:rPr lang="pt-B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pt-B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pt-BR" sz="240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5465CA2-2D1E-1CF9-5686-D726332555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1912" y="3350432"/>
                <a:ext cx="2635016" cy="117910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Arrow: Right 9">
            <a:extLst>
              <a:ext uri="{FF2B5EF4-FFF2-40B4-BE49-F238E27FC236}">
                <a16:creationId xmlns:a16="http://schemas.microsoft.com/office/drawing/2014/main" id="{C284420F-5383-8183-5F55-BBB14E8E3B76}"/>
              </a:ext>
            </a:extLst>
          </p:cNvPr>
          <p:cNvSpPr/>
          <p:nvPr/>
        </p:nvSpPr>
        <p:spPr>
          <a:xfrm>
            <a:off x="7878696" y="3523125"/>
            <a:ext cx="1287076" cy="83371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D1CE1E2-C3E5-1C65-1E5E-8BB02B68FD1B}"/>
                  </a:ext>
                </a:extLst>
              </p:cNvPr>
              <p:cNvSpPr txBox="1"/>
              <p:nvPr/>
            </p:nvSpPr>
            <p:spPr>
              <a:xfrm>
                <a:off x="9360006" y="3350432"/>
                <a:ext cx="2679260" cy="15484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pt-B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pt-B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−2</m:t>
                              </m:r>
                              <m:sSub>
                                <m:sSubPr>
                                  <m:ctrlPr>
                                    <a:rPr lang="pt-B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  <m:r>
                                <a:rPr lang="pt-B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pt-B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pt-B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=2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  <m:sSub>
                                <m:sSubPr>
                                  <m:ctrlPr>
                                    <a:rPr lang="pt-B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pt-B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pt-B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=6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pt-BR" sz="240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pt-BR" sz="240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D1CE1E2-C3E5-1C65-1E5E-8BB02B68FD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0006" y="3350432"/>
                <a:ext cx="2679260" cy="154843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582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9" grpId="0"/>
      <p:bldP spid="10" grpId="0" animBg="1"/>
      <p:bldP spid="1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7A6AF-D402-CC31-8C93-04F70CEAA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Exemplo 3</a:t>
            </a:r>
            <a:endParaRPr lang="pt-BR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2DB4F86-64B9-257C-4E96-5B3F4753AB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1676688"/>
              </p:ext>
            </p:extLst>
          </p:nvPr>
        </p:nvGraphicFramePr>
        <p:xfrm>
          <a:off x="248117" y="1658257"/>
          <a:ext cx="11740172" cy="4937760"/>
        </p:xfrm>
        <a:graphic>
          <a:graphicData uri="http://schemas.openxmlformats.org/drawingml/2006/table">
            <a:tbl>
              <a:tblPr firstRow="1" firstCol="1" bandRow="1"/>
              <a:tblGrid>
                <a:gridCol w="459509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1280663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3614081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12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BR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16</a:t>
                      </a: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import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numpy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as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np</a:t>
                      </a:r>
                    </a:p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from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scipy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import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linalg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as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la</a:t>
                      </a:r>
                    </a:p>
                    <a:p>
                      <a:endParaRPr lang="pt-BR" sz="18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np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array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([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[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1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0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-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2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],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008000"/>
                          </a:solidFill>
                          <a:effectLst/>
                          <a:latin typeface="Courier New" panose="02070309020205020404" pitchFamily="49" charset="0"/>
                        </a:rPr>
                        <a:t># x2 - 2x5 = 0</a:t>
                      </a:r>
                      <a:endParaRPr lang="pt-BR" sz="18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         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[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1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-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1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0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],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008000"/>
                          </a:solidFill>
                          <a:effectLst/>
                          <a:latin typeface="Courier New" panose="02070309020205020404" pitchFamily="49" charset="0"/>
                        </a:rPr>
                        <a:t># x2 - x4 = 2</a:t>
                      </a:r>
                    </a:p>
                    <a:p>
                      <a:r>
                        <a:rPr lang="pt-BR" sz="1800" b="1">
                          <a:solidFill>
                            <a:srgbClr val="008000"/>
                          </a:solidFill>
                          <a:effectLst/>
                          <a:latin typeface="Courier New" panose="02070309020205020404" pitchFamily="49" charset="0"/>
                        </a:rPr>
                        <a:t>              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[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3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-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1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-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1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]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008000"/>
                          </a:solidFill>
                          <a:effectLst/>
                          <a:latin typeface="Courier New" panose="02070309020205020404" pitchFamily="49" charset="0"/>
                        </a:rPr>
                        <a:t># 3x2 - x4 - x5 = 6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])</a:t>
                      </a: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b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np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array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([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0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2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6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])</a:t>
                      </a: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solution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la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solve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b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endParaRPr lang="pt-BR" sz="1800" b="1">
                        <a:solidFill>
                          <a:srgbClr val="00008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x1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1</a:t>
                      </a:r>
                      <a:endParaRPr lang="pt-BR" sz="18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x3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1</a:t>
                      </a:r>
                      <a:endParaRPr lang="pt-BR" sz="18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x2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x4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x5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solution</a:t>
                      </a: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f"Equação balanceada: {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x1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} Cu + {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x2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} HNO3 -&gt; {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x3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} Cu(NO3)2 + {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x4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} NO + {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x5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} H2O"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8000"/>
                          </a:solidFill>
                          <a:effectLst/>
                          <a:latin typeface="Courier New" panose="02070309020205020404" pitchFamily="49" charset="0"/>
                        </a:rPr>
                        <a:t># Output: Equação balanceada: 1 Cu + 2.6666666666666665 HNO3 -&gt; 1 Cu(NO3)2 + 0.6666666666666665 NO + 1.3333333333333333 H2O</a:t>
                      </a:r>
                      <a:endParaRPr lang="pt-BR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AFBA63B-CC9A-FB47-DCE6-12207809280C}"/>
                  </a:ext>
                </a:extLst>
              </p:cNvPr>
              <p:cNvSpPr txBox="1"/>
              <p:nvPr/>
            </p:nvSpPr>
            <p:spPr>
              <a:xfrm>
                <a:off x="6845578" y="332657"/>
                <a:ext cx="2679260" cy="15484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pt-B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pt-B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−2</m:t>
                              </m:r>
                              <m:sSub>
                                <m:sSubPr>
                                  <m:ctrlPr>
                                    <a:rPr lang="pt-B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  <m:r>
                                <a:rPr lang="pt-B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pt-B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pt-B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=2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  <m:sSub>
                                <m:sSubPr>
                                  <m:ctrlPr>
                                    <a:rPr lang="pt-B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pt-B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pt-B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=6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pt-BR" sz="240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pt-BR" sz="240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AFBA63B-CC9A-FB47-DCE6-1220780928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5578" y="332657"/>
                <a:ext cx="2679260" cy="154843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1597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Padrão">
  <a:themeElements>
    <a:clrScheme name="Borda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Borda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orda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rda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rda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ema Padrão" id="{5B42EFA3-33EE-47DD-A488-DB78A38E859A}" vid="{2CFE1DDC-F190-4E49-9E1E-3C869FC37C89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 Padrão</Template>
  <TotalTime>9683</TotalTime>
  <Words>1007</Words>
  <Application>Microsoft Office PowerPoint</Application>
  <PresentationFormat>Widescreen</PresentationFormat>
  <Paragraphs>192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Cambria Math</vt:lpstr>
      <vt:lpstr>Courier New</vt:lpstr>
      <vt:lpstr>Garamond</vt:lpstr>
      <vt:lpstr>Wingdings</vt:lpstr>
      <vt:lpstr>Tema Padrão</vt:lpstr>
      <vt:lpstr>31 – Numpy (II – Sistemas Lineares)  </vt:lpstr>
      <vt:lpstr>Introdução</vt:lpstr>
      <vt:lpstr>Introdução</vt:lpstr>
      <vt:lpstr>Exemplo 1</vt:lpstr>
      <vt:lpstr>Exemplo 1</vt:lpstr>
      <vt:lpstr>Exemplo 2</vt:lpstr>
      <vt:lpstr>Exemplo 2</vt:lpstr>
      <vt:lpstr>Exemplo 2</vt:lpstr>
      <vt:lpstr>Exemplo 2</vt:lpstr>
      <vt:lpstr>Exemplo 2</vt:lpstr>
      <vt:lpstr>Exemplo 2</vt:lpstr>
      <vt:lpstr>Exemplo 3</vt:lpstr>
      <vt:lpstr>Exemplo 3</vt:lpstr>
      <vt:lpstr>Exemplo 3</vt:lpstr>
      <vt:lpstr>Exemplo 3</vt:lpstr>
      <vt:lpstr>Exemplo 3</vt:lpstr>
      <vt:lpstr>Exemplo 3</vt:lpstr>
      <vt:lpstr>Exemplo 3</vt:lpstr>
      <vt:lpstr>Exemplo 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Aprendizagem por Reforço</dc:title>
  <dc:creator>Usuario</dc:creator>
  <cp:lastModifiedBy>Thiago</cp:lastModifiedBy>
  <cp:revision>551</cp:revision>
  <dcterms:created xsi:type="dcterms:W3CDTF">2017-06-20T21:36:17Z</dcterms:created>
  <dcterms:modified xsi:type="dcterms:W3CDTF">2024-10-30T16:51:36Z</dcterms:modified>
</cp:coreProperties>
</file>