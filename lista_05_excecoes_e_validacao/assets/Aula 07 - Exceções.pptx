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431" r:id="rId3"/>
    <p:sldId id="434" r:id="rId4"/>
    <p:sldId id="433" r:id="rId5"/>
    <p:sldId id="436" r:id="rId6"/>
    <p:sldId id="435" r:id="rId7"/>
    <p:sldId id="437" r:id="rId8"/>
    <p:sldId id="439" r:id="rId9"/>
    <p:sldId id="440" r:id="rId10"/>
    <p:sldId id="450" r:id="rId11"/>
    <p:sldId id="449" r:id="rId12"/>
    <p:sldId id="447" r:id="rId13"/>
    <p:sldId id="457" r:id="rId14"/>
    <p:sldId id="442" r:id="rId15"/>
    <p:sldId id="451" r:id="rId16"/>
    <p:sldId id="452" r:id="rId17"/>
    <p:sldId id="454" r:id="rId18"/>
    <p:sldId id="453" r:id="rId19"/>
    <p:sldId id="456" r:id="rId20"/>
    <p:sldId id="455" r:id="rId21"/>
    <p:sldId id="462" r:id="rId22"/>
    <p:sldId id="448" r:id="rId23"/>
    <p:sldId id="461" r:id="rId24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83852" autoAdjust="0"/>
  </p:normalViewPr>
  <p:slideViewPr>
    <p:cSldViewPr snapToGrid="0">
      <p:cViewPr varScale="1">
        <p:scale>
          <a:sx n="119" d="100"/>
          <a:sy n="119" d="100"/>
        </p:scale>
        <p:origin x="693" y="7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20/09/2024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799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092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813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4EA250-FE77-3FA7-5F90-6D1153789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74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339F5D-1391-29FE-2F73-D279896B3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7507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exception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16 – Tratamento de Erros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436B-B11E-F64B-3FD4-8D3623DA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7A19A-D75E-1331-5E86-8E33FE384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Objetivo</a:t>
            </a:r>
          </a:p>
          <a:p>
            <a:pPr lvl="1"/>
            <a:r>
              <a:rPr lang="en-US"/>
              <a:t>Tratar erros durante a execução do programa</a:t>
            </a:r>
            <a:endParaRPr lang="pt-BR"/>
          </a:p>
          <a:p>
            <a:r>
              <a:rPr lang="en-US"/>
              <a:t>Exemplos</a:t>
            </a:r>
          </a:p>
          <a:p>
            <a:pPr lvl="1"/>
            <a:r>
              <a:rPr lang="en-US"/>
              <a:t>Pedimos ao usuário para inserir um número e o usuário insere letras </a:t>
            </a:r>
          </a:p>
          <a:p>
            <a:pPr lvl="1"/>
            <a:r>
              <a:rPr lang="en-US"/>
              <a:t>Fazemos uma divisão cujo denominador foi inserido pelo usuário com o valor zero </a:t>
            </a:r>
          </a:p>
        </p:txBody>
      </p:sp>
    </p:spTree>
    <p:extLst>
      <p:ext uri="{BB962C8B-B14F-4D97-AF65-F5344CB8AC3E}">
        <p14:creationId xmlns:p14="http://schemas.microsoft.com/office/powerpoint/2010/main" val="192649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9DA9-CFCE-AEED-0DE2-AE4E83AB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Abordagens de Tratamento de Erros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E6D99-C2FE-D912-3551-03820E0E3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Existem duas principais abordagens para tratamento de erros</a:t>
            </a:r>
          </a:p>
          <a:p>
            <a:pPr lvl="1"/>
            <a:r>
              <a:rPr lang="en-US"/>
              <a:t>1: Checa e, se válido, executa</a:t>
            </a:r>
          </a:p>
          <a:p>
            <a:pPr lvl="2"/>
            <a:r>
              <a:rPr lang="en-US" i="1"/>
              <a:t>Look Before You Leap</a:t>
            </a:r>
            <a:r>
              <a:rPr lang="en-US"/>
              <a:t> (LBYL)</a:t>
            </a:r>
          </a:p>
          <a:p>
            <a:pPr lvl="1"/>
            <a:r>
              <a:rPr lang="en-US"/>
              <a:t>2: executa e, em caso de erros, faz o tratamento</a:t>
            </a:r>
          </a:p>
          <a:p>
            <a:pPr lvl="2"/>
            <a:r>
              <a:rPr lang="en-US" i="1"/>
              <a:t>Easier to Ask Forgiveness than Permission</a:t>
            </a:r>
            <a:r>
              <a:rPr lang="en-US"/>
              <a:t> (EAFP)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E0122B-4390-86CD-CFF6-29D2874FD955}"/>
              </a:ext>
            </a:extLst>
          </p:cNvPr>
          <p:cNvSpPr/>
          <p:nvPr/>
        </p:nvSpPr>
        <p:spPr>
          <a:xfrm>
            <a:off x="1305679" y="2046791"/>
            <a:ext cx="4649409" cy="85290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8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9DA9-CFCE-AEED-0DE2-AE4E83AB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1ª Abordagem: LBYL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E6D99-C2FE-D912-3551-03820E0E3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Estratégia adotada por linguagens como C e, em menor, grau por Java e C++</a:t>
            </a:r>
          </a:p>
          <a:p>
            <a:pPr marL="344487" lvl="1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9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9DA9-CFCE-AEED-0DE2-AE4E83AB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1ª Abordagem: LBYL (Exemplo 1)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E6D99-C2FE-D912-3551-03820E0E3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3796073"/>
          </a:xfrm>
        </p:spPr>
        <p:txBody>
          <a:bodyPr/>
          <a:lstStyle/>
          <a:p>
            <a:r>
              <a:rPr lang="en-US"/>
              <a:t>Peça ao usuário para entrar com dois números e escreva a razão entre eles. Caso o denominador seja nulo, escreva uma mensagem descritiva e repita a operação até que o usuário entre com números válidos.</a:t>
            </a:r>
          </a:p>
          <a:p>
            <a:pPr lvl="1"/>
            <a:r>
              <a:rPr lang="en-US"/>
              <a:t>Diversos outros erros poderiam acontecer, como o usuário entrar com um texto que não seja possível converter para um tipo numérico, porém não estamos nos preocupando por enquanto com esses casos.</a:t>
            </a:r>
          </a:p>
          <a:p>
            <a:pPr marL="344487" lvl="1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6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9DA9-CFCE-AEED-0DE2-AE4E83AB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1ª Abordagem: LBYL (Exemplo 1)</a:t>
            </a:r>
            <a:endParaRPr lang="pt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1ABD17-78C6-3676-3921-C2AABF7CC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490020"/>
              </p:ext>
            </p:extLst>
          </p:nvPr>
        </p:nvGraphicFramePr>
        <p:xfrm>
          <a:off x="109585" y="1401670"/>
          <a:ext cx="11972829" cy="466344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divide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denominator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denominator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!=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numerator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denominator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</a:p>
                    <a:p>
                      <a:endParaRPr lang="pt-BR" sz="1800" b="1">
                        <a:solidFill>
                          <a:srgbClr val="880088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while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numerador: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denominador: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divide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denominator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result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not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/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  break</a:t>
                      </a:r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"Não é possível dividir por zero. Entre com um denominador válido."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C68AC2A-175A-78D5-5769-7DB703FF9FFC}"/>
              </a:ext>
            </a:extLst>
          </p:cNvPr>
          <p:cNvSpPr/>
          <p:nvPr/>
        </p:nvSpPr>
        <p:spPr>
          <a:xfrm>
            <a:off x="731307" y="4650113"/>
            <a:ext cx="6997441" cy="882505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F2AC5-EDA7-366C-4EF4-6402BB0855A4}"/>
              </a:ext>
            </a:extLst>
          </p:cNvPr>
          <p:cNvSpPr txBox="1"/>
          <p:nvPr/>
        </p:nvSpPr>
        <p:spPr>
          <a:xfrm>
            <a:off x="8064546" y="3628169"/>
            <a:ext cx="3850223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Faz a checagem e executa apenas se for válido (= condição da checagem atendida)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B832EE3-6CBD-D6DD-9A5F-8EDA4171E3E1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6387015" y="4136001"/>
            <a:ext cx="1677531" cy="495732"/>
          </a:xfrm>
          <a:prstGeom prst="bentConnector3">
            <a:avLst>
              <a:gd name="adj1" fmla="val 1791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2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18802-A0A4-E759-97AA-3F9BF739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Abordagens de Tratamento de Erros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886C6-3585-E60C-D1DF-5EC0C13A1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Entretanto, em Python, o tratamento de erros geralmente é feito pela segunda abordagem: executa e, em caso de erro, faz o tratamento</a:t>
            </a:r>
          </a:p>
          <a:p>
            <a:r>
              <a:rPr lang="en-US"/>
              <a:t>Vamos ver o mecanismo geral de exceções, em Python, que é usado pela segunda abordagem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15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028E-2670-982A-0FB8-76EF78317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Estrutura Geral de Exceções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5AE3B8-5D47-2D43-6B23-65ED34656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980877"/>
              </p:ext>
            </p:extLst>
          </p:nvPr>
        </p:nvGraphicFramePr>
        <p:xfrm>
          <a:off x="109585" y="1401670"/>
          <a:ext cx="11972829" cy="521208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Código que pode lançar uma exceção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SomeException1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Tratamento do primeiro tipo de exceção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SomeException2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Opcional.Tratamento do segundo tipo de exceção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... Opcional. Tratamento de outras exceções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Opcional. Captura qualquer exceção que não tenha sido capturada anteriormente.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Opcional. Executa se nenhuma exceção foi levantada no bloco try.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finally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Opcional. Sempre executa, tendo sido levantada uma exceção ou não.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7278F68-8451-7675-A3AA-D18EA9E27221}"/>
              </a:ext>
            </a:extLst>
          </p:cNvPr>
          <p:cNvSpPr/>
          <p:nvPr/>
        </p:nvSpPr>
        <p:spPr>
          <a:xfrm>
            <a:off x="616875" y="2063700"/>
            <a:ext cx="11338317" cy="3582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3A178D-CD82-9063-EAB4-68EFAC56882B}"/>
              </a:ext>
            </a:extLst>
          </p:cNvPr>
          <p:cNvSpPr/>
          <p:nvPr/>
        </p:nvSpPr>
        <p:spPr>
          <a:xfrm>
            <a:off x="613220" y="5286068"/>
            <a:ext cx="9493492" cy="694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B32E00-A601-FE3E-F3FC-5DD9248D7E0E}"/>
              </a:ext>
            </a:extLst>
          </p:cNvPr>
          <p:cNvSpPr/>
          <p:nvPr/>
        </p:nvSpPr>
        <p:spPr>
          <a:xfrm>
            <a:off x="613220" y="5964075"/>
            <a:ext cx="9493492" cy="6185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19AF8-6744-6DC7-D056-AB550711D244}"/>
              </a:ext>
            </a:extLst>
          </p:cNvPr>
          <p:cNvSpPr txBox="1"/>
          <p:nvPr/>
        </p:nvSpPr>
        <p:spPr>
          <a:xfrm>
            <a:off x="9402251" y="2063700"/>
            <a:ext cx="2552942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Geralmente não se usa separação (linhas em branco) como no código</a:t>
            </a:r>
          </a:p>
        </p:txBody>
      </p:sp>
    </p:spTree>
    <p:extLst>
      <p:ext uri="{BB962C8B-B14F-4D97-AF65-F5344CB8AC3E}">
        <p14:creationId xmlns:p14="http://schemas.microsoft.com/office/powerpoint/2010/main" val="416107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90A0-77AF-EBE6-C388-6E6917EA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2ª Abordagem: EAFP (Exemplo 2)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A8189-BB1C-9F4D-A57B-6B1B02138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reescrever o Exemplo usando a segunda abordagem</a:t>
            </a:r>
            <a:endParaRPr lang="pt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159606-666C-2E20-6694-AA9109B98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095063"/>
              </p:ext>
            </p:extLst>
          </p:nvPr>
        </p:nvGraphicFramePr>
        <p:xfrm>
          <a:off x="160130" y="2416518"/>
          <a:ext cx="11972829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while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numerador: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denominador: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numerator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denominator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ZeroDivisionError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"Não é possível dividir por zero\n"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/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break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3B7417D-2DAC-3E4D-9396-04A4E2044144}"/>
              </a:ext>
            </a:extLst>
          </p:cNvPr>
          <p:cNvSpPr/>
          <p:nvPr/>
        </p:nvSpPr>
        <p:spPr>
          <a:xfrm>
            <a:off x="1204590" y="3515156"/>
            <a:ext cx="4401279" cy="2802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ACE33-F543-8285-7DA9-C28F410A5A47}"/>
              </a:ext>
            </a:extLst>
          </p:cNvPr>
          <p:cNvSpPr txBox="1"/>
          <p:nvPr/>
        </p:nvSpPr>
        <p:spPr>
          <a:xfrm>
            <a:off x="8347067" y="3020524"/>
            <a:ext cx="3749134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denominator</a:t>
            </a:r>
            <a:r>
              <a:rPr lang="en-US" sz="2000"/>
              <a:t> for zero será lançada uma exceção do tipo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96D158-7FBA-3011-5885-C162E2962E6F}"/>
              </a:ext>
            </a:extLst>
          </p:cNvPr>
          <p:cNvCxnSpPr>
            <a:stCxn id="7" idx="3"/>
          </p:cNvCxnSpPr>
          <p:nvPr/>
        </p:nvCxnSpPr>
        <p:spPr>
          <a:xfrm>
            <a:off x="5605869" y="3655303"/>
            <a:ext cx="2741198" cy="114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406C6-2BDF-275F-7EB4-C4778FFF5979}"/>
              </a:ext>
            </a:extLst>
          </p:cNvPr>
          <p:cNvSpPr/>
          <p:nvPr/>
        </p:nvSpPr>
        <p:spPr>
          <a:xfrm>
            <a:off x="690789" y="3788118"/>
            <a:ext cx="3826071" cy="2802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9B9A9B-3AFE-2126-07D2-4B2930149777}"/>
              </a:ext>
            </a:extLst>
          </p:cNvPr>
          <p:cNvCxnSpPr>
            <a:cxnSpLocks/>
          </p:cNvCxnSpPr>
          <p:nvPr/>
        </p:nvCxnSpPr>
        <p:spPr>
          <a:xfrm>
            <a:off x="827861" y="4093687"/>
            <a:ext cx="0" cy="14783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597FA5-327A-4905-20F7-548E6F702E2E}"/>
              </a:ext>
            </a:extLst>
          </p:cNvPr>
          <p:cNvSpPr txBox="1"/>
          <p:nvPr/>
        </p:nvSpPr>
        <p:spPr>
          <a:xfrm>
            <a:off x="95799" y="5572031"/>
            <a:ext cx="3749134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Captura a exceção do tipo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BF85E73-D377-9C3A-50B5-64E51163D0C1}"/>
              </a:ext>
            </a:extLst>
          </p:cNvPr>
          <p:cNvCxnSpPr>
            <a:cxnSpLocks/>
          </p:cNvCxnSpPr>
          <p:nvPr/>
        </p:nvCxnSpPr>
        <p:spPr>
          <a:xfrm>
            <a:off x="10179400" y="4036187"/>
            <a:ext cx="0" cy="14783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D621972-3F1F-2ECB-8613-26ED387BD1ED}"/>
              </a:ext>
            </a:extLst>
          </p:cNvPr>
          <p:cNvSpPr txBox="1"/>
          <p:nvPr/>
        </p:nvSpPr>
        <p:spPr>
          <a:xfrm>
            <a:off x="8105536" y="5493561"/>
            <a:ext cx="3990665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Internamente o operador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/>
              <a:t> chama o método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__truediv__ </a:t>
            </a:r>
            <a:r>
              <a:rPr lang="en-US" sz="2000"/>
              <a:t>da classe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000"/>
              <a:t> e esse método lança a exceção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8FFD78-39D9-A1EE-1528-1D213D31BAF6}"/>
              </a:ext>
            </a:extLst>
          </p:cNvPr>
          <p:cNvCxnSpPr>
            <a:cxnSpLocks/>
          </p:cNvCxnSpPr>
          <p:nvPr/>
        </p:nvCxnSpPr>
        <p:spPr>
          <a:xfrm flipH="1">
            <a:off x="1098199" y="4614064"/>
            <a:ext cx="32931" cy="13222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1568377-EFB5-B28F-03DB-B9418FD65E35}"/>
              </a:ext>
            </a:extLst>
          </p:cNvPr>
          <p:cNvSpPr txBox="1"/>
          <p:nvPr/>
        </p:nvSpPr>
        <p:spPr>
          <a:xfrm>
            <a:off x="206079" y="5936324"/>
            <a:ext cx="3749134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É executado se nenhuma exceção for lançada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F3F2B1-F2DB-6A80-9E96-A0526A8E5A53}"/>
              </a:ext>
            </a:extLst>
          </p:cNvPr>
          <p:cNvSpPr/>
          <p:nvPr/>
        </p:nvSpPr>
        <p:spPr>
          <a:xfrm>
            <a:off x="916709" y="4333771"/>
            <a:ext cx="755862" cy="2802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2" grpId="0" animBg="1"/>
      <p:bldP spid="12" grpId="1" animBg="1"/>
      <p:bldP spid="15" grpId="0" animBg="1"/>
      <p:bldP spid="15" grpId="1" animBg="1"/>
      <p:bldP spid="5" grpId="0" animBg="1"/>
      <p:bldP spid="5" grpId="1" animBg="1"/>
      <p:bldP spid="11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0B74-33DC-81DF-0F13-FC881825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Exceção: definição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1DF08-2A65-82CA-E834-170F195DA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Exceções são ocorrências anômalas durante a execução do programa. Exemplos:</a:t>
            </a:r>
          </a:p>
          <a:p>
            <a:pPr lvl="1"/>
            <a:r>
              <a:rPr lang="pt-BR"/>
              <a:t>Divisão por zero</a:t>
            </a:r>
          </a:p>
          <a:p>
            <a:pPr lvl="1"/>
            <a:r>
              <a:rPr lang="pt-BR"/>
              <a:t>Acesso a um método inexistente de um objeto</a:t>
            </a:r>
          </a:p>
          <a:p>
            <a:pPr lvl="1"/>
            <a:r>
              <a:rPr lang="pt-BR"/>
              <a:t>Conversão não permitida</a:t>
            </a:r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96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67A7-42E0-37AA-97EC-4D751D89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Exceções Sem Tratamento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02647-53F9-BA4E-5159-14351ED3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 que acontece se não tratamos a exceção?</a:t>
            </a:r>
          </a:p>
          <a:p>
            <a:r>
              <a:rPr lang="en-US"/>
              <a:t>Vamos pedir ao usuário para entrar com dois números e escrever a razão entre eles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Nesse caso em que a exceção não foi tratada, o que acontece se o usuário entrar com denominador igual a zero?</a:t>
            </a:r>
          </a:p>
          <a:p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C7DD1F-8CD1-7D4C-5EDE-E60FA94AC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073386"/>
              </p:ext>
            </p:extLst>
          </p:nvPr>
        </p:nvGraphicFramePr>
        <p:xfrm>
          <a:off x="2079645" y="3606470"/>
          <a:ext cx="7867292" cy="1750482"/>
        </p:xfrm>
        <a:graphic>
          <a:graphicData uri="http://schemas.openxmlformats.org/drawingml/2006/table">
            <a:tbl>
              <a:tblPr firstRow="1" firstCol="1" bandRow="1"/>
              <a:tblGrid>
                <a:gridCol w="355692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751160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75048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numerador: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denominador: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numerator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/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19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9DA9-CFCE-AEED-0DE2-AE4E83AB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Exceções Sem Tratamento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E6D99-C2FE-D912-3551-03820E0E3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3796073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5DFAA6-F50A-D26E-5234-0627AA064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318115"/>
              </p:ext>
            </p:extLst>
          </p:nvPr>
        </p:nvGraphicFramePr>
        <p:xfrm>
          <a:off x="2258848" y="1230406"/>
          <a:ext cx="7867292" cy="1750482"/>
        </p:xfrm>
        <a:graphic>
          <a:graphicData uri="http://schemas.openxmlformats.org/drawingml/2006/table">
            <a:tbl>
              <a:tblPr firstRow="1" firstCol="1" bandRow="1"/>
              <a:tblGrid>
                <a:gridCol w="355692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751160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75048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numerador: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denominador: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numerator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numerator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/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denominator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F05191-131D-1DCE-4FA4-9DF72BF69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024784"/>
              </p:ext>
            </p:extLst>
          </p:nvPr>
        </p:nvGraphicFramePr>
        <p:xfrm>
          <a:off x="1456432" y="3334905"/>
          <a:ext cx="9279135" cy="1645920"/>
        </p:xfrm>
        <a:graphic>
          <a:graphicData uri="http://schemas.openxmlformats.org/drawingml/2006/table">
            <a:tbl>
              <a:tblPr firstRow="1" firstCol="1" bandRow="1"/>
              <a:tblGrid>
                <a:gridCol w="4195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85961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46684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Digite o numerador: 2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Digite o denominador: 0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Traceback (most recent call last):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File "C:\Users\Thiago\AulaPython\main.py", line 4, in &lt;module&gt;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result = numerator/denominator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ZeroDivisionError: float division by zero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9D16FE0-21E9-AD66-A389-22789F83A76C}"/>
              </a:ext>
            </a:extLst>
          </p:cNvPr>
          <p:cNvSpPr/>
          <p:nvPr/>
        </p:nvSpPr>
        <p:spPr>
          <a:xfrm>
            <a:off x="1884645" y="4655589"/>
            <a:ext cx="5692469" cy="37423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2D8418-347B-D28B-C78C-1DDB7A147839}"/>
              </a:ext>
            </a:extLst>
          </p:cNvPr>
          <p:cNvCxnSpPr>
            <a:cxnSpLocks/>
          </p:cNvCxnSpPr>
          <p:nvPr/>
        </p:nvCxnSpPr>
        <p:spPr>
          <a:xfrm>
            <a:off x="4637096" y="5041936"/>
            <a:ext cx="0" cy="6696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591482-5E5F-72ED-306A-A806F8314E7E}"/>
              </a:ext>
            </a:extLst>
          </p:cNvPr>
          <p:cNvSpPr txBox="1"/>
          <p:nvPr/>
        </p:nvSpPr>
        <p:spPr>
          <a:xfrm>
            <a:off x="2711984" y="5711554"/>
            <a:ext cx="3850223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É lançada uma exceção do tipo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  <a:r>
              <a:rPr lang="en-U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655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E379-2AC9-0CC9-EAC0-324BC6EB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Exceções Sem Tratamento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AC7E4-8218-D418-E97C-D72E44BD5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Exceções sem tratamento são conhecidas como “</a:t>
            </a:r>
            <a:r>
              <a:rPr lang="en-US" i="1"/>
              <a:t>unhandled exceptions</a:t>
            </a:r>
            <a:r>
              <a:rPr lang="en-US"/>
              <a:t>”</a:t>
            </a:r>
          </a:p>
          <a:p>
            <a:r>
              <a:rPr lang="en-US"/>
              <a:t>De modo geral, elas são fatais, ou seja, o programa aborta</a:t>
            </a:r>
          </a:p>
          <a:p>
            <a:pPr lvl="1"/>
            <a:r>
              <a:rPr lang="en-US"/>
              <a:t>Existem alguns casos especiais:</a:t>
            </a:r>
          </a:p>
          <a:p>
            <a:pPr lvl="2"/>
            <a:r>
              <a:rPr lang="en-US"/>
              <a:t>É chamado o método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sys.exit()</a:t>
            </a:r>
            <a:r>
              <a:rPr lang="en-US"/>
              <a:t>: lança exceção e termina o programa sem qualquer mensagem de erro</a:t>
            </a:r>
          </a:p>
          <a:p>
            <a:pPr lvl="2"/>
            <a:r>
              <a:rPr lang="en-US"/>
              <a:t>Exceção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KeyboardInterrupt</a:t>
            </a:r>
            <a:r>
              <a:rPr lang="en-US"/>
              <a:t>: termina o programa sem qualquer mensagem de erro, embora seja escrito o nome da exceção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en-US"/>
          </a:p>
          <a:p>
            <a:pPr lvl="2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607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50D74-4B38-0031-FEC4-80516C41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Tipos de Exceções </a:t>
            </a:r>
            <a:r>
              <a:rPr lang="en-US" i="1"/>
              <a:t>built-in</a:t>
            </a:r>
            <a:endParaRPr lang="pt-BR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90740-288C-8AF9-9E9D-0CABF520C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 Python possui dezenas de exceções </a:t>
            </a:r>
            <a:r>
              <a:rPr lang="en-US" i="1"/>
              <a:t>built-in</a:t>
            </a:r>
          </a:p>
          <a:p>
            <a:pPr lvl="1"/>
            <a:r>
              <a:rPr lang="en-US">
                <a:hlinkClick r:id="rId2"/>
              </a:rPr>
              <a:t>https://docs.python.org/3/library/exceptions.html</a:t>
            </a:r>
            <a:r>
              <a:rPr lang="en-US" i="1"/>
              <a:t> </a:t>
            </a:r>
          </a:p>
          <a:p>
            <a:r>
              <a:rPr lang="en-US"/>
              <a:t>Uma delas vimos no Exemplo 1: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</a:p>
          <a:p>
            <a:r>
              <a:rPr lang="en-US"/>
              <a:t>Agora vamos ver outras exceções </a:t>
            </a:r>
            <a:r>
              <a:rPr lang="en-US" i="1"/>
              <a:t>built-in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1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53DA-D95B-6DC0-5E97-1DCB1092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Tipos de Exceções </a:t>
            </a:r>
            <a:r>
              <a:rPr lang="en-US" i="1"/>
              <a:t>built-in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865A-DAF3-B5DA-4359-F52F18E9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1552023"/>
          </a:xfrm>
        </p:spPr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</a:p>
          <a:p>
            <a:pPr lvl="1"/>
            <a:r>
              <a:rPr lang="en-US"/>
              <a:t>Acontece quando uma operação ou função é aplicada em um objeto de tipo incompatível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A0AED1-A8D1-8D2E-F005-48F9832FF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623061"/>
              </p:ext>
            </p:extLst>
          </p:nvPr>
        </p:nvGraphicFramePr>
        <p:xfrm>
          <a:off x="150940" y="2986295"/>
          <a:ext cx="11972829" cy="1443261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44326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TypeError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 : Error: float() argument must be a string or a real number, not 'list'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9335BA-14CD-A587-919D-CAEEEAED9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441197"/>
              </p:ext>
            </p:extLst>
          </p:nvPr>
        </p:nvGraphicFramePr>
        <p:xfrm>
          <a:off x="150940" y="4939926"/>
          <a:ext cx="11972829" cy="1443262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44326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length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TypeError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'object of type 'int' has no len()'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071E7D6-A60B-AB3C-1234-FC92026190D7}"/>
              </a:ext>
            </a:extLst>
          </p:cNvPr>
          <p:cNvSpPr/>
          <p:nvPr/>
        </p:nvSpPr>
        <p:spPr>
          <a:xfrm>
            <a:off x="2141963" y="5138061"/>
            <a:ext cx="1019379" cy="37423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322811-0799-D31D-164C-8CDB48D7DBF9}"/>
              </a:ext>
            </a:extLst>
          </p:cNvPr>
          <p:cNvCxnSpPr>
            <a:cxnSpLocks/>
          </p:cNvCxnSpPr>
          <p:nvPr/>
        </p:nvCxnSpPr>
        <p:spPr>
          <a:xfrm>
            <a:off x="3161342" y="5343700"/>
            <a:ext cx="146120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E3F52F-2780-AA1E-3479-0E16E9634508}"/>
              </a:ext>
            </a:extLst>
          </p:cNvPr>
          <p:cNvSpPr txBox="1"/>
          <p:nvPr/>
        </p:nvSpPr>
        <p:spPr>
          <a:xfrm>
            <a:off x="4622545" y="5002013"/>
            <a:ext cx="5699352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 argumento deve ser uma sequência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/>
              <a:t>, etc) ou uma coleção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/>
              <a:t>, etc)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AED59F-FAEC-E6BB-DEB4-0D5957CB0307}"/>
              </a:ext>
            </a:extLst>
          </p:cNvPr>
          <p:cNvSpPr/>
          <p:nvPr/>
        </p:nvSpPr>
        <p:spPr>
          <a:xfrm>
            <a:off x="2908144" y="3546496"/>
            <a:ext cx="841355" cy="25354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7F167-8071-B84F-8E21-CCB65043AF57}"/>
              </a:ext>
            </a:extLst>
          </p:cNvPr>
          <p:cNvSpPr txBox="1"/>
          <p:nvPr/>
        </p:nvSpPr>
        <p:spPr>
          <a:xfrm>
            <a:off x="4567405" y="2991880"/>
            <a:ext cx="6952197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/>
              <a:t> é um objeto da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/>
              <a:t> lançado pela função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BB92AA6-04DC-971F-ADBC-ACE5F53C0013}"/>
              </a:ext>
            </a:extLst>
          </p:cNvPr>
          <p:cNvCxnSpPr>
            <a:cxnSpLocks/>
          </p:cNvCxnSpPr>
          <p:nvPr/>
        </p:nvCxnSpPr>
        <p:spPr>
          <a:xfrm flipV="1">
            <a:off x="3749499" y="3199750"/>
            <a:ext cx="817906" cy="488535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9756F41-5E17-954B-C9F0-834CAADBE501}"/>
              </a:ext>
            </a:extLst>
          </p:cNvPr>
          <p:cNvSpPr/>
          <p:nvPr/>
        </p:nvSpPr>
        <p:spPr>
          <a:xfrm>
            <a:off x="1721285" y="3824677"/>
            <a:ext cx="1812251" cy="25354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09F0F6-98D9-66F1-D807-A1855D630E25}"/>
              </a:ext>
            </a:extLst>
          </p:cNvPr>
          <p:cNvCxnSpPr>
            <a:cxnSpLocks/>
          </p:cNvCxnSpPr>
          <p:nvPr/>
        </p:nvCxnSpPr>
        <p:spPr>
          <a:xfrm>
            <a:off x="3533536" y="3958696"/>
            <a:ext cx="50085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57E3793-CE82-7E69-56A5-6F2241F03F42}"/>
              </a:ext>
            </a:extLst>
          </p:cNvPr>
          <p:cNvSpPr txBox="1"/>
          <p:nvPr/>
        </p:nvSpPr>
        <p:spPr>
          <a:xfrm>
            <a:off x="4034389" y="3758470"/>
            <a:ext cx="8089380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/>
              <a:t> define um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__str__ </a:t>
            </a:r>
            <a:r>
              <a:rPr lang="en-US"/>
              <a:t>para escrita da mensagem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82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7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53DA-D95B-6DC0-5E97-1DCB1092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Tipos de Exceções </a:t>
            </a:r>
            <a:r>
              <a:rPr lang="en-US" i="1"/>
              <a:t>built-in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865A-DAF3-B5DA-4359-F52F18E91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</a:p>
          <a:p>
            <a:pPr lvl="1"/>
            <a:r>
              <a:rPr lang="en-US"/>
              <a:t>Acontece quando a operação ou função é aplicada em um objeto de </a:t>
            </a:r>
            <a:r>
              <a:rPr lang="en-US" u="sng"/>
              <a:t>tipo compatível</a:t>
            </a:r>
            <a:r>
              <a:rPr lang="en-US"/>
              <a:t>, porém com </a:t>
            </a:r>
            <a:r>
              <a:rPr lang="en-US" u="sng"/>
              <a:t>valor incompatível</a:t>
            </a:r>
            <a:endParaRPr lang="pt-BR" u="sng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9E7A8AE-CDBA-455A-6C15-BB03E6D1E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649752"/>
              </p:ext>
            </p:extLst>
          </p:nvPr>
        </p:nvGraphicFramePr>
        <p:xfrm>
          <a:off x="150940" y="2986295"/>
          <a:ext cx="11972829" cy="1443261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44326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invalid_float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"abc"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Error: could not convert string to float: 'abc'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1130429C-A12C-BDE7-BAAC-2E2ED514C725}"/>
              </a:ext>
            </a:extLst>
          </p:cNvPr>
          <p:cNvSpPr/>
          <p:nvPr/>
        </p:nvSpPr>
        <p:spPr>
          <a:xfrm>
            <a:off x="3103079" y="3177095"/>
            <a:ext cx="1652720" cy="37423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7C8234-21FD-2D7A-C63D-F82495EF4E29}"/>
              </a:ext>
            </a:extLst>
          </p:cNvPr>
          <p:cNvCxnSpPr>
            <a:cxnSpLocks/>
          </p:cNvCxnSpPr>
          <p:nvPr/>
        </p:nvCxnSpPr>
        <p:spPr>
          <a:xfrm>
            <a:off x="4747375" y="3379729"/>
            <a:ext cx="13486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EDE3A3-65BD-324D-CEE5-A365374D387C}"/>
              </a:ext>
            </a:extLst>
          </p:cNvPr>
          <p:cNvSpPr txBox="1"/>
          <p:nvPr/>
        </p:nvSpPr>
        <p:spPr>
          <a:xfrm>
            <a:off x="6096000" y="3025786"/>
            <a:ext cx="5945060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Note que um argumento do tipo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/>
              <a:t> é compatível. Por exemplo,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float(</a:t>
            </a:r>
            <a:r>
              <a:rPr lang="en-US" sz="2000">
                <a:latin typeface="Courier New" panose="02070309020205020404" pitchFamily="49" charset="0"/>
              </a:rPr>
              <a:t>"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000">
                <a:latin typeface="Courier New" panose="02070309020205020404" pitchFamily="49" charset="0"/>
              </a:rPr>
              <a:t>"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000"/>
              <a:t>é válido</a:t>
            </a:r>
          </a:p>
        </p:txBody>
      </p:sp>
    </p:spTree>
    <p:extLst>
      <p:ext uri="{BB962C8B-B14F-4D97-AF65-F5344CB8AC3E}">
        <p14:creationId xmlns:p14="http://schemas.microsoft.com/office/powerpoint/2010/main" val="321388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53DA-D95B-6DC0-5E97-1DCB1092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Tipos de Exceções </a:t>
            </a:r>
            <a:r>
              <a:rPr lang="en-US" i="1"/>
              <a:t>built-in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865A-DAF3-B5DA-4359-F52F18E9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1590485"/>
          </a:xfrm>
        </p:spPr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AttributeError</a:t>
            </a:r>
          </a:p>
          <a:p>
            <a:pPr lvl="1"/>
            <a:r>
              <a:rPr lang="en-US"/>
              <a:t>Acontece quando o acesso a uma variável ou método de um objeto falha. Geralmente acontece porque a variável ou método não existe.</a:t>
            </a:r>
            <a:endParaRPr lang="pt-BR" u="sng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5EB3F1-E2C8-EF51-D32B-028CD7E80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70678"/>
              </p:ext>
            </p:extLst>
          </p:nvPr>
        </p:nvGraphicFramePr>
        <p:xfrm>
          <a:off x="150940" y="2986295"/>
          <a:ext cx="5133281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349912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4783369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44326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Person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"Frodo"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frodo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Person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frodo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age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AttributeError: 'Person' object has no attribute 'age'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AB1039-228C-331E-6CFC-9C20D2FC8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454992"/>
              </p:ext>
            </p:extLst>
          </p:nvPr>
        </p:nvGraphicFramePr>
        <p:xfrm>
          <a:off x="1277400" y="5473762"/>
          <a:ext cx="9810274" cy="1211928"/>
        </p:xfrm>
        <a:graphic>
          <a:graphicData uri="http://schemas.openxmlformats.org/drawingml/2006/table">
            <a:tbl>
              <a:tblPr firstRow="1" firstCol="1" bandRow="1"/>
              <a:tblGrid>
                <a:gridCol w="3354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474838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211928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colors_translator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"Azul"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"Blue"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"Verde"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"Green"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}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colors_translator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"Preto"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"Black"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AttributeError: 'dict' object has no attribute 'append'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16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53DA-D95B-6DC0-5E97-1DCB1092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Tipos de Exceções </a:t>
            </a:r>
            <a:r>
              <a:rPr lang="en-US" i="1"/>
              <a:t>built-in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865A-DAF3-B5DA-4359-F52F18E91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IndexError</a:t>
            </a:r>
          </a:p>
          <a:p>
            <a:pPr lvl="1"/>
            <a:r>
              <a:rPr lang="en-US"/>
              <a:t>Acontece quando se tenta acessar um índice fora do intervalo válido</a:t>
            </a:r>
            <a:endParaRPr lang="pt-BR" u="sng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9335BA-14CD-A587-919D-CAEEEAED9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566326"/>
              </p:ext>
            </p:extLst>
          </p:nvPr>
        </p:nvGraphicFramePr>
        <p:xfrm>
          <a:off x="150940" y="4939926"/>
          <a:ext cx="11972829" cy="164592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44326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-2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IndexError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2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9E7A8AE-CDBA-455A-6C15-BB03E6D1E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064844"/>
              </p:ext>
            </p:extLst>
          </p:nvPr>
        </p:nvGraphicFramePr>
        <p:xfrm>
          <a:off x="150940" y="2986295"/>
          <a:ext cx="11972829" cy="1649234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64923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IndexError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Error: list index out of range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841A831-B10D-CE7C-5984-825F88C49FE9}"/>
              </a:ext>
            </a:extLst>
          </p:cNvPr>
          <p:cNvSpPr/>
          <p:nvPr/>
        </p:nvSpPr>
        <p:spPr>
          <a:xfrm>
            <a:off x="915870" y="5442458"/>
            <a:ext cx="2176547" cy="37423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4882C9-5DAC-5E87-1654-4E589C3F162C}"/>
              </a:ext>
            </a:extLst>
          </p:cNvPr>
          <p:cNvCxnSpPr>
            <a:cxnSpLocks/>
          </p:cNvCxnSpPr>
          <p:nvPr/>
        </p:nvCxnSpPr>
        <p:spPr>
          <a:xfrm>
            <a:off x="3092417" y="5629576"/>
            <a:ext cx="146803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42FE55-1DCE-0DA7-0EFE-B2199F3FE8E8}"/>
              </a:ext>
            </a:extLst>
          </p:cNvPr>
          <p:cNvSpPr txBox="1"/>
          <p:nvPr/>
        </p:nvSpPr>
        <p:spPr>
          <a:xfrm>
            <a:off x="4560451" y="5442458"/>
            <a:ext cx="2488240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Válido. Não há erro.</a:t>
            </a:r>
          </a:p>
        </p:txBody>
      </p:sp>
    </p:spTree>
    <p:extLst>
      <p:ext uri="{BB962C8B-B14F-4D97-AF65-F5344CB8AC3E}">
        <p14:creationId xmlns:p14="http://schemas.microsoft.com/office/powerpoint/2010/main" val="362450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53DA-D95B-6DC0-5E97-1DCB1092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Tipos de Exceções </a:t>
            </a:r>
            <a:r>
              <a:rPr lang="en-US" i="1"/>
              <a:t>built-in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865A-DAF3-B5DA-4359-F52F18E91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</a:p>
          <a:p>
            <a:pPr lvl="1"/>
            <a:r>
              <a:rPr lang="en-US"/>
              <a:t>Acontece quando se busca uma chave não existente</a:t>
            </a:r>
            <a:endParaRPr lang="pt-BR" u="sng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9E7A8AE-CDBA-455A-6C15-BB03E6D1E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06466"/>
              </p:ext>
            </p:extLst>
          </p:nvPr>
        </p:nvGraphicFramePr>
        <p:xfrm>
          <a:off x="109585" y="5077008"/>
          <a:ext cx="11972829" cy="1649234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64923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}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remove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KeyError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#Output: Error: 6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1C9101-67C2-32EC-52E2-7494B3B87559}"/>
              </a:ext>
            </a:extLst>
          </p:cNvPr>
          <p:cNvSpPr txBox="1"/>
          <p:nvPr/>
        </p:nvSpPr>
        <p:spPr>
          <a:xfrm>
            <a:off x="5796499" y="5327583"/>
            <a:ext cx="4928172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Embora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2000"/>
              <a:t> não seja um dicionário, ele também é baseado em </a:t>
            </a:r>
            <a:r>
              <a:rPr lang="en-US" sz="2000" i="1"/>
              <a:t>hash tables</a:t>
            </a:r>
            <a:r>
              <a:rPr lang="en-US" sz="2000"/>
              <a:t>, que possuem chaves associadas a valores.</a:t>
            </a:r>
            <a:endParaRPr lang="en-US" sz="2000" i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FAB979-0298-65D5-9C00-A4794CFB0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49014"/>
              </p:ext>
            </p:extLst>
          </p:nvPr>
        </p:nvGraphicFramePr>
        <p:xfrm>
          <a:off x="109584" y="2955532"/>
          <a:ext cx="11929249" cy="1689988"/>
        </p:xfrm>
        <a:graphic>
          <a:graphicData uri="http://schemas.openxmlformats.org/drawingml/2006/table">
            <a:tbl>
              <a:tblPr firstRow="1" firstCol="1" bandRow="1"/>
              <a:tblGrid>
                <a:gridCol w="418838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041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689988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colors_translator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"Azul"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"Blue"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"Verde"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"Green"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colors_translator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"Branco"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KeyError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#Output: Error: 'Branco'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74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3733-65CB-57B4-DE51-9DC62283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C264-36CA-27EA-F5D3-238749D2B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Quais exceções serão lançadas?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1C1294-A5BB-A31B-BD64-8F9E9DFDA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95437"/>
              </p:ext>
            </p:extLst>
          </p:nvPr>
        </p:nvGraphicFramePr>
        <p:xfrm>
          <a:off x="109585" y="2007565"/>
          <a:ext cx="5542234" cy="1920240"/>
        </p:xfrm>
        <a:graphic>
          <a:graphicData uri="http://schemas.openxmlformats.org/drawingml/2006/table">
            <a:tbl>
              <a:tblPr firstRow="1" firstCol="1" bandRow="1"/>
              <a:tblGrid>
                <a:gridCol w="32234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521989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64923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TypeError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Error: list indices must be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        integers or slices, not str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32A236-33CA-B47D-4342-943DBC299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15934"/>
              </p:ext>
            </p:extLst>
          </p:nvPr>
        </p:nvGraphicFramePr>
        <p:xfrm>
          <a:off x="109585" y="4541423"/>
          <a:ext cx="5542234" cy="1920240"/>
        </p:xfrm>
        <a:graphic>
          <a:graphicData uri="http://schemas.openxmlformats.org/drawingml/2006/table">
            <a:tbl>
              <a:tblPr firstRow="1" firstCol="1" bandRow="1"/>
              <a:tblGrid>
                <a:gridCol w="32234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521989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64923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[::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Error: slice step cannot be #         zero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A504498-A434-97B8-BDBF-B97A136D22D9}"/>
              </a:ext>
            </a:extLst>
          </p:cNvPr>
          <p:cNvSpPr/>
          <p:nvPr/>
        </p:nvSpPr>
        <p:spPr>
          <a:xfrm>
            <a:off x="473282" y="3429000"/>
            <a:ext cx="5091233" cy="476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EFCF53-32F5-3A9A-3E34-12B08BF18ECB}"/>
              </a:ext>
            </a:extLst>
          </p:cNvPr>
          <p:cNvSpPr/>
          <p:nvPr/>
        </p:nvSpPr>
        <p:spPr>
          <a:xfrm>
            <a:off x="1396871" y="2871859"/>
            <a:ext cx="1383089" cy="248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D4F759-7C5F-E4DB-C237-204677E2035C}"/>
              </a:ext>
            </a:extLst>
          </p:cNvPr>
          <p:cNvSpPr/>
          <p:nvPr/>
        </p:nvSpPr>
        <p:spPr>
          <a:xfrm>
            <a:off x="487100" y="5963623"/>
            <a:ext cx="5091233" cy="476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894C0D-3EF8-686A-2852-62DB6AB29159}"/>
              </a:ext>
            </a:extLst>
          </p:cNvPr>
          <p:cNvSpPr/>
          <p:nvPr/>
        </p:nvSpPr>
        <p:spPr>
          <a:xfrm>
            <a:off x="1424474" y="5411077"/>
            <a:ext cx="1383089" cy="248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C1BD53-ECB1-8AEE-6B62-A2F68DC7C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84316"/>
              </p:ext>
            </p:extLst>
          </p:nvPr>
        </p:nvGraphicFramePr>
        <p:xfrm>
          <a:off x="6258356" y="2007565"/>
          <a:ext cx="5867783" cy="1920240"/>
        </p:xfrm>
        <a:graphic>
          <a:graphicData uri="http://schemas.openxmlformats.org/drawingml/2006/table">
            <a:tbl>
              <a:tblPr firstRow="1" firstCol="1" bandRow="1"/>
              <a:tblGrid>
                <a:gridCol w="292612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557517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64923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nums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nums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AttributeError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f"Error: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Error: AttributeError: 'tuple' object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has no attribute 'append'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24F6A1E-A32F-1B1B-493D-AE1FD832F049}"/>
              </a:ext>
            </a:extLst>
          </p:cNvPr>
          <p:cNvSpPr/>
          <p:nvPr/>
        </p:nvSpPr>
        <p:spPr>
          <a:xfrm>
            <a:off x="7518143" y="2843620"/>
            <a:ext cx="1975075" cy="248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42F143-4EA3-DCBA-B327-AEB0AAC3ED75}"/>
              </a:ext>
            </a:extLst>
          </p:cNvPr>
          <p:cNvSpPr/>
          <p:nvPr/>
        </p:nvSpPr>
        <p:spPr>
          <a:xfrm>
            <a:off x="6613699" y="3419145"/>
            <a:ext cx="5425135" cy="48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06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9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5869-96EB-B23C-AAF6-B15CDB26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Quando não usar Exceções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E0D7E-32A5-E99D-AACE-2BA531407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Os exemplos anteriores ilustram os tipos de exceções, porém exceções não devem ser usadas para capturar erros de programação (</a:t>
            </a:r>
            <a:r>
              <a:rPr lang="en-US" i="1"/>
              <a:t>bugs</a:t>
            </a:r>
            <a:r>
              <a:rPr lang="en-US"/>
              <a:t>). </a:t>
            </a:r>
            <a:r>
              <a:rPr lang="en-US" i="1"/>
              <a:t>Bugs</a:t>
            </a:r>
            <a:r>
              <a:rPr lang="en-US"/>
              <a:t> devem ser corrigidos.</a:t>
            </a:r>
          </a:p>
          <a:p>
            <a:pPr lvl="1"/>
            <a:r>
              <a:rPr lang="en-US"/>
              <a:t>Portanto, os exemplos do slide anterior devem ter os seus bugs corrigidos, ao invés do tratamento com exceção.</a:t>
            </a:r>
          </a:p>
          <a:p>
            <a:r>
              <a:rPr lang="en-US"/>
              <a:t>Exceções devem ser usadas para tratar comportamentos em que não é possível determinar se vão resultar em erro ou não.</a:t>
            </a:r>
          </a:p>
          <a:p>
            <a:pPr lvl="1"/>
            <a:r>
              <a:rPr lang="en-US"/>
              <a:t>Usualmente isso acontece quando a ação executada depende de entrada de dados pelo usuário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10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F1E0-E571-AE54-0281-5CE2B177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Lançando nossas Exceções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9D63-8520-7542-D985-AD4850E36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Até aqui vimos exceções lançadas por funções </a:t>
            </a:r>
            <a:r>
              <a:rPr lang="en-US" i="1"/>
              <a:t>built-in</a:t>
            </a:r>
          </a:p>
          <a:p>
            <a:r>
              <a:rPr lang="en-US"/>
              <a:t>Entretanto, também podemos lançar nossas próprias exceções</a:t>
            </a:r>
          </a:p>
          <a:p>
            <a:pPr lvl="1"/>
            <a:r>
              <a:rPr lang="en-US"/>
              <a:t>Para isso usamos a estrutura: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5F0751-C6BD-FA4A-CE25-AE70FADE4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94475"/>
              </p:ext>
            </p:extLst>
          </p:nvPr>
        </p:nvGraphicFramePr>
        <p:xfrm>
          <a:off x="3749499" y="4117098"/>
          <a:ext cx="3800045" cy="689246"/>
        </p:xfrm>
        <a:graphic>
          <a:graphicData uri="http://schemas.openxmlformats.org/drawingml/2006/table">
            <a:tbl>
              <a:tblPr firstRow="1" firstCol="1" bandRow="1"/>
              <a:tblGrid>
                <a:gridCol w="3800045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</a:tblGrid>
              <a:tr h="68924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SomeException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D276AD0-0779-02EC-92BA-8F1F327432DE}"/>
              </a:ext>
            </a:extLst>
          </p:cNvPr>
          <p:cNvSpPr/>
          <p:nvPr/>
        </p:nvSpPr>
        <p:spPr>
          <a:xfrm>
            <a:off x="4729700" y="4274603"/>
            <a:ext cx="1864089" cy="37423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D39D4-C788-C71D-D1E8-BF085BC633C3}"/>
              </a:ext>
            </a:extLst>
          </p:cNvPr>
          <p:cNvSpPr txBox="1"/>
          <p:nvPr/>
        </p:nvSpPr>
        <p:spPr>
          <a:xfrm>
            <a:off x="3955092" y="5624595"/>
            <a:ext cx="3338311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Substituir pelo tipo específico de exceção</a:t>
            </a:r>
            <a:endParaRPr lang="en-US" sz="2000" i="1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D24347-4BE7-0E75-9802-8B60E112D9A5}"/>
              </a:ext>
            </a:extLst>
          </p:cNvPr>
          <p:cNvCxnSpPr>
            <a:cxnSpLocks/>
          </p:cNvCxnSpPr>
          <p:nvPr/>
        </p:nvCxnSpPr>
        <p:spPr>
          <a:xfrm>
            <a:off x="5624248" y="4648839"/>
            <a:ext cx="0" cy="9757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66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B04FD98-3FA4-67B9-D77D-9AAD88159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533079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sz="2400"/>
              <a:t>Note que embora estejamos numa estrutura de exceções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2400"/>
              <a:t>/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sz="2400"/>
              <a:t>, estamos usando, para a checagem da idade, a primeira abordagem (LBYL), a partir de um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/>
              <a:t>. Às vezes, isso é o mais simples.</a:t>
            </a:r>
            <a:endParaRPr lang="pt-BR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C8398-B962-3D65-C4D9-102381B6E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Lançando nossas Exceções: Exemplo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DEFBAC-077D-7AFE-423E-57A0EB713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06680"/>
              </p:ext>
            </p:extLst>
          </p:nvPr>
        </p:nvGraphicFramePr>
        <p:xfrm>
          <a:off x="109585" y="1189659"/>
          <a:ext cx="11972829" cy="356616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826348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get_valid_age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while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user_input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"Entre com a sua idade: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age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user_input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age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"Idade não pode ser negativa"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age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}. Por favor, tente novamente."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age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get_valid_age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f"Sua idade é: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age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03685B2-D152-5DB1-A243-FAFC49E269DB}"/>
              </a:ext>
            </a:extLst>
          </p:cNvPr>
          <p:cNvSpPr/>
          <p:nvPr/>
        </p:nvSpPr>
        <p:spPr>
          <a:xfrm>
            <a:off x="2483390" y="2836510"/>
            <a:ext cx="1407382" cy="31118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C56D1AF-6C79-40C6-FBBD-AF3A309503EB}"/>
              </a:ext>
            </a:extLst>
          </p:cNvPr>
          <p:cNvCxnSpPr>
            <a:cxnSpLocks/>
          </p:cNvCxnSpPr>
          <p:nvPr/>
        </p:nvCxnSpPr>
        <p:spPr>
          <a:xfrm flipV="1">
            <a:off x="3383754" y="2697250"/>
            <a:ext cx="4873416" cy="139260"/>
          </a:xfrm>
          <a:prstGeom prst="bentConnector3">
            <a:avLst>
              <a:gd name="adj1" fmla="val -16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58FBB1-E241-3ED7-1A53-0E8856F8AEED}"/>
              </a:ext>
            </a:extLst>
          </p:cNvPr>
          <p:cNvSpPr txBox="1"/>
          <p:nvPr/>
        </p:nvSpPr>
        <p:spPr>
          <a:xfrm>
            <a:off x="8230988" y="1573865"/>
            <a:ext cx="3679187" cy="286232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Tecnicamente, poderíamos, por exemplo, lançar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raise KeyError(…) </a:t>
            </a:r>
            <a:r>
              <a:rPr lang="en-US" sz="2000"/>
              <a:t>e depois capturar como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except KeyError as e</a:t>
            </a:r>
            <a:r>
              <a:rPr lang="en-US" sz="2000"/>
              <a:t>. O resultado seria o mesmo. Entretanto, escolhemos o tipo que faça sentido para clareza do código.</a:t>
            </a:r>
            <a:endParaRPr lang="en-US" sz="2000" i="1"/>
          </a:p>
        </p:txBody>
      </p:sp>
    </p:spTree>
    <p:extLst>
      <p:ext uri="{BB962C8B-B14F-4D97-AF65-F5344CB8AC3E}">
        <p14:creationId xmlns:p14="http://schemas.microsoft.com/office/powerpoint/2010/main" val="155949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10277</TotalTime>
  <Words>2134</Words>
  <Application>Microsoft Office PowerPoint</Application>
  <PresentationFormat>Widescreen</PresentationFormat>
  <Paragraphs>393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Courier New</vt:lpstr>
      <vt:lpstr>Garamond</vt:lpstr>
      <vt:lpstr>Wingdings</vt:lpstr>
      <vt:lpstr>Tema Padrão</vt:lpstr>
      <vt:lpstr>16 – Tratamento de Erros </vt:lpstr>
      <vt:lpstr>Introdução</vt:lpstr>
      <vt:lpstr>Abordagens de Tratamento de Erros</vt:lpstr>
      <vt:lpstr>1ª Abordagem: LBYL</vt:lpstr>
      <vt:lpstr>1ª Abordagem: LBYL (Exemplo 1)</vt:lpstr>
      <vt:lpstr>1ª Abordagem: LBYL (Exemplo 1)</vt:lpstr>
      <vt:lpstr>Abordagens de Tratamento de Erros</vt:lpstr>
      <vt:lpstr>Estrutura Geral de Exceções</vt:lpstr>
      <vt:lpstr>2ª Abordagem: EAFP (Exemplo 2)</vt:lpstr>
      <vt:lpstr>Exceção: definição</vt:lpstr>
      <vt:lpstr>Exceções Sem Tratamento</vt:lpstr>
      <vt:lpstr>Exceções Sem Tratamento</vt:lpstr>
      <vt:lpstr>Exceções Sem Tratamento</vt:lpstr>
      <vt:lpstr>Tipos de Exceções built-in</vt:lpstr>
      <vt:lpstr>Tipos de Exceções built-in</vt:lpstr>
      <vt:lpstr>Tipos de Exceções built-in</vt:lpstr>
      <vt:lpstr>Tipos de Exceções built-in</vt:lpstr>
      <vt:lpstr>Tipos de Exceções built-in</vt:lpstr>
      <vt:lpstr>Tipos de Exceções built-in</vt:lpstr>
      <vt:lpstr>Exemplos</vt:lpstr>
      <vt:lpstr>Quando não usar Exceções</vt:lpstr>
      <vt:lpstr>Lançando nossas Exceções</vt:lpstr>
      <vt:lpstr>Lançando nossas Exceções: Exemplo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615</cp:revision>
  <dcterms:created xsi:type="dcterms:W3CDTF">2017-06-20T21:36:17Z</dcterms:created>
  <dcterms:modified xsi:type="dcterms:W3CDTF">2024-09-20T15:51:32Z</dcterms:modified>
</cp:coreProperties>
</file>