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438" r:id="rId3"/>
    <p:sldId id="432" r:id="rId4"/>
    <p:sldId id="435" r:id="rId5"/>
    <p:sldId id="436" r:id="rId6"/>
    <p:sldId id="439" r:id="rId7"/>
    <p:sldId id="440" r:id="rId8"/>
    <p:sldId id="441" r:id="rId9"/>
    <p:sldId id="442" r:id="rId10"/>
    <p:sldId id="443" r:id="rId11"/>
    <p:sldId id="444" r:id="rId12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11" autoAdjust="0"/>
    <p:restoredTop sz="92853" autoAdjust="0"/>
  </p:normalViewPr>
  <p:slideViewPr>
    <p:cSldViewPr snapToGrid="0">
      <p:cViewPr varScale="1">
        <p:scale>
          <a:sx n="132" d="100"/>
          <a:sy n="132" d="100"/>
        </p:scale>
        <p:origin x="778" y="7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25/10/2024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572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572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58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4EA250-FE77-3FA7-5F90-6D1153789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74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C339F5D-1391-29FE-2F73-D279896B3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7507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21 – PyQt</a:t>
            </a:r>
            <a:br>
              <a:rPr lang="pt-BR"/>
            </a:br>
            <a:r>
              <a:rPr lang="pt-BR"/>
              <a:t>(6 – Menus)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9D71-9652-C448-9186-C669881E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Padrão – Exemplos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5506A-F6EC-0225-A2C6-8EDB2AA7C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648515"/>
          </a:xfrm>
        </p:spPr>
        <p:txBody>
          <a:bodyPr/>
          <a:lstStyle/>
          <a:p>
            <a:r>
              <a:rPr lang="en-US"/>
              <a:t>Para os exemplos dessa aula usaremos o seguinte padrão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00204F9-4FA4-66B3-0099-7E5560731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771729"/>
              </p:ext>
            </p:extLst>
          </p:nvPr>
        </p:nvGraphicFramePr>
        <p:xfrm>
          <a:off x="397245" y="2162588"/>
          <a:ext cx="11363384" cy="329184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312622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Omitido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sys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QtGui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PyQt6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QtWidgets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QToolBar, QStyle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Classe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8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Omitido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sys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argv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exec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5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3F563F5C-34B9-6161-964F-626611CBB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15" y="2556557"/>
            <a:ext cx="2274511" cy="4044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F413DD-1108-10B8-DF74-8F355D11C4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005" y="1233193"/>
            <a:ext cx="3480204" cy="8422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90B60A-E7BC-3891-CC10-F6BF804E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Definições e Estilos de Menu</a:t>
            </a: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52CFAD-79F3-6E59-1B80-C87FADC64D05}"/>
              </a:ext>
            </a:extLst>
          </p:cNvPr>
          <p:cNvSpPr/>
          <p:nvPr/>
        </p:nvSpPr>
        <p:spPr>
          <a:xfrm>
            <a:off x="4969610" y="1718034"/>
            <a:ext cx="1865063" cy="35368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9B9D22-322E-5079-63A9-406B60117235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6834673" y="1887050"/>
            <a:ext cx="2006285" cy="78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FC6797-C7B5-DF79-436F-3922A67B9E5E}"/>
              </a:ext>
            </a:extLst>
          </p:cNvPr>
          <p:cNvSpPr txBox="1"/>
          <p:nvPr/>
        </p:nvSpPr>
        <p:spPr>
          <a:xfrm>
            <a:off x="8840958" y="1702384"/>
            <a:ext cx="3090112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Barra de Menu (</a:t>
            </a:r>
            <a:r>
              <a:rPr lang="en-US" i="1"/>
              <a:t>menu bar</a:t>
            </a:r>
            <a:r>
              <a:rPr lang="en-US"/>
              <a:t>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B79706-F645-1058-DEDD-9962C07F0DFF}"/>
              </a:ext>
            </a:extLst>
          </p:cNvPr>
          <p:cNvSpPr/>
          <p:nvPr/>
        </p:nvSpPr>
        <p:spPr>
          <a:xfrm>
            <a:off x="787829" y="2894722"/>
            <a:ext cx="2302082" cy="366531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92A96B-4554-E56B-79CA-497C393FEBF1}"/>
              </a:ext>
            </a:extLst>
          </p:cNvPr>
          <p:cNvCxnSpPr>
            <a:cxnSpLocks/>
            <a:stCxn id="29" idx="3"/>
            <a:endCxn id="5" idx="1"/>
          </p:cNvCxnSpPr>
          <p:nvPr/>
        </p:nvCxnSpPr>
        <p:spPr>
          <a:xfrm>
            <a:off x="3089911" y="4727379"/>
            <a:ext cx="94900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314B8A7-6171-B655-2A96-589C624C30DE}"/>
              </a:ext>
            </a:extLst>
          </p:cNvPr>
          <p:cNvSpPr txBox="1"/>
          <p:nvPr/>
        </p:nvSpPr>
        <p:spPr>
          <a:xfrm>
            <a:off x="4038912" y="4542713"/>
            <a:ext cx="1969808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Drop-down</a:t>
            </a:r>
            <a:r>
              <a:rPr lang="en-US"/>
              <a:t> menu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24FB3C-1CA2-7105-9459-6CE76F9A030A}"/>
              </a:ext>
            </a:extLst>
          </p:cNvPr>
          <p:cNvSpPr/>
          <p:nvPr/>
        </p:nvSpPr>
        <p:spPr>
          <a:xfrm>
            <a:off x="787829" y="2580682"/>
            <a:ext cx="491661" cy="27612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F187BD-88A5-E1CF-23FD-B4D0856BCC93}"/>
              </a:ext>
            </a:extLst>
          </p:cNvPr>
          <p:cNvSpPr txBox="1"/>
          <p:nvPr/>
        </p:nvSpPr>
        <p:spPr>
          <a:xfrm>
            <a:off x="64381" y="1517718"/>
            <a:ext cx="1969808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Título do menu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ADEF421-9BED-435D-BBE0-E9B1F6F47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693" y="3364339"/>
            <a:ext cx="4837377" cy="1528862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9C0FA304-2B9B-8FB6-55CE-A3F97098E7E5}"/>
              </a:ext>
            </a:extLst>
          </p:cNvPr>
          <p:cNvSpPr/>
          <p:nvPr/>
        </p:nvSpPr>
        <p:spPr>
          <a:xfrm>
            <a:off x="9854343" y="3993792"/>
            <a:ext cx="1906286" cy="89940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0137784-698D-DDF3-58C4-311B06574B93}"/>
              </a:ext>
            </a:extLst>
          </p:cNvPr>
          <p:cNvCxnSpPr>
            <a:cxnSpLocks/>
            <a:stCxn id="43" idx="2"/>
            <a:endCxn id="45" idx="0"/>
          </p:cNvCxnSpPr>
          <p:nvPr/>
        </p:nvCxnSpPr>
        <p:spPr>
          <a:xfrm>
            <a:off x="10807486" y="4893201"/>
            <a:ext cx="0" cy="5582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F5014B1-8D1F-E35F-ACDC-71A6FAF135BB}"/>
              </a:ext>
            </a:extLst>
          </p:cNvPr>
          <p:cNvSpPr txBox="1"/>
          <p:nvPr/>
        </p:nvSpPr>
        <p:spPr>
          <a:xfrm>
            <a:off x="10086793" y="5451418"/>
            <a:ext cx="1441386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Submenu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8D09EBD-A0D0-DE27-85F4-0AE77CD3BD2F}"/>
              </a:ext>
            </a:extLst>
          </p:cNvPr>
          <p:cNvCxnSpPr>
            <a:cxnSpLocks/>
            <a:stCxn id="15" idx="0"/>
            <a:endCxn id="21" idx="2"/>
          </p:cNvCxnSpPr>
          <p:nvPr/>
        </p:nvCxnSpPr>
        <p:spPr>
          <a:xfrm flipV="1">
            <a:off x="1033660" y="1887050"/>
            <a:ext cx="15625" cy="693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A2EC2A1-5321-2F2E-5B0A-76F6CC0B65CB}"/>
              </a:ext>
            </a:extLst>
          </p:cNvPr>
          <p:cNvSpPr/>
          <p:nvPr/>
        </p:nvSpPr>
        <p:spPr>
          <a:xfrm>
            <a:off x="7948057" y="3989306"/>
            <a:ext cx="1830425" cy="265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AF39336-5A78-2D5E-1C52-5F145F40A6DC}"/>
              </a:ext>
            </a:extLst>
          </p:cNvPr>
          <p:cNvCxnSpPr>
            <a:stCxn id="62" idx="1"/>
          </p:cNvCxnSpPr>
          <p:nvPr/>
        </p:nvCxnSpPr>
        <p:spPr>
          <a:xfrm rot="10800000" flipV="1">
            <a:off x="7375849" y="4122033"/>
            <a:ext cx="572208" cy="1168424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2BD93B75-2B41-48B9-3E42-4F6E49131203}"/>
              </a:ext>
            </a:extLst>
          </p:cNvPr>
          <p:cNvSpPr txBox="1"/>
          <p:nvPr/>
        </p:nvSpPr>
        <p:spPr>
          <a:xfrm>
            <a:off x="6655155" y="5291243"/>
            <a:ext cx="144138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Título do submenu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42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29" grpId="0" animBg="1"/>
      <p:bldP spid="5" grpId="0" animBg="1"/>
      <p:bldP spid="15" grpId="0" animBg="1"/>
      <p:bldP spid="21" grpId="0" animBg="1"/>
      <p:bldP spid="43" grpId="0" animBg="1"/>
      <p:bldP spid="45" grpId="0" animBg="1"/>
      <p:bldP spid="62" grpId="0" animBg="1"/>
      <p:bldP spid="6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B60A-E7BC-3891-CC10-F6BF804E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Definições e Estilos de Menu</a:t>
            </a:r>
            <a:endParaRPr lang="pt-B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63A0D-5978-8BE5-9B4E-05DBF4914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081" y="1649596"/>
            <a:ext cx="3260406" cy="45121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1B40E0-B11A-0602-95CA-7A22BBB96034}"/>
              </a:ext>
            </a:extLst>
          </p:cNvPr>
          <p:cNvSpPr/>
          <p:nvPr/>
        </p:nvSpPr>
        <p:spPr>
          <a:xfrm>
            <a:off x="2852323" y="2375998"/>
            <a:ext cx="2321620" cy="367098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1776777-9FE4-5EB8-3B9E-59DD6D9DCCF8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5173943" y="4211491"/>
            <a:ext cx="1148742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5C746D-09B4-64DE-C33A-00CDE687DC26}"/>
              </a:ext>
            </a:extLst>
          </p:cNvPr>
          <p:cNvSpPr txBox="1"/>
          <p:nvPr/>
        </p:nvSpPr>
        <p:spPr>
          <a:xfrm>
            <a:off x="6322685" y="3749826"/>
            <a:ext cx="4052767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Context menu (</a:t>
            </a:r>
            <a:r>
              <a:rPr lang="en-US"/>
              <a:t>às vezes chamado de </a:t>
            </a:r>
            <a:r>
              <a:rPr lang="en-US" i="1"/>
              <a:t>pop-up menu</a:t>
            </a:r>
            <a:r>
              <a:rPr lang="en-US"/>
              <a:t>). Aparece clicando com o botão direito do mouse.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75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77E9E-3878-BD07-C404-EEA46422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8EA351-8112-C9AF-BE3E-2044EAD27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528735"/>
              </p:ext>
            </p:extLst>
          </p:nvPr>
        </p:nvGraphicFramePr>
        <p:xfrm>
          <a:off x="151623" y="1041415"/>
          <a:ext cx="11363384" cy="576072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33299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"Menu - Exemplo"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600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menu_bar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file_menu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menu_bar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"&amp;Arquivo"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"&amp;Novo"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setShortcut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"Ctrl+N"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new_action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"&amp;Salvar"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setShortcut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"Ctrl+S"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save_action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exit_action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"&amp;Sair"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exit_action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setShortcut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"Ctrl+Q"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exit_action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7D60030-92A8-AECF-B187-390F2EEB23F1}"/>
              </a:ext>
            </a:extLst>
          </p:cNvPr>
          <p:cNvSpPr/>
          <p:nvPr/>
        </p:nvSpPr>
        <p:spPr>
          <a:xfrm>
            <a:off x="1132806" y="2664599"/>
            <a:ext cx="3554068" cy="35368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25DC3-68EE-EEA7-FCFD-A61AA712F62D}"/>
              </a:ext>
            </a:extLst>
          </p:cNvPr>
          <p:cNvSpPr txBox="1"/>
          <p:nvPr/>
        </p:nvSpPr>
        <p:spPr>
          <a:xfrm>
            <a:off x="7711195" y="1037516"/>
            <a:ext cx="4006818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Retorna a barra de menu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US"/>
              <a:t> (se não existir, cria). A barra de menu é do tipo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QMenuBar</a:t>
            </a:r>
            <a:r>
              <a:rPr lang="en-US"/>
              <a:t>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E4D8E43-5676-D80A-5DB0-00D505EED8B2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4686874" y="1499181"/>
            <a:ext cx="3024321" cy="134225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6653762A-C405-EC92-019F-EDDDE3C77C49}"/>
              </a:ext>
            </a:extLst>
          </p:cNvPr>
          <p:cNvSpPr/>
          <p:nvPr/>
        </p:nvSpPr>
        <p:spPr>
          <a:xfrm>
            <a:off x="1132806" y="3196517"/>
            <a:ext cx="5529908" cy="35368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8AE541-2783-8DF5-A509-88E9620F0533}"/>
              </a:ext>
            </a:extLst>
          </p:cNvPr>
          <p:cNvSpPr txBox="1"/>
          <p:nvPr/>
        </p:nvSpPr>
        <p:spPr>
          <a:xfrm>
            <a:off x="7709396" y="2228671"/>
            <a:ext cx="4006818" cy="1477328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e adiciona um menu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QMenu</a:t>
            </a:r>
            <a:r>
              <a:rPr lang="en-US"/>
              <a:t>) com o nome </a:t>
            </a:r>
            <a:r>
              <a:rPr lang="en-US" i="1"/>
              <a:t>Arquivo</a:t>
            </a:r>
            <a:r>
              <a:rPr lang="en-US"/>
              <a:t>. O “</a:t>
            </a:r>
            <a:r>
              <a:rPr lang="en-US" i="1"/>
              <a:t>&amp;”</a:t>
            </a:r>
            <a:r>
              <a:rPr lang="en-US"/>
              <a:t> define um atalho para esse menu pressionando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Alt</a:t>
            </a:r>
            <a:r>
              <a:rPr lang="en-US"/>
              <a:t>. O menu criado é retornado.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792091EF-CEAB-8E0F-A9F9-6C3CF43EB369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6662714" y="2967335"/>
            <a:ext cx="1046682" cy="406023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ED49B1C-98DE-25B3-4E0F-66D7EDFAA4C2}"/>
              </a:ext>
            </a:extLst>
          </p:cNvPr>
          <p:cNvSpPr/>
          <p:nvPr/>
        </p:nvSpPr>
        <p:spPr>
          <a:xfrm>
            <a:off x="1132805" y="3786288"/>
            <a:ext cx="5989405" cy="83882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3B1E50-8A96-D490-0BCF-062808F0141D}"/>
              </a:ext>
            </a:extLst>
          </p:cNvPr>
          <p:cNvSpPr/>
          <p:nvPr/>
        </p:nvSpPr>
        <p:spPr>
          <a:xfrm>
            <a:off x="1092522" y="4850071"/>
            <a:ext cx="6288079" cy="95132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941734-0C8A-42F0-EB5A-28C2315707C7}"/>
              </a:ext>
            </a:extLst>
          </p:cNvPr>
          <p:cNvSpPr/>
          <p:nvPr/>
        </p:nvSpPr>
        <p:spPr>
          <a:xfrm>
            <a:off x="1132804" y="5924981"/>
            <a:ext cx="6288079" cy="83882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60A0C96-E669-990B-E2BC-EF0772F44F5A}"/>
              </a:ext>
            </a:extLst>
          </p:cNvPr>
          <p:cNvSpPr txBox="1"/>
          <p:nvPr/>
        </p:nvSpPr>
        <p:spPr>
          <a:xfrm>
            <a:off x="8321500" y="4864070"/>
            <a:ext cx="3634626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as ações de modo semelhante ao que fizemos na barra de ferramentas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5945F7AA-CDE7-C790-1821-84F3D706CBEA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>
            <a:off x="7122210" y="4205699"/>
            <a:ext cx="3016603" cy="658371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4C015101-1928-0154-3F85-74257D3A7FA7}"/>
              </a:ext>
            </a:extLst>
          </p:cNvPr>
          <p:cNvCxnSpPr>
            <a:cxnSpLocks/>
            <a:stCxn id="38" idx="3"/>
            <a:endCxn id="39" idx="2"/>
          </p:cNvCxnSpPr>
          <p:nvPr/>
        </p:nvCxnSpPr>
        <p:spPr>
          <a:xfrm flipV="1">
            <a:off x="7420883" y="5787400"/>
            <a:ext cx="2717930" cy="556992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3E0AA48-F12C-51D4-4533-7FF1AF9213EA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7380601" y="5325735"/>
            <a:ext cx="94089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49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9" grpId="0" animBg="1"/>
      <p:bldP spid="23" grpId="0" animBg="1"/>
      <p:bldP spid="33" grpId="0" animBg="1"/>
      <p:bldP spid="37" grpId="0" animBg="1"/>
      <p:bldP spid="38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9D0FE-6D75-69AD-5BB0-64639759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4BE064-F8CC-2CE0-A114-37636E2C9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493678"/>
              </p:ext>
            </p:extLst>
          </p:nvPr>
        </p:nvGraphicFramePr>
        <p:xfrm>
          <a:off x="151623" y="1041415"/>
          <a:ext cx="11363384" cy="3017520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85064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file_menu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save_action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addSeparator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exit_action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new_file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"Criando arquivo"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save_file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"Salvando arquivo"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BA90351-9F54-0BF1-3BDA-C0D0F72DBE28}"/>
              </a:ext>
            </a:extLst>
          </p:cNvPr>
          <p:cNvSpPr/>
          <p:nvPr/>
        </p:nvSpPr>
        <p:spPr>
          <a:xfrm>
            <a:off x="1132805" y="1041416"/>
            <a:ext cx="4450089" cy="566825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C65394-5F4D-F3CE-2829-9EEBC1E7B5E2}"/>
              </a:ext>
            </a:extLst>
          </p:cNvPr>
          <p:cNvSpPr txBox="1"/>
          <p:nvPr/>
        </p:nvSpPr>
        <p:spPr>
          <a:xfrm>
            <a:off x="7241522" y="618145"/>
            <a:ext cx="4330981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Adiciona a ação ao menu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file_menu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DBC763-8877-DDB0-AF3E-E7DCF629FFAC}"/>
              </a:ext>
            </a:extLst>
          </p:cNvPr>
          <p:cNvSpPr/>
          <p:nvPr/>
        </p:nvSpPr>
        <p:spPr>
          <a:xfrm>
            <a:off x="1132805" y="1608241"/>
            <a:ext cx="3411626" cy="28029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0AE606-DB1D-3CE6-3CC1-55DFDB6AB523}"/>
              </a:ext>
            </a:extLst>
          </p:cNvPr>
          <p:cNvCxnSpPr>
            <a:cxnSpLocks/>
            <a:stCxn id="14" idx="3"/>
            <a:endCxn id="23" idx="1"/>
          </p:cNvCxnSpPr>
          <p:nvPr/>
        </p:nvCxnSpPr>
        <p:spPr>
          <a:xfrm>
            <a:off x="4544431" y="1748388"/>
            <a:ext cx="2697091" cy="21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D41769F9-0765-F575-4F98-F6C400ABC7A2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5582894" y="802811"/>
            <a:ext cx="1658628" cy="52201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9E4B1CF-7845-58E1-8739-BE773F028E02}"/>
              </a:ext>
            </a:extLst>
          </p:cNvPr>
          <p:cNvSpPr txBox="1"/>
          <p:nvPr/>
        </p:nvSpPr>
        <p:spPr>
          <a:xfrm>
            <a:off x="7241522" y="1288825"/>
            <a:ext cx="4416607" cy="92333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um separador entre o último item adicionado ao menu e o próximo (execute o código)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61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4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D363-7862-2FCC-2122-4FE8BFC0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CD381-62DF-3E0D-2B68-E8D69295D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Agora vamos criar um menu com um único item: “Novo”. Ao clicar em “Novo” deve ser chamada uma função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new_file</a:t>
            </a:r>
            <a:r>
              <a:rPr lang="en-US"/>
              <a:t> que escreva “Criando arquivo”.</a:t>
            </a:r>
          </a:p>
          <a:p>
            <a:pPr lvl="1"/>
            <a:r>
              <a:rPr lang="en-US"/>
              <a:t>A mesma função também deve ser chamada por um atalho de teclado</a:t>
            </a:r>
          </a:p>
          <a:p>
            <a:r>
              <a:rPr lang="en-US"/>
              <a:t>Além disso, vamos criar uma barra de ferramentas que contenha um ícone, que também vai chamar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new_file</a:t>
            </a:r>
          </a:p>
          <a:p>
            <a:r>
              <a:rPr lang="en-US"/>
              <a:t>O objetivo é demonstrar que a partir de um único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QAction </a:t>
            </a:r>
            <a:r>
              <a:rPr lang="en-US"/>
              <a:t>podemos associar essas 3 funcionalidade a mesma função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02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2A47-95C8-B1CE-3274-E038A68F9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80276E-4A3D-0912-4082-A6D935C75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07052"/>
              </p:ext>
            </p:extLst>
          </p:nvPr>
        </p:nvGraphicFramePr>
        <p:xfrm>
          <a:off x="151623" y="1041414"/>
          <a:ext cx="11363384" cy="5595691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595691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"Menu - Exemplo"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600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QApplication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style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new_icon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style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standardIcon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QStyle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StandardPixmap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SP_FileIcon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new_icon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"Novo"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new_action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setShortcut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"Ctrl+N"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new_action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menu_bar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file_menu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menu_bar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"&amp;Arquivo"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"Barra de Ferramentas"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toolbar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5E91C28-AA08-D765-6479-1DB17191ABFB}"/>
              </a:ext>
            </a:extLst>
          </p:cNvPr>
          <p:cNvSpPr/>
          <p:nvPr/>
        </p:nvSpPr>
        <p:spPr>
          <a:xfrm>
            <a:off x="1157628" y="3429000"/>
            <a:ext cx="6021033" cy="965085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2C6A88-C2E3-96F3-A9AA-0D491CA6AC7E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7178661" y="3911542"/>
            <a:ext cx="1051738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A9E8EA-B537-B1BA-DDEB-FD9AA7189C4E}"/>
              </a:ext>
            </a:extLst>
          </p:cNvPr>
          <p:cNvSpPr txBox="1"/>
          <p:nvPr/>
        </p:nvSpPr>
        <p:spPr>
          <a:xfrm>
            <a:off x="8230399" y="3034379"/>
            <a:ext cx="3727140" cy="175432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Note que dessa vez criamos um ícone e associamos à ação. Com isso, tanto o item da barra de ferramentas como o item do menu, criados nas linhas subsequentes, possuem um ícone associado.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4C8014-B347-00CA-5FF6-2745FEEDC6A3}"/>
              </a:ext>
            </a:extLst>
          </p:cNvPr>
          <p:cNvSpPr txBox="1"/>
          <p:nvPr/>
        </p:nvSpPr>
        <p:spPr>
          <a:xfrm>
            <a:off x="8230399" y="5388870"/>
            <a:ext cx="3727140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new_file </a:t>
            </a:r>
            <a:r>
              <a:rPr lang="en-US"/>
              <a:t>é o mesmo do exemplo anterior.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61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02801-652F-C4A1-4A2C-D28B26EE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AD35D-175C-D6DB-43F2-A66F32107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Neste exemplo vamos criar um submenu</a:t>
            </a:r>
          </a:p>
          <a:p>
            <a:pPr lvl="1"/>
            <a:r>
              <a:rPr lang="en-US"/>
              <a:t>Note que  o submenu e  o menu possuem o mesmo tipo, que é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QMenu</a:t>
            </a:r>
          </a:p>
          <a:p>
            <a:pPr lvl="2"/>
            <a:r>
              <a:rPr lang="en-US"/>
              <a:t>A diferença é que o menu é adicionado à barra de ferramentas, enquanto o submenu é adicionado ao menu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83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94C0-6BEA-9696-AC38-1C3CE4F1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D01242-401E-FECF-6B52-3E97F6CF9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688694"/>
              </p:ext>
            </p:extLst>
          </p:nvPr>
        </p:nvGraphicFramePr>
        <p:xfrm>
          <a:off x="151623" y="1041415"/>
          <a:ext cx="11363384" cy="5582814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582814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QMainWindow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super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setWindowTitle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"Submenu - Exemplo"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setFixedSize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600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400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menu_bar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menuBar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file_menu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menu_bar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"&amp;Arquivo"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new_menu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"Novo"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new_python_action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"Python"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new_python_action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new_python_file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new_cpp_action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"C++"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new_cpp_action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new_cpp_file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new_asm_action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"Assembly"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new_asm_action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new_assembly_file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AF937E1-5D0C-A87A-7599-844B50A61DC1}"/>
              </a:ext>
            </a:extLst>
          </p:cNvPr>
          <p:cNvSpPr/>
          <p:nvPr/>
        </p:nvSpPr>
        <p:spPr>
          <a:xfrm>
            <a:off x="1120842" y="2637532"/>
            <a:ext cx="3493199" cy="39995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787FFE-3E62-DE5B-D708-52D37484EB1C}"/>
              </a:ext>
            </a:extLst>
          </p:cNvPr>
          <p:cNvSpPr/>
          <p:nvPr/>
        </p:nvSpPr>
        <p:spPr>
          <a:xfrm>
            <a:off x="1120842" y="3173560"/>
            <a:ext cx="5658330" cy="39995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29AB6-AF5A-E9D6-5A8B-39CA642561A2}"/>
              </a:ext>
            </a:extLst>
          </p:cNvPr>
          <p:cNvSpPr/>
          <p:nvPr/>
        </p:nvSpPr>
        <p:spPr>
          <a:xfrm>
            <a:off x="1120841" y="3778414"/>
            <a:ext cx="5068943" cy="33176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1027985-08E2-CB67-CA89-36356A57A12C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 flipV="1">
            <a:off x="4614041" y="1417915"/>
            <a:ext cx="3380212" cy="1419596"/>
          </a:xfrm>
          <a:prstGeom prst="bentConnector3">
            <a:avLst>
              <a:gd name="adj1" fmla="val 62608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434AB17-FFFB-4E0E-773A-0FC0684E2B84}"/>
              </a:ext>
            </a:extLst>
          </p:cNvPr>
          <p:cNvSpPr txBox="1"/>
          <p:nvPr/>
        </p:nvSpPr>
        <p:spPr>
          <a:xfrm>
            <a:off x="7994253" y="1233249"/>
            <a:ext cx="3766376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a barra de menu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QMenuBar</a:t>
            </a:r>
            <a:r>
              <a:rPr lang="en-US"/>
              <a:t>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E3F3438-9D47-6ED9-2ADD-8A4380C016BB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 flipV="1">
            <a:off x="6779172" y="2207298"/>
            <a:ext cx="1215082" cy="1166241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4C21896-61F4-EEDE-162B-DA441B677FC6}"/>
              </a:ext>
            </a:extLst>
          </p:cNvPr>
          <p:cNvSpPr txBox="1"/>
          <p:nvPr/>
        </p:nvSpPr>
        <p:spPr>
          <a:xfrm>
            <a:off x="7994254" y="1884132"/>
            <a:ext cx="3766376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e adiciona um menu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QMenu</a:t>
            </a:r>
            <a:r>
              <a:rPr lang="en-US"/>
              <a:t>) com o nome </a:t>
            </a:r>
            <a:r>
              <a:rPr lang="en-US" i="1"/>
              <a:t>Arquivo</a:t>
            </a:r>
            <a:r>
              <a:rPr lang="en-US"/>
              <a:t>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CE54208-BD93-D985-5C75-34F6E51E090A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6189784" y="3445739"/>
            <a:ext cx="2532088" cy="49855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1D683E-ECFE-1132-0CC8-0092B9949637}"/>
              </a:ext>
            </a:extLst>
          </p:cNvPr>
          <p:cNvSpPr txBox="1"/>
          <p:nvPr/>
        </p:nvSpPr>
        <p:spPr>
          <a:xfrm>
            <a:off x="8721872" y="3122573"/>
            <a:ext cx="3038757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Cria o submenu (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QMenu</a:t>
            </a:r>
            <a:r>
              <a:rPr lang="en-US"/>
              <a:t>) e adiciona ao menu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0E73674D-DB6C-6BC3-DA2D-22B109F82574}"/>
              </a:ext>
            </a:extLst>
          </p:cNvPr>
          <p:cNvCxnSpPr>
            <a:cxnSpLocks/>
            <a:stCxn id="7" idx="3"/>
            <a:endCxn id="57" idx="1"/>
          </p:cNvCxnSpPr>
          <p:nvPr/>
        </p:nvCxnSpPr>
        <p:spPr>
          <a:xfrm>
            <a:off x="6189784" y="3944298"/>
            <a:ext cx="1669190" cy="818789"/>
          </a:xfrm>
          <a:prstGeom prst="bentConnector3">
            <a:avLst>
              <a:gd name="adj1" fmla="val 75531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40967BD-53DB-A7F7-21B9-2943A17BA57B}"/>
              </a:ext>
            </a:extLst>
          </p:cNvPr>
          <p:cNvSpPr txBox="1"/>
          <p:nvPr/>
        </p:nvSpPr>
        <p:spPr>
          <a:xfrm>
            <a:off x="7858974" y="4162922"/>
            <a:ext cx="4280617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Essa linha é equivalente as duas linhas:</a:t>
            </a:r>
          </a:p>
          <a:p>
            <a:pPr algn="ctr"/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new_menu </a:t>
            </a:r>
            <a:r>
              <a:rPr lang="pt-BR" b="1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 QMenu</a:t>
            </a:r>
            <a:r>
              <a:rPr lang="pt-BR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"Novo"</a:t>
            </a:r>
            <a:r>
              <a:rPr lang="pt-BR" b="1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 self</a:t>
            </a:r>
            <a:r>
              <a:rPr lang="pt-BR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 file_menu</a:t>
            </a:r>
            <a:r>
              <a:rPr lang="pt-BR" b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addMenu</a:t>
            </a:r>
            <a:r>
              <a:rPr lang="pt-BR" b="1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new_menu</a:t>
            </a:r>
            <a:r>
              <a:rPr lang="pt-BR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75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2" grpId="0" animBg="1"/>
      <p:bldP spid="19" grpId="0" animBg="1"/>
      <p:bldP spid="26" grpId="0" animBg="1"/>
      <p:bldP spid="5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0E39-0771-D78C-B105-B8F5F1D3B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B35DBC-B132-BD87-2ADD-13EC5FA9A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651065"/>
              </p:ext>
            </p:extLst>
          </p:nvPr>
        </p:nvGraphicFramePr>
        <p:xfrm>
          <a:off x="151623" y="1041415"/>
          <a:ext cx="11363384" cy="5069756"/>
        </p:xfrm>
        <a:graphic>
          <a:graphicData uri="http://schemas.openxmlformats.org/drawingml/2006/table">
            <a:tbl>
              <a:tblPr firstRow="1" firstCol="1" bandRow="1"/>
              <a:tblGrid>
                <a:gridCol w="45491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0908470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06975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39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new_menu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new_python_action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new_menu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new_cpp_action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new_asm_action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exit_action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QAction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"Sair"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exit_action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triggered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connect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addSeparator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file_menu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exit_action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new_python_file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"Criando arquivo Python"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new_cpp_file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"Salvando arquivo C++"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new_assembly_file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"Salvando arquivo Assembly"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ADD9C0B-FDE4-7298-8D81-4CDA4C675A92}"/>
              </a:ext>
            </a:extLst>
          </p:cNvPr>
          <p:cNvSpPr txBox="1"/>
          <p:nvPr/>
        </p:nvSpPr>
        <p:spPr>
          <a:xfrm>
            <a:off x="7991024" y="3226206"/>
            <a:ext cx="3038757" cy="369332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Adiciona a ação ao menu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E72A1B-4C4F-49E5-E796-795E1A0D9E04}"/>
              </a:ext>
            </a:extLst>
          </p:cNvPr>
          <p:cNvSpPr/>
          <p:nvPr/>
        </p:nvSpPr>
        <p:spPr>
          <a:xfrm>
            <a:off x="1162218" y="3251357"/>
            <a:ext cx="4431758" cy="331767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89C152-E5C6-3793-5AE4-1AD7AE8B6C9C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flipV="1">
            <a:off x="5593976" y="3410872"/>
            <a:ext cx="2397048" cy="63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7C045F2-99FC-D22B-169E-16B7109934A3}"/>
              </a:ext>
            </a:extLst>
          </p:cNvPr>
          <p:cNvSpPr/>
          <p:nvPr/>
        </p:nvSpPr>
        <p:spPr>
          <a:xfrm>
            <a:off x="1162218" y="1044286"/>
            <a:ext cx="5143418" cy="85899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B5D81D-27D5-DF07-4019-ECFE943C7C43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6305636" y="1473781"/>
            <a:ext cx="168538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E5FD06F-C020-B3C9-94E3-2228D21EE849}"/>
              </a:ext>
            </a:extLst>
          </p:cNvPr>
          <p:cNvSpPr txBox="1"/>
          <p:nvPr/>
        </p:nvSpPr>
        <p:spPr>
          <a:xfrm>
            <a:off x="7991025" y="1150615"/>
            <a:ext cx="3038757" cy="646331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Adiciona as ações ao submenu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57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7" grpId="0" animBg="1"/>
    </p:bldLst>
  </p:timing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10093</TotalTime>
  <Words>1265</Words>
  <Application>Microsoft Office PowerPoint</Application>
  <PresentationFormat>Widescreen</PresentationFormat>
  <Paragraphs>246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Garamond</vt:lpstr>
      <vt:lpstr>Wingdings</vt:lpstr>
      <vt:lpstr>Tema Padrão</vt:lpstr>
      <vt:lpstr>21 – PyQt (6 – Menus) </vt:lpstr>
      <vt:lpstr>Padrão – Exemplos</vt:lpstr>
      <vt:lpstr>Definições e Estilos de Menu</vt:lpstr>
      <vt:lpstr>Definições e Estilos de Menu</vt:lpstr>
      <vt:lpstr>Exemplo 1</vt:lpstr>
      <vt:lpstr>Exemplo 1</vt:lpstr>
      <vt:lpstr>Exemplo 2</vt:lpstr>
      <vt:lpstr>Exemplo 2</vt:lpstr>
      <vt:lpstr>Exemplo 3</vt:lpstr>
      <vt:lpstr>Exemplo 3</vt:lpstr>
      <vt:lpstr>Exemplo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</cp:lastModifiedBy>
  <cp:revision>617</cp:revision>
  <dcterms:created xsi:type="dcterms:W3CDTF">2017-06-20T21:36:17Z</dcterms:created>
  <dcterms:modified xsi:type="dcterms:W3CDTF">2024-10-25T16:20:57Z</dcterms:modified>
</cp:coreProperties>
</file>